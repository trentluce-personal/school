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 id="2147483659" r:id="rId2"/>
  </p:sldMasterIdLst>
  <p:notesMasterIdLst>
    <p:notesMasterId r:id="rId47"/>
  </p:notesMasterIdLst>
  <p:handoutMasterIdLst>
    <p:handoutMasterId r:id="rId48"/>
  </p:handoutMasterIdLst>
  <p:sldIdLst>
    <p:sldId id="458" r:id="rId3"/>
    <p:sldId id="408" r:id="rId4"/>
    <p:sldId id="409" r:id="rId5"/>
    <p:sldId id="410" r:id="rId6"/>
    <p:sldId id="411" r:id="rId7"/>
    <p:sldId id="412" r:id="rId8"/>
    <p:sldId id="413" r:id="rId9"/>
    <p:sldId id="414" r:id="rId10"/>
    <p:sldId id="415" r:id="rId11"/>
    <p:sldId id="416" r:id="rId12"/>
    <p:sldId id="417" r:id="rId13"/>
    <p:sldId id="418" r:id="rId14"/>
    <p:sldId id="419" r:id="rId15"/>
    <p:sldId id="421" r:id="rId16"/>
    <p:sldId id="426" r:id="rId17"/>
    <p:sldId id="427" r:id="rId18"/>
    <p:sldId id="428" r:id="rId19"/>
    <p:sldId id="429" r:id="rId20"/>
    <p:sldId id="430" r:id="rId21"/>
    <p:sldId id="432" r:id="rId22"/>
    <p:sldId id="433" r:id="rId23"/>
    <p:sldId id="434" r:id="rId24"/>
    <p:sldId id="435" r:id="rId25"/>
    <p:sldId id="449" r:id="rId26"/>
    <p:sldId id="437" r:id="rId27"/>
    <p:sldId id="438" r:id="rId28"/>
    <p:sldId id="450" r:id="rId29"/>
    <p:sldId id="451" r:id="rId30"/>
    <p:sldId id="439" r:id="rId31"/>
    <p:sldId id="452" r:id="rId32"/>
    <p:sldId id="440" r:id="rId33"/>
    <p:sldId id="441" r:id="rId34"/>
    <p:sldId id="442" r:id="rId35"/>
    <p:sldId id="443" r:id="rId36"/>
    <p:sldId id="453" r:id="rId37"/>
    <p:sldId id="454" r:id="rId38"/>
    <p:sldId id="455" r:id="rId39"/>
    <p:sldId id="456" r:id="rId40"/>
    <p:sldId id="444" r:id="rId41"/>
    <p:sldId id="445" r:id="rId42"/>
    <p:sldId id="457" r:id="rId43"/>
    <p:sldId id="446" r:id="rId44"/>
    <p:sldId id="448" r:id="rId45"/>
    <p:sldId id="298" r:id="rId46"/>
  </p:sldIdLst>
  <p:sldSz cx="9144000" cy="6858000" type="screen4x3"/>
  <p:notesSz cx="6858000" cy="9144000"/>
  <p:embeddedFontLst>
    <p:embeddedFont>
      <p:font typeface="Tahoma" panose="020B0604030504040204" pitchFamily="34" charset="0"/>
      <p:regular r:id="rId49"/>
      <p:bold r:id="rId50"/>
    </p:embeddedFont>
    <p:embeddedFont>
      <p:font typeface="Verdana" panose="020B0604030504040204" pitchFamily="34" charset="0"/>
      <p:regular r:id="rId51"/>
      <p:bold r:id="rId52"/>
      <p:italic r:id="rId53"/>
      <p:boldItalic r:id="rId5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056" userDrawn="1">
          <p15:clr>
            <a:srgbClr val="A4A3A4"/>
          </p15:clr>
        </p15:guide>
        <p15:guide id="2" pos="295" userDrawn="1">
          <p15:clr>
            <a:srgbClr val="A4A3A4"/>
          </p15:clr>
        </p15:guide>
        <p15:guide id="3" orient="horz" pos="4178" userDrawn="1">
          <p15:clr>
            <a:srgbClr val="A4A3A4"/>
          </p15:clr>
        </p15:guide>
        <p15:guide id="4" orient="horz" pos="119" userDrawn="1">
          <p15:clr>
            <a:srgbClr val="A4A3A4"/>
          </p15:clr>
        </p15:guide>
        <p15:guide id="5" orient="horz" pos="822" userDrawn="1">
          <p15:clr>
            <a:srgbClr val="A4A3A4"/>
          </p15:clr>
        </p15:guide>
        <p15:guide id="6" orient="horz" pos="981" userDrawn="1">
          <p15:clr>
            <a:srgbClr val="A4A3A4"/>
          </p15:clr>
        </p15:guide>
        <p15:guide id="7" pos="5465"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DD89ACF-FB27-931E-D488-D2831DA32313}" name="Christopher Parent" initials="CP" userId="Christopher Parent"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 id="6" name="AnnMarie Short" initials="AS" lastIdx="35" clrIdx="6">
    <p:extLst>
      <p:ext uri="{19B8F6BF-5375-455C-9EA6-DF929625EA0E}">
        <p15:presenceInfo xmlns:p15="http://schemas.microsoft.com/office/powerpoint/2012/main" userId="5a9a73d1263ca8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155E36-F6AA-419F-8A74-828D57A02D3C}" v="653" dt="2025-07-25T19:35:04.562"/>
  </p1510:revLst>
</p1510:revInfo>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845" autoAdjust="0"/>
    <p:restoredTop sz="71913" autoAdjust="0"/>
  </p:normalViewPr>
  <p:slideViewPr>
    <p:cSldViewPr snapToGrid="0" snapToObjects="1">
      <p:cViewPr varScale="1">
        <p:scale>
          <a:sx n="114" d="100"/>
          <a:sy n="114" d="100"/>
        </p:scale>
        <p:origin x="3282" y="108"/>
      </p:cViewPr>
      <p:guideLst>
        <p:guide orient="horz" pos="4056"/>
        <p:guide pos="295"/>
        <p:guide orient="horz" pos="4178"/>
        <p:guide orient="horz" pos="119"/>
        <p:guide orient="horz" pos="822"/>
        <p:guide orient="horz" pos="981"/>
        <p:guide pos="5465"/>
      </p:guideLst>
    </p:cSldViewPr>
  </p:slideViewPr>
  <p:outlineViewPr>
    <p:cViewPr>
      <p:scale>
        <a:sx n="33" d="100"/>
        <a:sy n="33" d="100"/>
      </p:scale>
      <p:origin x="0" y="-38592"/>
    </p:cViewPr>
  </p:outlineViewPr>
  <p:notesTextViewPr>
    <p:cViewPr>
      <p:scale>
        <a:sx n="100" d="100"/>
        <a:sy n="100" d="100"/>
      </p:scale>
      <p:origin x="0" y="0"/>
    </p:cViewPr>
  </p:notesTextViewPr>
  <p:sorterViewPr>
    <p:cViewPr>
      <p:scale>
        <a:sx n="100" d="100"/>
        <a:sy n="100" d="100"/>
      </p:scale>
      <p:origin x="0" y="-2796"/>
    </p:cViewPr>
  </p:sorterViewPr>
  <p:notesViewPr>
    <p:cSldViewPr snapToGrid="0" snapToObjects="1">
      <p:cViewPr varScale="1">
        <p:scale>
          <a:sx n="68" d="100"/>
          <a:sy n="68" d="100"/>
        </p:scale>
        <p:origin x="3060" y="7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notesMaster" Target="notesMasters/notesMaster1.xml"/><Relationship Id="rId50" Type="http://schemas.openxmlformats.org/officeDocument/2006/relationships/font" Target="fonts/font2.fntdata"/><Relationship Id="rId55" Type="http://schemas.openxmlformats.org/officeDocument/2006/relationships/commentAuthors" Target="commentAuthor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5.fntdata"/><Relationship Id="rId58" Type="http://schemas.openxmlformats.org/officeDocument/2006/relationships/theme" Target="theme/theme1.xml"/><Relationship Id="rId5" Type="http://schemas.openxmlformats.org/officeDocument/2006/relationships/slide" Target="slides/slide3.xml"/><Relationship Id="rId61" Type="http://schemas.microsoft.com/office/2015/10/relationships/revisionInfo" Target="revisionInfo.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handoutMaster" Target="handoutMasters/handoutMaster1.xml"/><Relationship Id="rId56" Type="http://schemas.openxmlformats.org/officeDocument/2006/relationships/presProps" Target="presProps.xml"/><Relationship Id="rId8" Type="http://schemas.openxmlformats.org/officeDocument/2006/relationships/slide" Target="slides/slide6.xml"/><Relationship Id="rId51" Type="http://schemas.openxmlformats.org/officeDocument/2006/relationships/font" Target="fonts/font3.fntdata"/><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6.fntdata"/><Relationship Id="rId62"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font" Target="fonts/font1.fntdata"/><Relationship Id="rId57" Type="http://schemas.openxmlformats.org/officeDocument/2006/relationships/viewProps" Target="view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font" Target="fonts/font4.fntdata"/><Relationship Id="rId6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johani, Nawaf" userId="f330c419-70e4-4456-a27b-45207058c84b" providerId="ADAL" clId="{C4155E36-F6AA-419F-8A74-828D57A02D3C}"/>
    <pc:docChg chg="custSel modSld">
      <pc:chgData name="Aljohani, Nawaf" userId="f330c419-70e4-4456-a27b-45207058c84b" providerId="ADAL" clId="{C4155E36-F6AA-419F-8A74-828D57A02D3C}" dt="2025-07-23T22:14:45.570" v="946"/>
      <pc:docMkLst>
        <pc:docMk/>
      </pc:docMkLst>
      <pc:sldChg chg="addSp modSp mod">
        <pc:chgData name="Aljohani, Nawaf" userId="f330c419-70e4-4456-a27b-45207058c84b" providerId="ADAL" clId="{C4155E36-F6AA-419F-8A74-828D57A02D3C}" dt="2025-07-23T22:14:45.570" v="946"/>
        <pc:sldMkLst>
          <pc:docMk/>
          <pc:sldMk cId="0" sldId="298"/>
        </pc:sldMkLst>
        <pc:cxnChg chg="add mod modVis">
          <ac:chgData name="Aljohani, Nawaf" userId="f330c419-70e4-4456-a27b-45207058c84b" providerId="ADAL" clId="{C4155E36-F6AA-419F-8A74-828D57A02D3C}" dt="2025-07-23T22:14:45.570" v="946"/>
          <ac:cxnSpMkLst>
            <pc:docMk/>
            <pc:sldMk cId="0" sldId="298"/>
            <ac:cxnSpMk id="3" creationId="{CB776003-217B-9279-8A45-7C1F467F2C41}"/>
          </ac:cxnSpMkLst>
        </pc:cxnChg>
      </pc:sldChg>
      <pc:sldChg chg="addSp delSp modSp mod">
        <pc:chgData name="Aljohani, Nawaf" userId="f330c419-70e4-4456-a27b-45207058c84b" providerId="ADAL" clId="{C4155E36-F6AA-419F-8A74-828D57A02D3C}" dt="2025-07-23T22:14:44.722" v="49"/>
        <pc:sldMkLst>
          <pc:docMk/>
          <pc:sldMk cId="3452098327" sldId="408"/>
        </pc:sldMkLst>
        <pc:cxnChg chg="add mod modVis">
          <ac:chgData name="Aljohani, Nawaf" userId="f330c419-70e4-4456-a27b-45207058c84b" providerId="ADAL" clId="{C4155E36-F6AA-419F-8A74-828D57A02D3C}" dt="2025-07-23T22:14:44.722" v="49"/>
          <ac:cxnSpMkLst>
            <pc:docMk/>
            <pc:sldMk cId="3452098327" sldId="408"/>
            <ac:cxnSpMk id="5" creationId="{3BCFC580-5652-7151-11E5-D8023CA32536}"/>
          </ac:cxnSpMkLst>
        </pc:cxnChg>
      </pc:sldChg>
      <pc:sldChg chg="addSp delSp modSp mod">
        <pc:chgData name="Aljohani, Nawaf" userId="f330c419-70e4-4456-a27b-45207058c84b" providerId="ADAL" clId="{C4155E36-F6AA-419F-8A74-828D57A02D3C}" dt="2025-07-23T22:14:44.754" v="71"/>
        <pc:sldMkLst>
          <pc:docMk/>
          <pc:sldMk cId="3897747843" sldId="409"/>
        </pc:sldMkLst>
        <pc:cxnChg chg="add mod modVis">
          <ac:chgData name="Aljohani, Nawaf" userId="f330c419-70e4-4456-a27b-45207058c84b" providerId="ADAL" clId="{C4155E36-F6AA-419F-8A74-828D57A02D3C}" dt="2025-07-23T22:14:44.754" v="71"/>
          <ac:cxnSpMkLst>
            <pc:docMk/>
            <pc:sldMk cId="3897747843" sldId="409"/>
            <ac:cxnSpMk id="5" creationId="{BA3CDF8B-737C-6A55-17AA-13C2CF2E96E1}"/>
          </ac:cxnSpMkLst>
        </pc:cxnChg>
      </pc:sldChg>
      <pc:sldChg chg="addSp delSp modSp mod">
        <pc:chgData name="Aljohani, Nawaf" userId="f330c419-70e4-4456-a27b-45207058c84b" providerId="ADAL" clId="{C4155E36-F6AA-419F-8A74-828D57A02D3C}" dt="2025-07-23T22:14:44.817" v="93"/>
        <pc:sldMkLst>
          <pc:docMk/>
          <pc:sldMk cId="2268716679" sldId="410"/>
        </pc:sldMkLst>
        <pc:cxnChg chg="add mod modVis">
          <ac:chgData name="Aljohani, Nawaf" userId="f330c419-70e4-4456-a27b-45207058c84b" providerId="ADAL" clId="{C4155E36-F6AA-419F-8A74-828D57A02D3C}" dt="2025-07-23T22:14:44.817" v="93"/>
          <ac:cxnSpMkLst>
            <pc:docMk/>
            <pc:sldMk cId="2268716679" sldId="410"/>
            <ac:cxnSpMk id="5" creationId="{B8865841-5760-2210-8DA8-45B73DE4F100}"/>
          </ac:cxnSpMkLst>
        </pc:cxnChg>
      </pc:sldChg>
      <pc:sldChg chg="addSp delSp modSp mod">
        <pc:chgData name="Aljohani, Nawaf" userId="f330c419-70e4-4456-a27b-45207058c84b" providerId="ADAL" clId="{C4155E36-F6AA-419F-8A74-828D57A02D3C}" dt="2025-07-23T22:14:44.832" v="115"/>
        <pc:sldMkLst>
          <pc:docMk/>
          <pc:sldMk cId="3634765716" sldId="411"/>
        </pc:sldMkLst>
        <pc:cxnChg chg="add mod modVis">
          <ac:chgData name="Aljohani, Nawaf" userId="f330c419-70e4-4456-a27b-45207058c84b" providerId="ADAL" clId="{C4155E36-F6AA-419F-8A74-828D57A02D3C}" dt="2025-07-23T22:14:44.832" v="115"/>
          <ac:cxnSpMkLst>
            <pc:docMk/>
            <pc:sldMk cId="3634765716" sldId="411"/>
            <ac:cxnSpMk id="5" creationId="{194AB848-7059-4BF3-C9D9-9C8119B8A6D7}"/>
          </ac:cxnSpMkLst>
        </pc:cxnChg>
      </pc:sldChg>
      <pc:sldChg chg="addSp delSp modSp mod">
        <pc:chgData name="Aljohani, Nawaf" userId="f330c419-70e4-4456-a27b-45207058c84b" providerId="ADAL" clId="{C4155E36-F6AA-419F-8A74-828D57A02D3C}" dt="2025-07-23T22:14:44.848" v="137"/>
        <pc:sldMkLst>
          <pc:docMk/>
          <pc:sldMk cId="1729613489" sldId="412"/>
        </pc:sldMkLst>
        <pc:cxnChg chg="add mod modVis">
          <ac:chgData name="Aljohani, Nawaf" userId="f330c419-70e4-4456-a27b-45207058c84b" providerId="ADAL" clId="{C4155E36-F6AA-419F-8A74-828D57A02D3C}" dt="2025-07-23T22:14:44.848" v="137"/>
          <ac:cxnSpMkLst>
            <pc:docMk/>
            <pc:sldMk cId="1729613489" sldId="412"/>
            <ac:cxnSpMk id="5" creationId="{475CE731-6C4A-8EFB-0A4D-BEDED4DF9CA7}"/>
          </ac:cxnSpMkLst>
        </pc:cxnChg>
      </pc:sldChg>
      <pc:sldChg chg="addSp delSp modSp mod">
        <pc:chgData name="Aljohani, Nawaf" userId="f330c419-70e4-4456-a27b-45207058c84b" providerId="ADAL" clId="{C4155E36-F6AA-419F-8A74-828D57A02D3C}" dt="2025-07-23T22:14:44.864" v="159"/>
        <pc:sldMkLst>
          <pc:docMk/>
          <pc:sldMk cId="618822709" sldId="413"/>
        </pc:sldMkLst>
        <pc:cxnChg chg="add mod modVis">
          <ac:chgData name="Aljohani, Nawaf" userId="f330c419-70e4-4456-a27b-45207058c84b" providerId="ADAL" clId="{C4155E36-F6AA-419F-8A74-828D57A02D3C}" dt="2025-07-23T22:14:44.864" v="159"/>
          <ac:cxnSpMkLst>
            <pc:docMk/>
            <pc:sldMk cId="618822709" sldId="413"/>
            <ac:cxnSpMk id="5" creationId="{31F4A26C-104E-1EF6-2145-3D4BB3722144}"/>
          </ac:cxnSpMkLst>
        </pc:cxnChg>
      </pc:sldChg>
      <pc:sldChg chg="addSp modSp mod">
        <pc:chgData name="Aljohani, Nawaf" userId="f330c419-70e4-4456-a27b-45207058c84b" providerId="ADAL" clId="{C4155E36-F6AA-419F-8A74-828D57A02D3C}" dt="2025-07-23T22:14:44.880" v="178"/>
        <pc:sldMkLst>
          <pc:docMk/>
          <pc:sldMk cId="1075747418" sldId="414"/>
        </pc:sldMkLst>
        <pc:cxnChg chg="add mod modVis">
          <ac:chgData name="Aljohani, Nawaf" userId="f330c419-70e4-4456-a27b-45207058c84b" providerId="ADAL" clId="{C4155E36-F6AA-419F-8A74-828D57A02D3C}" dt="2025-07-23T22:14:44.880" v="178"/>
          <ac:cxnSpMkLst>
            <pc:docMk/>
            <pc:sldMk cId="1075747418" sldId="414"/>
            <ac:cxnSpMk id="3" creationId="{16AE0CB0-FF6D-5F0D-D2CC-9F6CE30B3B46}"/>
          </ac:cxnSpMkLst>
        </pc:cxnChg>
      </pc:sldChg>
      <pc:sldChg chg="addSp delSp modSp mod">
        <pc:chgData name="Aljohani, Nawaf" userId="f330c419-70e4-4456-a27b-45207058c84b" providerId="ADAL" clId="{C4155E36-F6AA-419F-8A74-828D57A02D3C}" dt="2025-07-23T22:14:44.895" v="200"/>
        <pc:sldMkLst>
          <pc:docMk/>
          <pc:sldMk cId="3577645894" sldId="415"/>
        </pc:sldMkLst>
        <pc:cxnChg chg="add mod modVis">
          <ac:chgData name="Aljohani, Nawaf" userId="f330c419-70e4-4456-a27b-45207058c84b" providerId="ADAL" clId="{C4155E36-F6AA-419F-8A74-828D57A02D3C}" dt="2025-07-23T22:14:44.895" v="200"/>
          <ac:cxnSpMkLst>
            <pc:docMk/>
            <pc:sldMk cId="3577645894" sldId="415"/>
            <ac:cxnSpMk id="5" creationId="{5C8B1AEF-A89F-F011-086D-78E7A669C296}"/>
          </ac:cxnSpMkLst>
        </pc:cxnChg>
      </pc:sldChg>
      <pc:sldChg chg="addSp modSp mod">
        <pc:chgData name="Aljohani, Nawaf" userId="f330c419-70e4-4456-a27b-45207058c84b" providerId="ADAL" clId="{C4155E36-F6AA-419F-8A74-828D57A02D3C}" dt="2025-07-23T22:14:44.895" v="219"/>
        <pc:sldMkLst>
          <pc:docMk/>
          <pc:sldMk cId="3498035593" sldId="416"/>
        </pc:sldMkLst>
        <pc:cxnChg chg="add mod modVis">
          <ac:chgData name="Aljohani, Nawaf" userId="f330c419-70e4-4456-a27b-45207058c84b" providerId="ADAL" clId="{C4155E36-F6AA-419F-8A74-828D57A02D3C}" dt="2025-07-23T22:14:44.895" v="219"/>
          <ac:cxnSpMkLst>
            <pc:docMk/>
            <pc:sldMk cId="3498035593" sldId="416"/>
            <ac:cxnSpMk id="3" creationId="{63D7B6D4-D709-412C-836F-AD124F342EF9}"/>
          </ac:cxnSpMkLst>
        </pc:cxnChg>
      </pc:sldChg>
      <pc:sldChg chg="addSp delSp modSp mod">
        <pc:chgData name="Aljohani, Nawaf" userId="f330c419-70e4-4456-a27b-45207058c84b" providerId="ADAL" clId="{C4155E36-F6AA-419F-8A74-828D57A02D3C}" dt="2025-07-23T22:14:44.926" v="241"/>
        <pc:sldMkLst>
          <pc:docMk/>
          <pc:sldMk cId="457874848" sldId="417"/>
        </pc:sldMkLst>
        <pc:cxnChg chg="add mod modVis">
          <ac:chgData name="Aljohani, Nawaf" userId="f330c419-70e4-4456-a27b-45207058c84b" providerId="ADAL" clId="{C4155E36-F6AA-419F-8A74-828D57A02D3C}" dt="2025-07-23T22:14:44.926" v="241"/>
          <ac:cxnSpMkLst>
            <pc:docMk/>
            <pc:sldMk cId="457874848" sldId="417"/>
            <ac:cxnSpMk id="5" creationId="{AD3AC9AD-ADC7-D00A-8E3F-56BF84F1409B}"/>
          </ac:cxnSpMkLst>
        </pc:cxnChg>
      </pc:sldChg>
      <pc:sldChg chg="addSp delSp modSp mod">
        <pc:chgData name="Aljohani, Nawaf" userId="f330c419-70e4-4456-a27b-45207058c84b" providerId="ADAL" clId="{C4155E36-F6AA-419F-8A74-828D57A02D3C}" dt="2025-07-23T22:14:44.942" v="263"/>
        <pc:sldMkLst>
          <pc:docMk/>
          <pc:sldMk cId="642087479" sldId="418"/>
        </pc:sldMkLst>
        <pc:cxnChg chg="add mod modVis">
          <ac:chgData name="Aljohani, Nawaf" userId="f330c419-70e4-4456-a27b-45207058c84b" providerId="ADAL" clId="{C4155E36-F6AA-419F-8A74-828D57A02D3C}" dt="2025-07-23T22:14:44.942" v="263"/>
          <ac:cxnSpMkLst>
            <pc:docMk/>
            <pc:sldMk cId="642087479" sldId="418"/>
            <ac:cxnSpMk id="5" creationId="{6E1FB94F-98C0-EA01-7805-8B6FD8205A46}"/>
          </ac:cxnSpMkLst>
        </pc:cxnChg>
      </pc:sldChg>
      <pc:sldChg chg="addSp modSp mod">
        <pc:chgData name="Aljohani, Nawaf" userId="f330c419-70e4-4456-a27b-45207058c84b" providerId="ADAL" clId="{C4155E36-F6AA-419F-8A74-828D57A02D3C}" dt="2025-07-23T22:14:44.947" v="282"/>
        <pc:sldMkLst>
          <pc:docMk/>
          <pc:sldMk cId="3792810835" sldId="419"/>
        </pc:sldMkLst>
        <pc:cxnChg chg="add mod modVis">
          <ac:chgData name="Aljohani, Nawaf" userId="f330c419-70e4-4456-a27b-45207058c84b" providerId="ADAL" clId="{C4155E36-F6AA-419F-8A74-828D57A02D3C}" dt="2025-07-23T22:14:44.947" v="282"/>
          <ac:cxnSpMkLst>
            <pc:docMk/>
            <pc:sldMk cId="3792810835" sldId="419"/>
            <ac:cxnSpMk id="3" creationId="{EF11BD1A-3091-D90B-A5CF-1C0170B97A47}"/>
          </ac:cxnSpMkLst>
        </pc:cxnChg>
      </pc:sldChg>
      <pc:sldChg chg="addSp modSp mod">
        <pc:chgData name="Aljohani, Nawaf" userId="f330c419-70e4-4456-a27b-45207058c84b" providerId="ADAL" clId="{C4155E36-F6AA-419F-8A74-828D57A02D3C}" dt="2025-07-23T22:14:44.947" v="301"/>
        <pc:sldMkLst>
          <pc:docMk/>
          <pc:sldMk cId="906197398" sldId="421"/>
        </pc:sldMkLst>
        <pc:cxnChg chg="add mod modVis">
          <ac:chgData name="Aljohani, Nawaf" userId="f330c419-70e4-4456-a27b-45207058c84b" providerId="ADAL" clId="{C4155E36-F6AA-419F-8A74-828D57A02D3C}" dt="2025-07-23T22:14:44.947" v="301"/>
          <ac:cxnSpMkLst>
            <pc:docMk/>
            <pc:sldMk cId="906197398" sldId="421"/>
            <ac:cxnSpMk id="3" creationId="{66605DEF-CD61-55C6-C702-B7403C5ECCD7}"/>
          </ac:cxnSpMkLst>
        </pc:cxnChg>
      </pc:sldChg>
      <pc:sldChg chg="addSp delSp modSp mod">
        <pc:chgData name="Aljohani, Nawaf" userId="f330c419-70e4-4456-a27b-45207058c84b" providerId="ADAL" clId="{C4155E36-F6AA-419F-8A74-828D57A02D3C}" dt="2025-07-23T22:14:44.958" v="323"/>
        <pc:sldMkLst>
          <pc:docMk/>
          <pc:sldMk cId="1066407935" sldId="426"/>
        </pc:sldMkLst>
        <pc:cxnChg chg="add mod modVis">
          <ac:chgData name="Aljohani, Nawaf" userId="f330c419-70e4-4456-a27b-45207058c84b" providerId="ADAL" clId="{C4155E36-F6AA-419F-8A74-828D57A02D3C}" dt="2025-07-23T22:14:44.958" v="323"/>
          <ac:cxnSpMkLst>
            <pc:docMk/>
            <pc:sldMk cId="1066407935" sldId="426"/>
            <ac:cxnSpMk id="5" creationId="{D516376D-F834-AC4E-AF38-41492828A864}"/>
          </ac:cxnSpMkLst>
        </pc:cxnChg>
      </pc:sldChg>
      <pc:sldChg chg="addSp modSp mod">
        <pc:chgData name="Aljohani, Nawaf" userId="f330c419-70e4-4456-a27b-45207058c84b" providerId="ADAL" clId="{C4155E36-F6AA-419F-8A74-828D57A02D3C}" dt="2025-07-23T22:14:44.974" v="342"/>
        <pc:sldMkLst>
          <pc:docMk/>
          <pc:sldMk cId="19023955" sldId="427"/>
        </pc:sldMkLst>
        <pc:cxnChg chg="add mod modVis">
          <ac:chgData name="Aljohani, Nawaf" userId="f330c419-70e4-4456-a27b-45207058c84b" providerId="ADAL" clId="{C4155E36-F6AA-419F-8A74-828D57A02D3C}" dt="2025-07-23T22:14:44.974" v="342"/>
          <ac:cxnSpMkLst>
            <pc:docMk/>
            <pc:sldMk cId="19023955" sldId="427"/>
            <ac:cxnSpMk id="3" creationId="{627EDE36-A5DE-C14D-F8A7-5DE835DB5D43}"/>
          </ac:cxnSpMkLst>
        </pc:cxnChg>
      </pc:sldChg>
      <pc:sldChg chg="addSp delSp modSp mod">
        <pc:chgData name="Aljohani, Nawaf" userId="f330c419-70e4-4456-a27b-45207058c84b" providerId="ADAL" clId="{C4155E36-F6AA-419F-8A74-828D57A02D3C}" dt="2025-07-23T22:14:44.989" v="364"/>
        <pc:sldMkLst>
          <pc:docMk/>
          <pc:sldMk cId="2853506637" sldId="428"/>
        </pc:sldMkLst>
        <pc:cxnChg chg="add mod modVis">
          <ac:chgData name="Aljohani, Nawaf" userId="f330c419-70e4-4456-a27b-45207058c84b" providerId="ADAL" clId="{C4155E36-F6AA-419F-8A74-828D57A02D3C}" dt="2025-07-23T22:14:44.989" v="364"/>
          <ac:cxnSpMkLst>
            <pc:docMk/>
            <pc:sldMk cId="2853506637" sldId="428"/>
            <ac:cxnSpMk id="5" creationId="{D9B259D7-4C51-F6CF-B586-7D4243FAFE17}"/>
          </ac:cxnSpMkLst>
        </pc:cxnChg>
      </pc:sldChg>
      <pc:sldChg chg="addSp delSp modSp mod">
        <pc:chgData name="Aljohani, Nawaf" userId="f330c419-70e4-4456-a27b-45207058c84b" providerId="ADAL" clId="{C4155E36-F6AA-419F-8A74-828D57A02D3C}" dt="2025-07-23T22:14:45.005" v="386"/>
        <pc:sldMkLst>
          <pc:docMk/>
          <pc:sldMk cId="2140320845" sldId="429"/>
        </pc:sldMkLst>
        <pc:cxnChg chg="add mod modVis">
          <ac:chgData name="Aljohani, Nawaf" userId="f330c419-70e4-4456-a27b-45207058c84b" providerId="ADAL" clId="{C4155E36-F6AA-419F-8A74-828D57A02D3C}" dt="2025-07-23T22:14:45.005" v="386"/>
          <ac:cxnSpMkLst>
            <pc:docMk/>
            <pc:sldMk cId="2140320845" sldId="429"/>
            <ac:cxnSpMk id="5" creationId="{D0BB2346-2AA3-D706-EC77-362582FF66B0}"/>
          </ac:cxnSpMkLst>
        </pc:cxnChg>
      </pc:sldChg>
      <pc:sldChg chg="addSp delSp modSp mod">
        <pc:chgData name="Aljohani, Nawaf" userId="f330c419-70e4-4456-a27b-45207058c84b" providerId="ADAL" clId="{C4155E36-F6AA-419F-8A74-828D57A02D3C}" dt="2025-07-23T22:14:45.036" v="408"/>
        <pc:sldMkLst>
          <pc:docMk/>
          <pc:sldMk cId="1395270344" sldId="430"/>
        </pc:sldMkLst>
        <pc:cxnChg chg="add mod modVis">
          <ac:chgData name="Aljohani, Nawaf" userId="f330c419-70e4-4456-a27b-45207058c84b" providerId="ADAL" clId="{C4155E36-F6AA-419F-8A74-828D57A02D3C}" dt="2025-07-23T22:14:45.036" v="408"/>
          <ac:cxnSpMkLst>
            <pc:docMk/>
            <pc:sldMk cId="1395270344" sldId="430"/>
            <ac:cxnSpMk id="5" creationId="{A6F16A50-91F6-DDE8-1FF0-129ED94E0F51}"/>
          </ac:cxnSpMkLst>
        </pc:cxnChg>
      </pc:sldChg>
      <pc:sldChg chg="addSp delSp modSp mod">
        <pc:chgData name="Aljohani, Nawaf" userId="f330c419-70e4-4456-a27b-45207058c84b" providerId="ADAL" clId="{C4155E36-F6AA-419F-8A74-828D57A02D3C}" dt="2025-07-23T22:14:45.052" v="430"/>
        <pc:sldMkLst>
          <pc:docMk/>
          <pc:sldMk cId="3537766720" sldId="432"/>
        </pc:sldMkLst>
        <pc:cxnChg chg="add mod modVis">
          <ac:chgData name="Aljohani, Nawaf" userId="f330c419-70e4-4456-a27b-45207058c84b" providerId="ADAL" clId="{C4155E36-F6AA-419F-8A74-828D57A02D3C}" dt="2025-07-23T22:14:45.052" v="430"/>
          <ac:cxnSpMkLst>
            <pc:docMk/>
            <pc:sldMk cId="3537766720" sldId="432"/>
            <ac:cxnSpMk id="5" creationId="{35F26858-6017-5854-6DDB-A7BE3BE49B0B}"/>
          </ac:cxnSpMkLst>
        </pc:cxnChg>
      </pc:sldChg>
      <pc:sldChg chg="addSp delSp modSp mod">
        <pc:chgData name="Aljohani, Nawaf" userId="f330c419-70e4-4456-a27b-45207058c84b" providerId="ADAL" clId="{C4155E36-F6AA-419F-8A74-828D57A02D3C}" dt="2025-07-23T22:14:45.052" v="452"/>
        <pc:sldMkLst>
          <pc:docMk/>
          <pc:sldMk cId="1648410282" sldId="433"/>
        </pc:sldMkLst>
        <pc:cxnChg chg="add mod modVis">
          <ac:chgData name="Aljohani, Nawaf" userId="f330c419-70e4-4456-a27b-45207058c84b" providerId="ADAL" clId="{C4155E36-F6AA-419F-8A74-828D57A02D3C}" dt="2025-07-23T22:14:45.052" v="452"/>
          <ac:cxnSpMkLst>
            <pc:docMk/>
            <pc:sldMk cId="1648410282" sldId="433"/>
            <ac:cxnSpMk id="5" creationId="{D4220687-02F1-9DEA-32E3-BE6F81173328}"/>
          </ac:cxnSpMkLst>
        </pc:cxnChg>
      </pc:sldChg>
      <pc:sldChg chg="addSp delSp modSp mod">
        <pc:chgData name="Aljohani, Nawaf" userId="f330c419-70e4-4456-a27b-45207058c84b" providerId="ADAL" clId="{C4155E36-F6AA-419F-8A74-828D57A02D3C}" dt="2025-07-23T22:14:45.068" v="474"/>
        <pc:sldMkLst>
          <pc:docMk/>
          <pc:sldMk cId="3061505365" sldId="434"/>
        </pc:sldMkLst>
        <pc:cxnChg chg="add mod modVis">
          <ac:chgData name="Aljohani, Nawaf" userId="f330c419-70e4-4456-a27b-45207058c84b" providerId="ADAL" clId="{C4155E36-F6AA-419F-8A74-828D57A02D3C}" dt="2025-07-23T22:14:45.068" v="474"/>
          <ac:cxnSpMkLst>
            <pc:docMk/>
            <pc:sldMk cId="3061505365" sldId="434"/>
            <ac:cxnSpMk id="4" creationId="{D6A03F7B-5677-7571-8CB2-5F31C7A4212E}"/>
          </ac:cxnSpMkLst>
        </pc:cxnChg>
      </pc:sldChg>
      <pc:sldChg chg="addSp delSp modSp mod">
        <pc:chgData name="Aljohani, Nawaf" userId="f330c419-70e4-4456-a27b-45207058c84b" providerId="ADAL" clId="{C4155E36-F6AA-419F-8A74-828D57A02D3C}" dt="2025-07-23T22:14:45.084" v="496"/>
        <pc:sldMkLst>
          <pc:docMk/>
          <pc:sldMk cId="2920751495" sldId="435"/>
        </pc:sldMkLst>
        <pc:cxnChg chg="add mod modVis">
          <ac:chgData name="Aljohani, Nawaf" userId="f330c419-70e4-4456-a27b-45207058c84b" providerId="ADAL" clId="{C4155E36-F6AA-419F-8A74-828D57A02D3C}" dt="2025-07-23T22:14:45.084" v="496"/>
          <ac:cxnSpMkLst>
            <pc:docMk/>
            <pc:sldMk cId="2920751495" sldId="435"/>
            <ac:cxnSpMk id="5" creationId="{6E710B4E-D4E4-FCF0-1A1C-A8C822A30AC5}"/>
          </ac:cxnSpMkLst>
        </pc:cxnChg>
      </pc:sldChg>
      <pc:sldChg chg="addSp delSp modSp mod">
        <pc:chgData name="Aljohani, Nawaf" userId="f330c419-70e4-4456-a27b-45207058c84b" providerId="ADAL" clId="{C4155E36-F6AA-419F-8A74-828D57A02D3C}" dt="2025-07-23T22:14:45.130" v="540"/>
        <pc:sldMkLst>
          <pc:docMk/>
          <pc:sldMk cId="1783667084" sldId="437"/>
        </pc:sldMkLst>
        <pc:cxnChg chg="add mod modVis">
          <ac:chgData name="Aljohani, Nawaf" userId="f330c419-70e4-4456-a27b-45207058c84b" providerId="ADAL" clId="{C4155E36-F6AA-419F-8A74-828D57A02D3C}" dt="2025-07-23T22:14:45.130" v="540"/>
          <ac:cxnSpMkLst>
            <pc:docMk/>
            <pc:sldMk cId="1783667084" sldId="437"/>
            <ac:cxnSpMk id="5" creationId="{563A06B6-FD34-52A0-22EB-DD28084B733B}"/>
          </ac:cxnSpMkLst>
        </pc:cxnChg>
      </pc:sldChg>
      <pc:sldChg chg="addSp delSp modSp mod">
        <pc:chgData name="Aljohani, Nawaf" userId="f330c419-70e4-4456-a27b-45207058c84b" providerId="ADAL" clId="{C4155E36-F6AA-419F-8A74-828D57A02D3C}" dt="2025-07-23T22:14:45.162" v="565"/>
        <pc:sldMkLst>
          <pc:docMk/>
          <pc:sldMk cId="912881537" sldId="438"/>
        </pc:sldMkLst>
        <pc:cxnChg chg="add mod modVis">
          <ac:chgData name="Aljohani, Nawaf" userId="f330c419-70e4-4456-a27b-45207058c84b" providerId="ADAL" clId="{C4155E36-F6AA-419F-8A74-828D57A02D3C}" dt="2025-07-23T22:14:45.162" v="565"/>
          <ac:cxnSpMkLst>
            <pc:docMk/>
            <pc:sldMk cId="912881537" sldId="438"/>
            <ac:cxnSpMk id="7" creationId="{889E56E4-2399-825E-BA9A-556157FB4CC9}"/>
          </ac:cxnSpMkLst>
        </pc:cxnChg>
      </pc:sldChg>
      <pc:sldChg chg="addSp delSp modSp mod">
        <pc:chgData name="Aljohani, Nawaf" userId="f330c419-70e4-4456-a27b-45207058c84b" providerId="ADAL" clId="{C4155E36-F6AA-419F-8A74-828D57A02D3C}" dt="2025-07-23T22:14:45.272" v="628"/>
        <pc:sldMkLst>
          <pc:docMk/>
          <pc:sldMk cId="220963351" sldId="439"/>
        </pc:sldMkLst>
        <pc:cxnChg chg="add mod modVis">
          <ac:chgData name="Aljohani, Nawaf" userId="f330c419-70e4-4456-a27b-45207058c84b" providerId="ADAL" clId="{C4155E36-F6AA-419F-8A74-828D57A02D3C}" dt="2025-07-23T22:14:45.272" v="628"/>
          <ac:cxnSpMkLst>
            <pc:docMk/>
            <pc:sldMk cId="220963351" sldId="439"/>
            <ac:cxnSpMk id="4" creationId="{2A112393-078B-D251-4332-39E5B0C4D489}"/>
          </ac:cxnSpMkLst>
        </pc:cxnChg>
      </pc:sldChg>
      <pc:sldChg chg="addSp delSp modSp mod">
        <pc:chgData name="Aljohani, Nawaf" userId="f330c419-70e4-4456-a27b-45207058c84b" providerId="ADAL" clId="{C4155E36-F6AA-419F-8A74-828D57A02D3C}" dt="2025-07-23T22:14:45.335" v="672"/>
        <pc:sldMkLst>
          <pc:docMk/>
          <pc:sldMk cId="1397433411" sldId="440"/>
        </pc:sldMkLst>
        <pc:cxnChg chg="add mod modVis">
          <ac:chgData name="Aljohani, Nawaf" userId="f330c419-70e4-4456-a27b-45207058c84b" providerId="ADAL" clId="{C4155E36-F6AA-419F-8A74-828D57A02D3C}" dt="2025-07-23T22:14:45.335" v="672"/>
          <ac:cxnSpMkLst>
            <pc:docMk/>
            <pc:sldMk cId="1397433411" sldId="440"/>
            <ac:cxnSpMk id="7" creationId="{856B7794-559F-44C3-81C3-A3E7172912F8}"/>
          </ac:cxnSpMkLst>
        </pc:cxnChg>
      </pc:sldChg>
      <pc:sldChg chg="addSp modSp mod">
        <pc:chgData name="Aljohani, Nawaf" userId="f330c419-70e4-4456-a27b-45207058c84b" providerId="ADAL" clId="{C4155E36-F6AA-419F-8A74-828D57A02D3C}" dt="2025-07-23T22:14:45.351" v="691"/>
        <pc:sldMkLst>
          <pc:docMk/>
          <pc:sldMk cId="3074432737" sldId="441"/>
        </pc:sldMkLst>
        <pc:cxnChg chg="add mod modVis">
          <ac:chgData name="Aljohani, Nawaf" userId="f330c419-70e4-4456-a27b-45207058c84b" providerId="ADAL" clId="{C4155E36-F6AA-419F-8A74-828D57A02D3C}" dt="2025-07-23T22:14:45.351" v="691"/>
          <ac:cxnSpMkLst>
            <pc:docMk/>
            <pc:sldMk cId="3074432737" sldId="441"/>
            <ac:cxnSpMk id="3" creationId="{2C74547B-ABBB-E6B1-DBEC-6E5B016DD73F}"/>
          </ac:cxnSpMkLst>
        </pc:cxnChg>
      </pc:sldChg>
      <pc:sldChg chg="addSp delSp modSp mod">
        <pc:chgData name="Aljohani, Nawaf" userId="f330c419-70e4-4456-a27b-45207058c84b" providerId="ADAL" clId="{C4155E36-F6AA-419F-8A74-828D57A02D3C}" dt="2025-07-23T22:14:45.366" v="713"/>
        <pc:sldMkLst>
          <pc:docMk/>
          <pc:sldMk cId="3962694300" sldId="442"/>
        </pc:sldMkLst>
        <pc:cxnChg chg="add mod modVis">
          <ac:chgData name="Aljohani, Nawaf" userId="f330c419-70e4-4456-a27b-45207058c84b" providerId="ADAL" clId="{C4155E36-F6AA-419F-8A74-828D57A02D3C}" dt="2025-07-23T22:14:45.366" v="713"/>
          <ac:cxnSpMkLst>
            <pc:docMk/>
            <pc:sldMk cId="3962694300" sldId="442"/>
            <ac:cxnSpMk id="5" creationId="{5900FDE4-369B-62E2-5F24-AEEEA40CE610}"/>
          </ac:cxnSpMkLst>
        </pc:cxnChg>
      </pc:sldChg>
      <pc:sldChg chg="addSp modSp mod">
        <pc:chgData name="Aljohani, Nawaf" userId="f330c419-70e4-4456-a27b-45207058c84b" providerId="ADAL" clId="{C4155E36-F6AA-419F-8A74-828D57A02D3C}" dt="2025-07-23T22:14:45.398" v="732"/>
        <pc:sldMkLst>
          <pc:docMk/>
          <pc:sldMk cId="37702016" sldId="443"/>
        </pc:sldMkLst>
        <pc:cxnChg chg="add mod modVis">
          <ac:chgData name="Aljohani, Nawaf" userId="f330c419-70e4-4456-a27b-45207058c84b" providerId="ADAL" clId="{C4155E36-F6AA-419F-8A74-828D57A02D3C}" dt="2025-07-23T22:14:45.398" v="732"/>
          <ac:cxnSpMkLst>
            <pc:docMk/>
            <pc:sldMk cId="37702016" sldId="443"/>
            <ac:cxnSpMk id="3" creationId="{19B8D31B-3483-E75E-108C-032A8312B6B2}"/>
          </ac:cxnSpMkLst>
        </pc:cxnChg>
      </pc:sldChg>
      <pc:sldChg chg="addSp delSp modSp mod">
        <pc:chgData name="Aljohani, Nawaf" userId="f330c419-70e4-4456-a27b-45207058c84b" providerId="ADAL" clId="{C4155E36-F6AA-419F-8A74-828D57A02D3C}" dt="2025-07-23T22:14:45.507" v="839"/>
        <pc:sldMkLst>
          <pc:docMk/>
          <pc:sldMk cId="389630121" sldId="444"/>
        </pc:sldMkLst>
        <pc:cxnChg chg="add mod modVis">
          <ac:chgData name="Aljohani, Nawaf" userId="f330c419-70e4-4456-a27b-45207058c84b" providerId="ADAL" clId="{C4155E36-F6AA-419F-8A74-828D57A02D3C}" dt="2025-07-23T22:14:45.507" v="839"/>
          <ac:cxnSpMkLst>
            <pc:docMk/>
            <pc:sldMk cId="389630121" sldId="444"/>
            <ac:cxnSpMk id="4" creationId="{B7B3993F-2EBD-1FFC-3D5E-1786975AF745}"/>
          </ac:cxnSpMkLst>
        </pc:cxnChg>
      </pc:sldChg>
      <pc:sldChg chg="addSp delSp modSp mod">
        <pc:chgData name="Aljohani, Nawaf" userId="f330c419-70e4-4456-a27b-45207058c84b" providerId="ADAL" clId="{C4155E36-F6AA-419F-8A74-828D57A02D3C}" dt="2025-07-23T22:14:45.507" v="861"/>
        <pc:sldMkLst>
          <pc:docMk/>
          <pc:sldMk cId="2193068549" sldId="445"/>
        </pc:sldMkLst>
        <pc:cxnChg chg="add mod modVis">
          <ac:chgData name="Aljohani, Nawaf" userId="f330c419-70e4-4456-a27b-45207058c84b" providerId="ADAL" clId="{C4155E36-F6AA-419F-8A74-828D57A02D3C}" dt="2025-07-23T22:14:45.507" v="861"/>
          <ac:cxnSpMkLst>
            <pc:docMk/>
            <pc:sldMk cId="2193068549" sldId="445"/>
            <ac:cxnSpMk id="4" creationId="{A390DD09-7B73-3330-20F2-45E191F2B7AF}"/>
          </ac:cxnSpMkLst>
        </pc:cxnChg>
      </pc:sldChg>
      <pc:sldChg chg="addSp delSp modSp mod">
        <pc:chgData name="Aljohani, Nawaf" userId="f330c419-70e4-4456-a27b-45207058c84b" providerId="ADAL" clId="{C4155E36-F6AA-419F-8A74-828D57A02D3C}" dt="2025-07-23T22:14:45.548" v="905"/>
        <pc:sldMkLst>
          <pc:docMk/>
          <pc:sldMk cId="2222382779" sldId="446"/>
        </pc:sldMkLst>
        <pc:cxnChg chg="add mod modVis">
          <ac:chgData name="Aljohani, Nawaf" userId="f330c419-70e4-4456-a27b-45207058c84b" providerId="ADAL" clId="{C4155E36-F6AA-419F-8A74-828D57A02D3C}" dt="2025-07-23T22:14:45.548" v="905"/>
          <ac:cxnSpMkLst>
            <pc:docMk/>
            <pc:sldMk cId="2222382779" sldId="446"/>
            <ac:cxnSpMk id="4" creationId="{7C2DE491-7AB3-5AF1-05E7-DD24344251B1}"/>
          </ac:cxnSpMkLst>
        </pc:cxnChg>
      </pc:sldChg>
      <pc:sldChg chg="addSp delSp modSp mod">
        <pc:chgData name="Aljohani, Nawaf" userId="f330c419-70e4-4456-a27b-45207058c84b" providerId="ADAL" clId="{C4155E36-F6AA-419F-8A74-828D57A02D3C}" dt="2025-07-23T22:14:45.555" v="927"/>
        <pc:sldMkLst>
          <pc:docMk/>
          <pc:sldMk cId="2236912980" sldId="448"/>
        </pc:sldMkLst>
        <pc:cxnChg chg="add mod modVis">
          <ac:chgData name="Aljohani, Nawaf" userId="f330c419-70e4-4456-a27b-45207058c84b" providerId="ADAL" clId="{C4155E36-F6AA-419F-8A74-828D57A02D3C}" dt="2025-07-23T22:14:45.555" v="927"/>
          <ac:cxnSpMkLst>
            <pc:docMk/>
            <pc:sldMk cId="2236912980" sldId="448"/>
            <ac:cxnSpMk id="4" creationId="{CA4AC080-B7CA-DB76-6928-C1FA9193CE65}"/>
          </ac:cxnSpMkLst>
        </pc:cxnChg>
      </pc:sldChg>
      <pc:sldChg chg="addSp delSp modSp mod">
        <pc:chgData name="Aljohani, Nawaf" userId="f330c419-70e4-4456-a27b-45207058c84b" providerId="ADAL" clId="{C4155E36-F6AA-419F-8A74-828D57A02D3C}" dt="2025-07-23T22:14:45.115" v="518"/>
        <pc:sldMkLst>
          <pc:docMk/>
          <pc:sldMk cId="745598471" sldId="449"/>
        </pc:sldMkLst>
        <pc:cxnChg chg="add mod modVis">
          <ac:chgData name="Aljohani, Nawaf" userId="f330c419-70e4-4456-a27b-45207058c84b" providerId="ADAL" clId="{C4155E36-F6AA-419F-8A74-828D57A02D3C}" dt="2025-07-23T22:14:45.115" v="518"/>
          <ac:cxnSpMkLst>
            <pc:docMk/>
            <pc:sldMk cId="745598471" sldId="449"/>
            <ac:cxnSpMk id="5" creationId="{618949B5-7B73-0FB2-EE41-9BC398E85A08}"/>
          </ac:cxnSpMkLst>
        </pc:cxnChg>
      </pc:sldChg>
      <pc:sldChg chg="addSp delSp modSp mod">
        <pc:chgData name="Aljohani, Nawaf" userId="f330c419-70e4-4456-a27b-45207058c84b" providerId="ADAL" clId="{C4155E36-F6AA-419F-8A74-828D57A02D3C}" dt="2025-07-23T22:14:45.193" v="587"/>
        <pc:sldMkLst>
          <pc:docMk/>
          <pc:sldMk cId="1229684875" sldId="450"/>
        </pc:sldMkLst>
        <pc:cxnChg chg="add mod modVis">
          <ac:chgData name="Aljohani, Nawaf" userId="f330c419-70e4-4456-a27b-45207058c84b" providerId="ADAL" clId="{C4155E36-F6AA-419F-8A74-828D57A02D3C}" dt="2025-07-23T22:14:45.193" v="587"/>
          <ac:cxnSpMkLst>
            <pc:docMk/>
            <pc:sldMk cId="1229684875" sldId="450"/>
            <ac:cxnSpMk id="4" creationId="{92330A31-D818-0763-FE00-4EAC20A03863}"/>
          </ac:cxnSpMkLst>
        </pc:cxnChg>
      </pc:sldChg>
      <pc:sldChg chg="addSp modSp mod">
        <pc:chgData name="Aljohani, Nawaf" userId="f330c419-70e4-4456-a27b-45207058c84b" providerId="ADAL" clId="{C4155E36-F6AA-419F-8A74-828D57A02D3C}" dt="2025-07-23T22:14:45.240" v="606"/>
        <pc:sldMkLst>
          <pc:docMk/>
          <pc:sldMk cId="1791314772" sldId="451"/>
        </pc:sldMkLst>
        <pc:cxnChg chg="add mod modVis">
          <ac:chgData name="Aljohani, Nawaf" userId="f330c419-70e4-4456-a27b-45207058c84b" providerId="ADAL" clId="{C4155E36-F6AA-419F-8A74-828D57A02D3C}" dt="2025-07-23T22:14:45.240" v="606"/>
          <ac:cxnSpMkLst>
            <pc:docMk/>
            <pc:sldMk cId="1791314772" sldId="451"/>
            <ac:cxnSpMk id="3" creationId="{5F6D5D33-5C4F-0970-2425-4A835C2316E2}"/>
          </ac:cxnSpMkLst>
        </pc:cxnChg>
      </pc:sldChg>
      <pc:sldChg chg="addSp modSp mod">
        <pc:chgData name="Aljohani, Nawaf" userId="f330c419-70e4-4456-a27b-45207058c84b" providerId="ADAL" clId="{C4155E36-F6AA-419F-8A74-828D57A02D3C}" dt="2025-07-23T22:14:45.288" v="647"/>
        <pc:sldMkLst>
          <pc:docMk/>
          <pc:sldMk cId="3110309630" sldId="452"/>
        </pc:sldMkLst>
        <pc:cxnChg chg="add mod modVis">
          <ac:chgData name="Aljohani, Nawaf" userId="f330c419-70e4-4456-a27b-45207058c84b" providerId="ADAL" clId="{C4155E36-F6AA-419F-8A74-828D57A02D3C}" dt="2025-07-23T22:14:45.288" v="647"/>
          <ac:cxnSpMkLst>
            <pc:docMk/>
            <pc:sldMk cId="3110309630" sldId="452"/>
            <ac:cxnSpMk id="3" creationId="{14199506-A2E9-257E-D4FA-E15938CA4AD4}"/>
          </ac:cxnSpMkLst>
        </pc:cxnChg>
      </pc:sldChg>
      <pc:sldChg chg="addSp delSp modSp mod">
        <pc:chgData name="Aljohani, Nawaf" userId="f330c419-70e4-4456-a27b-45207058c84b" providerId="ADAL" clId="{C4155E36-F6AA-419F-8A74-828D57A02D3C}" dt="2025-07-23T22:14:45.429" v="754"/>
        <pc:sldMkLst>
          <pc:docMk/>
          <pc:sldMk cId="2894972337" sldId="453"/>
        </pc:sldMkLst>
        <pc:cxnChg chg="add mod modVis">
          <ac:chgData name="Aljohani, Nawaf" userId="f330c419-70e4-4456-a27b-45207058c84b" providerId="ADAL" clId="{C4155E36-F6AA-419F-8A74-828D57A02D3C}" dt="2025-07-23T22:14:45.429" v="754"/>
          <ac:cxnSpMkLst>
            <pc:docMk/>
            <pc:sldMk cId="2894972337" sldId="453"/>
            <ac:cxnSpMk id="4" creationId="{66ED417C-D7AC-C9CD-C0AC-3F8C8CCC965E}"/>
          </ac:cxnSpMkLst>
        </pc:cxnChg>
      </pc:sldChg>
      <pc:sldChg chg="addSp delSp modSp mod">
        <pc:chgData name="Aljohani, Nawaf" userId="f330c419-70e4-4456-a27b-45207058c84b" providerId="ADAL" clId="{C4155E36-F6AA-419F-8A74-828D57A02D3C}" dt="2025-07-23T22:14:45.448" v="776"/>
        <pc:sldMkLst>
          <pc:docMk/>
          <pc:sldMk cId="664037731" sldId="454"/>
        </pc:sldMkLst>
        <pc:cxnChg chg="add mod modVis">
          <ac:chgData name="Aljohani, Nawaf" userId="f330c419-70e4-4456-a27b-45207058c84b" providerId="ADAL" clId="{C4155E36-F6AA-419F-8A74-828D57A02D3C}" dt="2025-07-23T22:14:45.448" v="776"/>
          <ac:cxnSpMkLst>
            <pc:docMk/>
            <pc:sldMk cId="664037731" sldId="454"/>
            <ac:cxnSpMk id="4" creationId="{F45B5612-00CC-5554-88DA-1DE5CD39D43A}"/>
          </ac:cxnSpMkLst>
        </pc:cxnChg>
      </pc:sldChg>
      <pc:sldChg chg="addSp delSp modSp mod">
        <pc:chgData name="Aljohani, Nawaf" userId="f330c419-70e4-4456-a27b-45207058c84b" providerId="ADAL" clId="{C4155E36-F6AA-419F-8A74-828D57A02D3C}" dt="2025-07-23T22:14:45.460" v="798"/>
        <pc:sldMkLst>
          <pc:docMk/>
          <pc:sldMk cId="2319183136" sldId="455"/>
        </pc:sldMkLst>
        <pc:cxnChg chg="add mod modVis">
          <ac:chgData name="Aljohani, Nawaf" userId="f330c419-70e4-4456-a27b-45207058c84b" providerId="ADAL" clId="{C4155E36-F6AA-419F-8A74-828D57A02D3C}" dt="2025-07-23T22:14:45.460" v="798"/>
          <ac:cxnSpMkLst>
            <pc:docMk/>
            <pc:sldMk cId="2319183136" sldId="455"/>
            <ac:cxnSpMk id="4" creationId="{C823D962-1ADC-61E5-806C-4B332EE4F7AD}"/>
          </ac:cxnSpMkLst>
        </pc:cxnChg>
      </pc:sldChg>
      <pc:sldChg chg="addSp modSp mod">
        <pc:chgData name="Aljohani, Nawaf" userId="f330c419-70e4-4456-a27b-45207058c84b" providerId="ADAL" clId="{C4155E36-F6AA-419F-8A74-828D57A02D3C}" dt="2025-07-23T22:14:45.476" v="817"/>
        <pc:sldMkLst>
          <pc:docMk/>
          <pc:sldMk cId="4030157" sldId="456"/>
        </pc:sldMkLst>
        <pc:cxnChg chg="add mod modVis">
          <ac:chgData name="Aljohani, Nawaf" userId="f330c419-70e4-4456-a27b-45207058c84b" providerId="ADAL" clId="{C4155E36-F6AA-419F-8A74-828D57A02D3C}" dt="2025-07-23T22:14:45.476" v="817"/>
          <ac:cxnSpMkLst>
            <pc:docMk/>
            <pc:sldMk cId="4030157" sldId="456"/>
            <ac:cxnSpMk id="3" creationId="{A28B85D7-BD9B-E023-C703-0882F9F3497B}"/>
          </ac:cxnSpMkLst>
        </pc:cxnChg>
      </pc:sldChg>
      <pc:sldChg chg="addSp delSp modSp mod">
        <pc:chgData name="Aljohani, Nawaf" userId="f330c419-70e4-4456-a27b-45207058c84b" providerId="ADAL" clId="{C4155E36-F6AA-419F-8A74-828D57A02D3C}" dt="2025-07-23T22:14:45.523" v="883"/>
        <pc:sldMkLst>
          <pc:docMk/>
          <pc:sldMk cId="2506250970" sldId="457"/>
        </pc:sldMkLst>
        <pc:cxnChg chg="add mod modVis">
          <ac:chgData name="Aljohani, Nawaf" userId="f330c419-70e4-4456-a27b-45207058c84b" providerId="ADAL" clId="{C4155E36-F6AA-419F-8A74-828D57A02D3C}" dt="2025-07-23T22:14:45.523" v="883"/>
          <ac:cxnSpMkLst>
            <pc:docMk/>
            <pc:sldMk cId="2506250970" sldId="457"/>
            <ac:cxnSpMk id="4" creationId="{1F3F5685-136C-6A1C-1E32-FD1DD21822FD}"/>
          </ac:cxnSpMkLst>
        </pc:cxnChg>
      </pc:sldChg>
      <pc:sldChg chg="addSp delSp modSp mod">
        <pc:chgData name="Aljohani, Nawaf" userId="f330c419-70e4-4456-a27b-45207058c84b" providerId="ADAL" clId="{C4155E36-F6AA-419F-8A74-828D57A02D3C}" dt="2025-07-23T22:14:44.676" v="27"/>
        <pc:sldMkLst>
          <pc:docMk/>
          <pc:sldMk cId="191779197" sldId="458"/>
        </pc:sldMkLst>
        <pc:cxnChg chg="add mod modVis">
          <ac:chgData name="Aljohani, Nawaf" userId="f330c419-70e4-4456-a27b-45207058c84b" providerId="ADAL" clId="{C4155E36-F6AA-419F-8A74-828D57A02D3C}" dt="2025-07-23T22:14:44.676" v="27"/>
          <ac:cxnSpMkLst>
            <pc:docMk/>
            <pc:sldMk cId="191779197" sldId="458"/>
            <ac:cxnSpMk id="10" creationId="{62D4FAE7-153C-9727-D493-F00441DF6A59}"/>
          </ac:cxnSpMkLst>
        </pc:cxn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7/23/2025</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dirty="0"/>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Chapter 5 of our Modern Database Management course. Today we're diving into one of the most fundamental and powerful tools in database management - SQL, or Structured Query Language. This chapter is where theory meets practice, and you'll finally get your hands on the language that drives virtually every relational database system in the world today.</a:t>
            </a:r>
          </a:p>
          <a:p>
            <a:r>
              <a:rPr lang="en-US" dirty="0"/>
              <a:t>Think of SQL as the universal language of databases - just like English might be considered a global language for business communication, SQL is the global language for talking to databases. Whether you're working at a Fortune 500 company, a startup, or building your own applications, SQL will be an essential skill in your toolkit.</a:t>
            </a:r>
          </a:p>
          <a:p>
            <a:endParaRPr lang="en-US" sz="1200" b="0" i="0" u="none" strike="noStrike" kern="1200" cap="none" dirty="0">
              <a:solidFill>
                <a:schemeClr val="dk1"/>
              </a:solidFill>
              <a:latin typeface="Arial"/>
              <a:ea typeface="Arial"/>
              <a:cs typeface="Arial"/>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5225185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what we'll accomplish by the end of this chapter. These six learning objectives build upon each other systematically:</a:t>
            </a:r>
          </a:p>
          <a:p>
            <a:r>
              <a:rPr lang="en-US" b="1" dirty="0"/>
              <a:t>5.1 - Define key terms</a:t>
            </a:r>
            <a:r>
              <a:rPr lang="en-US" dirty="0"/>
              <a:t>: We'll establish a solid vocabulary foundation. Terms like RDBMS, DDL, DML, schema, and catalog aren't just academic jargon - they're the building blocks of how database professionals communicate.</a:t>
            </a:r>
          </a:p>
          <a:p>
            <a:r>
              <a:rPr lang="en-US" b="1" dirty="0"/>
              <a:t>5.2 - Interpret SQL's history and role</a:t>
            </a:r>
            <a:r>
              <a:rPr lang="en-US" dirty="0"/>
              <a:t>: Understanding where SQL came from helps you appreciate why it's designed the way it is. We'll trace its evolution from IBM's research labs in the 1970s to today's ubiquitous standard.</a:t>
            </a:r>
          </a:p>
          <a:p>
            <a:r>
              <a:rPr lang="en-US" b="1" dirty="0"/>
              <a:t>5.3 - Define and implement databases using DDL</a:t>
            </a:r>
            <a:r>
              <a:rPr lang="en-US" dirty="0"/>
              <a:t>: This is where you learn to CREATE tables, establish data types, and build the structural foundation of databases. Think of this as becoming the architect of your data.</a:t>
            </a:r>
          </a:p>
          <a:p>
            <a:r>
              <a:rPr lang="en-US" b="1" dirty="0"/>
              <a:t>5.4 - Establish referential integrity</a:t>
            </a:r>
            <a:r>
              <a:rPr lang="en-US" dirty="0"/>
              <a:t>: You'll learn to create relationships between tables that maintain data consistency automatically. This prevents orphaned records and ensures your data makes sense.</a:t>
            </a:r>
          </a:p>
          <a:p>
            <a:r>
              <a:rPr lang="en-US" b="1" dirty="0"/>
              <a:t>5.5 - Write single-table queries</a:t>
            </a:r>
            <a:r>
              <a:rPr lang="en-US" dirty="0"/>
              <a:t>: This is often students' favorite part - learning to ask questions of your data using SELECT statements. You'll start simple and work up to complex analytical queries.</a:t>
            </a:r>
          </a:p>
          <a:p>
            <a:r>
              <a:rPr lang="en-US" b="1" dirty="0"/>
              <a:t>5.6 - Discuss modern SQL standards</a:t>
            </a:r>
            <a:r>
              <a:rPr lang="en-US" dirty="0"/>
              <a:t>: We'll explore how SQL:1999 and SQL:2016 have evolved to handle modern data challenges like JSON, analytics, and temporal data.</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487625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the basics. SQL stands for Structured Query Language, and you'll hear people pronounce it both as "S-Q-L" and "sequel" - both are correct. I prefer "sequel" because it's faster to say, but either way works in professional settings.</a:t>
            </a:r>
          </a:p>
          <a:p>
            <a:r>
              <a:rPr lang="en-US" dirty="0"/>
              <a:t>SQL is the standard for Relational Database Management Systems, or RDBMS. Now, what exactly is an RDBMS? It's a database management system that organizes data as a collection of tables where relationships are represented by common values, not physical links or pointers.</a:t>
            </a:r>
          </a:p>
          <a:p>
            <a:r>
              <a:rPr lang="en-US" dirty="0"/>
              <a:t>Think about it this way: imagine you have a filing cabinet system where related documents are kept in separate folders, but they're connected by consistent reference numbers rather than physical clips or strings. That's essentially how an RDBMS works - tables are like folders, and foreign keys are like those reference numbers that create logical connections.</a:t>
            </a:r>
          </a:p>
          <a:p>
            <a:r>
              <a:rPr lang="en-US" dirty="0"/>
              <a:t>This approach is incredibly powerful because it allows for flexible queries, data integrity, and efficient storage while remaining conceptually simple enough for humans to understand and work with.</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918442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has a fascinating origin story that explains why it became so dominant. In 1970, Dr. Edgar F. Codd at IBM published his groundbreaking paper "A Relational Model of Data for Large Shared Data Banks." This wasn't just an academic exercise - it revolutionized how we think about data storage and retrieval.</a:t>
            </a:r>
          </a:p>
          <a:p>
            <a:r>
              <a:rPr lang="en-US" dirty="0"/>
              <a:t>From 1974 to 1979, IBM's research team in San Jose, California, developed System R to prove that Codd's relational model could work in practice. They created a language called "Sequel" (later renamed SQL for trademark reasons) to interact with this system.</a:t>
            </a:r>
          </a:p>
          <a:p>
            <a:r>
              <a:rPr lang="en-US" dirty="0"/>
              <a:t>Here's where it gets interesting: Oracle, then called Relational Software, actually beat IBM to market in 1979 with the first commercial SQL database. This shows how compelling the SQL approach was - it sparked immediate commercial interest.</a:t>
            </a:r>
          </a:p>
          <a:p>
            <a:r>
              <a:rPr lang="en-US" dirty="0"/>
              <a:t>The 1986 ANSI standard was crucial because it meant SQL wouldn't be controlled by any single vendor. Since then, we've had regular updates - the major ones being 1992, 1999, 2003, 2008, 2011, and 2016. Each added important capabilities like better date handling, window functions, XML support, and JSON processing.</a:t>
            </a:r>
          </a:p>
          <a:p>
            <a:r>
              <a:rPr lang="en-US" dirty="0"/>
              <a:t>The key lesson here is that SQL's success comes from being an open standard that evolved with technology needs while maintaining backward compatibility.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432675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SQL standard had five clear goals that remain relevant today:</a:t>
            </a:r>
          </a:p>
          <a:p>
            <a:r>
              <a:rPr lang="en-US" b="1" dirty="0"/>
              <a:t>Specify syntax and semantics</a:t>
            </a:r>
            <a:r>
              <a:rPr lang="en-US" dirty="0"/>
              <a:t>: This means creating precise rules for how SQL commands should work. Just like grammar rules in language, these specifications ensure everyone understands what each command means.</a:t>
            </a:r>
          </a:p>
          <a:p>
            <a:r>
              <a:rPr lang="en-US" b="1" dirty="0"/>
              <a:t>Define data structures and operations</a:t>
            </a:r>
            <a:r>
              <a:rPr lang="en-US" dirty="0"/>
              <a:t>: The standard establishes what tables, columns, and relationships look like, plus the fundamental operations you can perform on them.</a:t>
            </a:r>
          </a:p>
          <a:p>
            <a:r>
              <a:rPr lang="en-US" b="1" dirty="0"/>
              <a:t>Enable portability</a:t>
            </a:r>
            <a:r>
              <a:rPr lang="en-US" dirty="0"/>
              <a:t>: This was revolutionary - the idea that you could write SQL code that would work across different vendors' systems. While perfect portability remains elusive due to vendor extensions, the core language remains remarkably consistent.</a:t>
            </a:r>
          </a:p>
          <a:p>
            <a:r>
              <a:rPr lang="en-US" b="1" dirty="0"/>
              <a:t>Specify multiple compliance levels</a:t>
            </a:r>
            <a:r>
              <a:rPr lang="en-US" dirty="0"/>
              <a:t>: Level 1 was minimal compliance, Level 2 was full compliance. This allowed vendors to implement SQL gradually while still claiming standards compliance.</a:t>
            </a:r>
          </a:p>
          <a:p>
            <a:r>
              <a:rPr lang="en-US" b="1" dirty="0"/>
              <a:t>Allow for future growth</a:t>
            </a:r>
            <a:r>
              <a:rPr lang="en-US" dirty="0"/>
              <a:t>: The standard was designed to be extensible. Features like referential integrity, transaction management, and user-defined functions were anticipated even if not initially included.</a:t>
            </a:r>
          </a:p>
          <a:p>
            <a:r>
              <a:rPr lang="en-US" dirty="0"/>
              <a:t>This forward-thinking approach explains why SQL has remained relevant for over 40 years - it was designed to evolve with changing technology needs.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4720705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having a standard language matter so much? Let me give you some real-world examples:</a:t>
            </a:r>
          </a:p>
          <a:p>
            <a:r>
              <a:rPr lang="en-US" b="1" dirty="0"/>
              <a:t>Reduced training costs</a:t>
            </a:r>
            <a:r>
              <a:rPr lang="en-US" dirty="0"/>
              <a:t>: Imagine if every database vendor had completely different commands. A company using Oracle, MySQL, and SQL Server would need separate training programs for each. With SQL, you learn one language that works everywhere with minor variations.</a:t>
            </a:r>
          </a:p>
          <a:p>
            <a:r>
              <a:rPr lang="en-US" b="1" dirty="0"/>
              <a:t>Productivity</a:t>
            </a:r>
            <a:r>
              <a:rPr lang="en-US" dirty="0"/>
              <a:t>: Once you master SQL, you become productive quickly regardless of which specific database system you're using. Your knowledge transfers between jobs, projects, and technologies.</a:t>
            </a:r>
          </a:p>
          <a:p>
            <a:r>
              <a:rPr lang="en-US" b="1" dirty="0"/>
              <a:t>Application portability</a:t>
            </a:r>
            <a:r>
              <a:rPr lang="en-US" dirty="0"/>
              <a:t>: While not perfect, SQL standardization means applications can potentially move between database systems with manageable effort. This reduces vendor lock-in and provides strategic flexibility.</a:t>
            </a:r>
          </a:p>
          <a:p>
            <a:r>
              <a:rPr lang="en-US" b="1" dirty="0"/>
              <a:t>Application longevity</a:t>
            </a:r>
            <a:r>
              <a:rPr lang="en-US" dirty="0"/>
              <a:t>: SQL applications from the 1990s often still work today with minimal modification. Compare this to applications written in proprietary database languages that became obsolete when those systems died.</a:t>
            </a:r>
          </a:p>
          <a:p>
            <a:r>
              <a:rPr lang="en-US" b="1" dirty="0"/>
              <a:t>Reduced vendor dependence</a:t>
            </a:r>
            <a:r>
              <a:rPr lang="en-US" dirty="0"/>
              <a:t>: When you're not locked into one vendor's proprietary approach, you have leverage in negotiations and options if your current vendor fails to meet your needs.</a:t>
            </a:r>
          </a:p>
          <a:p>
            <a:r>
              <a:rPr lang="en-US" b="1" dirty="0"/>
              <a:t>Cross-system communication</a:t>
            </a:r>
            <a:r>
              <a:rPr lang="en-US" dirty="0"/>
              <a:t>: Different databases can exchange information more easily when they all speak SQL. This enables data warehouses, reporting systems, and integration projects.</a:t>
            </a:r>
          </a:p>
          <a:p>
            <a:r>
              <a:rPr lang="en-US" dirty="0"/>
              <a:t>The bottom line: standardization creates a network effect where everyone benefits from shared knowledge and compatible systems.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056371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understand how SQL fits into the broader database architecture. The SQL environment has several key components:</a:t>
            </a:r>
          </a:p>
          <a:p>
            <a:r>
              <a:rPr lang="en-US" b="1" dirty="0"/>
              <a:t>Catalog</a:t>
            </a:r>
            <a:r>
              <a:rPr lang="en-US" dirty="0"/>
              <a:t>: Think of this as the master directory of your database. It contains metadata about everything - every table, every column, every constraint. The catalog answers questions like "What tables exist?" and "What columns does the Customer table have?"</a:t>
            </a:r>
          </a:p>
          <a:p>
            <a:r>
              <a:rPr lang="en-US" b="1" dirty="0"/>
              <a:t>Schema</a:t>
            </a:r>
            <a:r>
              <a:rPr lang="en-US" dirty="0"/>
              <a:t>: This is a collection of related database objects owned by a particular user. In the Pine Valley Furniture example, you might have separate schemas for Sales, Inventory, and Accounting, each containing tables relevant to that business area.</a:t>
            </a:r>
          </a:p>
          <a:p>
            <a:r>
              <a:rPr lang="en-US" dirty="0"/>
              <a:t>The three types of SQL commands create a complete toolkit:</a:t>
            </a:r>
          </a:p>
          <a:p>
            <a:r>
              <a:rPr lang="en-US" b="1" dirty="0"/>
              <a:t>DDL (Data Definition Language)</a:t>
            </a:r>
            <a:r>
              <a:rPr lang="en-US" dirty="0"/>
              <a:t>: These are the "construction" commands - CREATE, ALTER, DROP. They build and modify the structure of your database. Think of DDL as the blueprints and construction tools for your data warehouse.</a:t>
            </a:r>
          </a:p>
          <a:p>
            <a:r>
              <a:rPr lang="en-US" b="1" dirty="0"/>
              <a:t>DML (Data Manipulation Language)</a:t>
            </a:r>
            <a:r>
              <a:rPr lang="en-US" dirty="0"/>
              <a:t>: These are your daily-use commands - SELECT, INSERT, UPDATE, DELETE. They work with the actual data, not the structure. This is like the tools for moving boxes in and out of your warehouse.</a:t>
            </a:r>
          </a:p>
          <a:p>
            <a:r>
              <a:rPr lang="en-US" b="1" dirty="0"/>
              <a:t>DCL (Data Control Language)</a:t>
            </a:r>
            <a:r>
              <a:rPr lang="en-US" dirty="0"/>
              <a:t>: These handle security and transaction control - GRANT, REVOKE, COMMIT, ROLLBACK. Think of these as the security systems and quality control processes for your warehouse.</a:t>
            </a:r>
          </a:p>
          <a:p>
            <a:r>
              <a:rPr lang="en-US" dirty="0"/>
              <a:t>Understanding this hierarchy is crucial because different roles in an organization typically work with different command types.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684624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SQL environments are organized in practice. Notice we have two catalogs: DEV_C and PROD_C. This reflects real-world database management where you never make changes directly to production systems.</a:t>
            </a:r>
          </a:p>
          <a:p>
            <a:r>
              <a:rPr lang="en-US" b="1" dirty="0"/>
              <a:t>Development Environment (DEV_C)</a:t>
            </a:r>
            <a:r>
              <a:rPr lang="en-US" dirty="0"/>
              <a:t>: This is your sandbox where you can experiment, test new features, and make mistakes without affecting real business operations. The data here might be anonymized or synthetic.</a:t>
            </a:r>
          </a:p>
          <a:p>
            <a:r>
              <a:rPr lang="en-US" b="1" dirty="0"/>
              <a:t>Production Environment (PROD_C)</a:t>
            </a:r>
            <a:r>
              <a:rPr lang="en-US" dirty="0"/>
              <a:t>: This contains live business data and must be extremely reliable. Changes here go through rigorous testing and approval processes.</a:t>
            </a:r>
          </a:p>
          <a:p>
            <a:r>
              <a:rPr lang="en-US" dirty="0"/>
              <a:t>Both environments contain user schemas and a required information schema. Users and applications interact with both, but through different access patterns - developers work heavily in DEV_C, while end-users primarily query PROD_C.</a:t>
            </a:r>
          </a:p>
          <a:p>
            <a:r>
              <a:rPr lang="en-US" dirty="0"/>
              <a:t>The DBMS manages both environments and handles SQL queries from applications. This separation is a fundamental best practice in database management - you always test in development before deploying to production.</a:t>
            </a:r>
          </a:p>
          <a:p>
            <a:r>
              <a:rPr lang="en-US" dirty="0"/>
              <a:t>Notice how applications can connect to either environment, but typically production applications only connect to PROD_C for security and stability reasons.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13490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Choosing the right data type is crucial for both storage efficiency and data integrity. Let's explore the major categories:</a:t>
            </a:r>
          </a:p>
          <a:p>
            <a:r>
              <a:rPr lang="en-US" b="1" dirty="0"/>
              <a:t>Strings</a:t>
            </a:r>
            <a:r>
              <a:rPr lang="en-US" dirty="0"/>
              <a:t>: CHARACTER(n) allocates exactly n characters, while CHARACTER VARYING(n) uses only what's needed up to n characters. For a customer name that might be 5-25 characters, VARCHAR saves space.</a:t>
            </a:r>
          </a:p>
          <a:p>
            <a:r>
              <a:rPr lang="en-US" b="1" dirty="0"/>
              <a:t>Binary</a:t>
            </a:r>
            <a:r>
              <a:rPr lang="en-US" dirty="0"/>
              <a:t>: BLOB (Binary Large Object) handles images, documents, multimedia files - anything that isn't text. Think of storing employee photos or product manuals.</a:t>
            </a:r>
          </a:p>
          <a:p>
            <a:r>
              <a:rPr lang="en-US" b="1" dirty="0"/>
              <a:t>Number</a:t>
            </a:r>
            <a:r>
              <a:rPr lang="en-US" dirty="0"/>
              <a:t>: NUMERIC and DECIMAL give you precise decimal arithmetic - essential for financial calculations where rounding errors could cost money. INTEGER is faster for whole numbers.</a:t>
            </a:r>
          </a:p>
          <a:p>
            <a:r>
              <a:rPr lang="en-US" b="1" dirty="0"/>
              <a:t>Temporal</a:t>
            </a:r>
            <a:r>
              <a:rPr lang="en-US" dirty="0"/>
              <a:t>: TIMESTAMP records specific moments in time, while TIMESTAMP WITH LOCAL TIME ZONE handles global applications where users are in different time zones.</a:t>
            </a:r>
          </a:p>
          <a:p>
            <a:r>
              <a:rPr lang="en-US" b="1" dirty="0"/>
              <a:t>Boolean</a:t>
            </a:r>
            <a:r>
              <a:rPr lang="en-US" dirty="0"/>
              <a:t>: Simple TRUE/FALSE values, perfect for flags like "Is this customer active?" or "Has this order been shipped?"</a:t>
            </a:r>
          </a:p>
          <a:p>
            <a:r>
              <a:rPr lang="en-US" dirty="0"/>
              <a:t>Here's a practical example: for a customer's phone number, you might think "it's all digits, so use INTEGER." But phone numbers can have formatting characters, international prefixes, and extensions. Plus, you never do math on phone numbers. So use VARCHAR instead.</a:t>
            </a:r>
          </a:p>
          <a:p>
            <a:r>
              <a:rPr lang="en-US" dirty="0"/>
              <a:t>The key principle: choose the data type that best represents your data's actual characteristics and usage patterns.</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651837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flowchart shows how different SQL command types fit into the database development lifecycle:</a:t>
            </a:r>
          </a:p>
          <a:p>
            <a:r>
              <a:rPr lang="en-US" b="1" dirty="0"/>
              <a:t>Physical Design Phase</a:t>
            </a:r>
            <a:r>
              <a:rPr lang="en-US" dirty="0"/>
              <a:t>: Uses DDL commands to CREATE tables, indexes, and views. You're establishing the fundamental structure - like building the foundation and frame of a house.</a:t>
            </a:r>
          </a:p>
          <a:p>
            <a:r>
              <a:rPr lang="en-US" b="1" dirty="0"/>
              <a:t>Implementation Phase</a:t>
            </a:r>
            <a:r>
              <a:rPr lang="en-US" dirty="0"/>
              <a:t>: Uses DML to INSERT initial data and create procedures for ongoing data manipulation. This is like moving furniture into your house and setting up daily routines.</a:t>
            </a:r>
          </a:p>
          <a:p>
            <a:r>
              <a:rPr lang="en-US" b="1" dirty="0"/>
              <a:t>Maintenance Phase</a:t>
            </a:r>
            <a:r>
              <a:rPr lang="en-US" dirty="0"/>
              <a:t>: Uses all three command types - DDL for structural changes, DML for data updates, and DCL for security management. This is ongoing operations - remodeling rooms, updating security systems, and daily housekeeping.</a:t>
            </a:r>
          </a:p>
          <a:p>
            <a:r>
              <a:rPr lang="en-US" dirty="0"/>
              <a:t>Notice how DDL touches all phases - you might need to ALTER tables or CREATE new indexes throughout the system's lifetime. This flexibility is why SQL remains valuable even as requirements change.</a:t>
            </a:r>
          </a:p>
          <a:p>
            <a:r>
              <a:rPr lang="en-US" dirty="0"/>
              <a:t>The arrows show that development isn't strictly linear - you often cycle back to earlier phases as you learn more about requirements or performance needs.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0053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CREATE statements are your database construction toolkit:</a:t>
            </a:r>
          </a:p>
          <a:p>
            <a:r>
              <a:rPr lang="en-US" b="1" dirty="0"/>
              <a:t>CREATE SCHEMA</a:t>
            </a:r>
            <a:r>
              <a:rPr lang="en-US" dirty="0"/>
              <a:t>: Establishes a namespace for a user's database objects. Like creating a department's section in a corporate file system.</a:t>
            </a:r>
          </a:p>
          <a:p>
            <a:r>
              <a:rPr lang="en-US" b="1" dirty="0"/>
              <a:t>CREATE TABLE</a:t>
            </a:r>
            <a:r>
              <a:rPr lang="en-US" dirty="0"/>
              <a:t>: Defines the structure where your data will live. This includes column names, data types, and constraints.</a:t>
            </a:r>
          </a:p>
          <a:p>
            <a:r>
              <a:rPr lang="en-US" b="1" dirty="0"/>
              <a:t>CREATE VIEW</a:t>
            </a:r>
            <a:r>
              <a:rPr lang="en-US" dirty="0"/>
              <a:t>: Creates a logical table based on other tables. Views can simplify complex queries, provide security by hiding sensitive columns, or present data in user-friendly formats.</a:t>
            </a:r>
          </a:p>
          <a:p>
            <a:r>
              <a:rPr lang="en-US" b="1" dirty="0"/>
              <a:t>CREATE INDEX</a:t>
            </a:r>
            <a:r>
              <a:rPr lang="en-US" dirty="0"/>
              <a:t>: Builds separate data structures to speed up queries. Like creating an index in a book - it doesn't change the content, but makes finding information much faster.</a:t>
            </a:r>
          </a:p>
          <a:p>
            <a:r>
              <a:rPr lang="en-US" dirty="0"/>
              <a:t>The additional CREATE statements handle specialized needs like character sets for international applications, collations for sorting rules in different languages, and domains for reusable data type definitions.</a:t>
            </a:r>
          </a:p>
          <a:p>
            <a:r>
              <a:rPr lang="en-US" dirty="0"/>
              <a:t>Each CREATE has a corresponding DROP command for removal, and ALTER for modification. This gives you complete control over your database structure throughout its lifetime.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486210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tables requires systematic planning. Let's walk through each step:</a:t>
            </a:r>
          </a:p>
          <a:p>
            <a:r>
              <a:rPr lang="en-US" b="1" dirty="0"/>
              <a:t>1. Identify data types</a:t>
            </a:r>
            <a:r>
              <a:rPr lang="en-US" dirty="0"/>
              <a:t>: Consider both storage efficiency and functionality. A product price needs DECIMAL for accuracy, while a product description needs VARCHAR for flexibility.</a:t>
            </a:r>
          </a:p>
          <a:p>
            <a:r>
              <a:rPr lang="en-US" b="1" dirty="0"/>
              <a:t>2. Identify null/not null columns</a:t>
            </a:r>
            <a:r>
              <a:rPr lang="en-US" dirty="0"/>
              <a:t>: Critical business data like customer names and order dates should be NOT NULL. Optional data like middle names or special instructions can allow nulls.</a:t>
            </a:r>
          </a:p>
          <a:p>
            <a:r>
              <a:rPr lang="en-US" b="1" dirty="0"/>
              <a:t>3. Identify unique columns</a:t>
            </a:r>
            <a:r>
              <a:rPr lang="en-US" dirty="0"/>
              <a:t>: These become candidate keys. Social Security numbers, email addresses, and product codes often need to be unique.</a:t>
            </a:r>
          </a:p>
          <a:p>
            <a:r>
              <a:rPr lang="en-US" b="1" dirty="0"/>
              <a:t>4. Identify primary-foreign key relationships</a:t>
            </a:r>
            <a:r>
              <a:rPr lang="en-US" dirty="0"/>
              <a:t>: This enforces referential integrity. Every order must reference a valid customer, every order line must reference valid orders and products.</a:t>
            </a:r>
          </a:p>
          <a:p>
            <a:r>
              <a:rPr lang="en-US" b="1" dirty="0"/>
              <a:t>5. Determine default values</a:t>
            </a:r>
            <a:r>
              <a:rPr lang="en-US" dirty="0"/>
              <a:t>: Set reasonable defaults like SYSDATE for order dates or 'Active' for customer status. This reduces data entry errors and ensures consistency.</a:t>
            </a:r>
          </a:p>
          <a:p>
            <a:r>
              <a:rPr lang="en-US" b="1" dirty="0"/>
              <a:t>6. Identify domain constraints</a:t>
            </a:r>
            <a:r>
              <a:rPr lang="en-US" dirty="0"/>
              <a:t>: Use CHECK constraints to enforce business rules. Product categories might be limited to specific values, prices must be positive, etc.</a:t>
            </a:r>
          </a:p>
          <a:p>
            <a:r>
              <a:rPr lang="en-US" b="1" dirty="0"/>
              <a:t>7. Create tables and indexes</a:t>
            </a:r>
            <a:r>
              <a:rPr lang="en-US" dirty="0"/>
              <a:t>: Execute your DDL statements in the right order - parent tables before child tables to satisfy foreign key constraints.</a:t>
            </a:r>
          </a:p>
          <a:p>
            <a:r>
              <a:rPr lang="en-US" dirty="0"/>
              <a:t>Following this systematic approach prevents many common database design problems and ensures your tables support your business requirements effectively.</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4912323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syntax diagram shows the complete CREATE TABLE statement structure. Let me break down the key components:</a:t>
            </a:r>
          </a:p>
          <a:p>
            <a:r>
              <a:rPr lang="en-US" dirty="0"/>
              <a:t>The basic pattern is CREATE TABLE followed by the table name, then column definitions in parentheses. Each column definition includes the column name, data type, and optional constraints.</a:t>
            </a:r>
          </a:p>
          <a:p>
            <a:r>
              <a:rPr lang="en-US" dirty="0"/>
              <a:t>Column constraints include NOT NULL, DEFAULT values, and CHECK conditions. Table constraints like PRIMARY KEY and FOREIGN KEY can reference multiple columns and are defined separately from individual column definitions.</a:t>
            </a:r>
          </a:p>
          <a:p>
            <a:r>
              <a:rPr lang="en-US" dirty="0"/>
              <a:t>The optional ON COMMIT clause handles how the table behaves in transaction environments - this is advanced functionality you'll encounter in complex applications.</a:t>
            </a:r>
          </a:p>
          <a:p>
            <a:r>
              <a:rPr lang="en-US" dirty="0"/>
              <a:t>Notice how the syntax uses square brackets for optional elements and ellipses (...) to indicate repeatable components. This formal notation helps ensure you understand exactly what's required versus optional.</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003342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real Oracle code shows how our theoretical Pine Valley Furniture database translates into actual SQL. Let's examine each table:</a:t>
            </a:r>
          </a:p>
          <a:p>
            <a:r>
              <a:rPr lang="en-US" b="1" dirty="0"/>
              <a:t>Customer_T</a:t>
            </a:r>
            <a:r>
              <a:rPr lang="en-US" dirty="0"/>
              <a:t>: Notice </a:t>
            </a:r>
            <a:r>
              <a:rPr lang="en-US" dirty="0" err="1"/>
              <a:t>CustomerID</a:t>
            </a:r>
            <a:r>
              <a:rPr lang="en-US" dirty="0"/>
              <a:t> is NUMBER(11,0) - that's 11 digits with no decimal places. </a:t>
            </a:r>
            <a:r>
              <a:rPr lang="en-US" dirty="0" err="1"/>
              <a:t>CustomerName</a:t>
            </a:r>
            <a:r>
              <a:rPr lang="en-US" dirty="0"/>
              <a:t> is NOT NULL because every customer must have a name. The CONSTRAINT </a:t>
            </a:r>
            <a:r>
              <a:rPr lang="en-US" dirty="0" err="1"/>
              <a:t>Customer_PK</a:t>
            </a:r>
            <a:r>
              <a:rPr lang="en-US" dirty="0"/>
              <a:t> gives the primary key a meaningful name.</a:t>
            </a:r>
          </a:p>
          <a:p>
            <a:r>
              <a:rPr lang="en-US" b="1" dirty="0" err="1"/>
              <a:t>Order_T</a:t>
            </a:r>
            <a:r>
              <a:rPr lang="en-US" dirty="0"/>
              <a:t>: </a:t>
            </a:r>
            <a:r>
              <a:rPr lang="en-US" dirty="0" err="1"/>
              <a:t>OrderDate</a:t>
            </a:r>
            <a:r>
              <a:rPr lang="en-US" dirty="0"/>
              <a:t> defaults to SYSDATE (Oracle's current date function). The foreign key constraint </a:t>
            </a:r>
            <a:r>
              <a:rPr lang="en-US" dirty="0" err="1"/>
              <a:t>Order_FK</a:t>
            </a:r>
            <a:r>
              <a:rPr lang="en-US" dirty="0"/>
              <a:t> references Customer_T, ensuring every order belongs to a valid customer.</a:t>
            </a:r>
          </a:p>
          <a:p>
            <a:r>
              <a:rPr lang="en-US" b="1" dirty="0" err="1"/>
              <a:t>Product_T</a:t>
            </a:r>
            <a:r>
              <a:rPr lang="en-US" dirty="0"/>
              <a:t>: The CHECK constraint on </a:t>
            </a:r>
            <a:r>
              <a:rPr lang="en-US" dirty="0" err="1"/>
              <a:t>ProductFinish</a:t>
            </a:r>
            <a:r>
              <a:rPr lang="en-US" dirty="0"/>
              <a:t> limits values to specific wood types. This prevents data entry errors like 'Oak' when the valid value is 'Red Oak'.</a:t>
            </a:r>
          </a:p>
          <a:p>
            <a:r>
              <a:rPr lang="en-US" b="1" dirty="0" err="1"/>
              <a:t>OrderLine_T</a:t>
            </a:r>
            <a:r>
              <a:rPr lang="en-US" dirty="0"/>
              <a:t>: Has a composite primary key (</a:t>
            </a:r>
            <a:r>
              <a:rPr lang="en-US" dirty="0" err="1"/>
              <a:t>OrderID</a:t>
            </a:r>
            <a:r>
              <a:rPr lang="en-US" dirty="0"/>
              <a:t>, </a:t>
            </a:r>
            <a:r>
              <a:rPr lang="en-US" dirty="0" err="1"/>
              <a:t>ProductID</a:t>
            </a:r>
            <a:r>
              <a:rPr lang="en-US" dirty="0"/>
              <a:t>) and two foreign keys. This creates a proper many-to-many relationship between orders and products.</a:t>
            </a:r>
          </a:p>
          <a:p>
            <a:r>
              <a:rPr lang="en-US" dirty="0"/>
              <a:t>Notice the naming convention: table names end with _T, constraints have descriptive names like </a:t>
            </a:r>
            <a:r>
              <a:rPr lang="en-US" dirty="0" err="1"/>
              <a:t>Customer_PK</a:t>
            </a:r>
            <a:r>
              <a:rPr lang="en-US" dirty="0"/>
              <a:t> and </a:t>
            </a:r>
            <a:r>
              <a:rPr lang="en-US" dirty="0" err="1"/>
              <a:t>Order_FK</a:t>
            </a:r>
            <a:r>
              <a:rPr lang="en-US" dirty="0"/>
              <a:t>. This makes the database self-documenting and easier to maintain.</a:t>
            </a:r>
          </a:p>
          <a:p>
            <a:r>
              <a:rPr lang="en-US" dirty="0"/>
              <a:t>The data types chosen reflect real business needs: precise numbers for IDs, variable-length strings for names and descriptions, dates for temporal data.</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634372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Referential integrity is one of SQL's most powerful features. It automatically maintains consistency between related tables:</a:t>
            </a:r>
          </a:p>
          <a:p>
            <a:r>
              <a:rPr lang="en-US" b="1" dirty="0"/>
              <a:t>Basic concept</a:t>
            </a:r>
            <a:r>
              <a:rPr lang="en-US" dirty="0"/>
              <a:t>: A foreign key value must either match a primary key in the referenced table or be NULL. You cannot create an "orphan" record that references a non-existent parent.</a:t>
            </a:r>
          </a:p>
          <a:p>
            <a:r>
              <a:rPr lang="en-US" b="1" dirty="0"/>
              <a:t>REFERENCES clause</a:t>
            </a:r>
            <a:r>
              <a:rPr lang="en-US" dirty="0"/>
              <a:t>: This establishes the foreign key constraint. When you try to INSERT an order with </a:t>
            </a:r>
            <a:r>
              <a:rPr lang="en-US" dirty="0" err="1"/>
              <a:t>CustomerID</a:t>
            </a:r>
            <a:r>
              <a:rPr lang="en-US" dirty="0"/>
              <a:t> = 999, but customer 999 doesn't exist, SQL rejects the operation.</a:t>
            </a:r>
          </a:p>
          <a:p>
            <a:r>
              <a:rPr lang="en-US" dirty="0"/>
              <a:t>Real-world example: Imagine you're running an e-commerce site. Without referential integrity, you could accidentally delete a customer while their orders remain in the system. Those orders would become orphaned - they'd reference a customer that no longer exists, creating data inconsistency and potential application errors.</a:t>
            </a:r>
          </a:p>
          <a:p>
            <a:r>
              <a:rPr lang="en-US" dirty="0"/>
              <a:t>With referential integrity, SQL prevents this mistake. If you try to delete a customer who has orders, the system will reject the deletion unless you first handle the related orders appropriately.</a:t>
            </a:r>
          </a:p>
          <a:p>
            <a:r>
              <a:rPr lang="en-US" dirty="0"/>
              <a:t>This automatic enforcement means your database maintains consistency even when multiple applications or users are making changes simultaneously.</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590147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illustrates the options for handling primary key changes or deletions:</a:t>
            </a:r>
          </a:p>
          <a:p>
            <a:r>
              <a:rPr lang="en-US" b="1" dirty="0"/>
              <a:t>Restricted Update</a:t>
            </a:r>
            <a:r>
              <a:rPr lang="en-US" dirty="0"/>
              <a:t>: Prevents changes to primary keys if foreign keys reference them. This is the safest option - it forces you to think through the implications of changes.</a:t>
            </a:r>
          </a:p>
          <a:p>
            <a:r>
              <a:rPr lang="en-US" b="1" dirty="0"/>
              <a:t>Cascaded Update</a:t>
            </a:r>
            <a:r>
              <a:rPr lang="en-US" dirty="0"/>
              <a:t>: Automatically propagates primary key changes to all referencing foreign keys. If customer ID 123 changes to 456, all orders for that customer automatically update to reference 456.</a:t>
            </a:r>
          </a:p>
          <a:p>
            <a:r>
              <a:rPr lang="en-US" b="1" dirty="0"/>
              <a:t>Set Null Update</a:t>
            </a:r>
            <a:r>
              <a:rPr lang="en-US" dirty="0"/>
              <a:t>: Changes referencing foreign keys to NULL when the primary key changes. This breaks the relationship but preserves the child records.</a:t>
            </a:r>
          </a:p>
          <a:p>
            <a:r>
              <a:rPr lang="en-US" b="1" dirty="0"/>
              <a:t>Set Default Update</a:t>
            </a:r>
            <a:r>
              <a:rPr lang="en-US" dirty="0"/>
              <a:t>: Changes referencing foreign keys to a predefined default value when the primary key changes.</a:t>
            </a:r>
          </a:p>
          <a:p>
            <a:r>
              <a:rPr lang="en-US" dirty="0"/>
              <a:t>The same options apply to deletions. For our customer-order example, CASCADE delete would remove all orders when you delete a customer - usually not what you want! RESTRICT delete is safer - it prevents customer deletion until you handle their orders appropriately.</a:t>
            </a:r>
          </a:p>
          <a:p>
            <a:r>
              <a:rPr lang="en-US" dirty="0"/>
              <a:t>Choose your referential integrity options based on business rules, not just technical convenience.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756215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Databases evolve, and ALTER TABLE gives you flexibility to adapt:</a:t>
            </a:r>
          </a:p>
          <a:p>
            <a:r>
              <a:rPr lang="en-US" b="1" dirty="0"/>
              <a:t>ALTER TABLE syntax</a:t>
            </a:r>
            <a:r>
              <a:rPr lang="en-US" dirty="0"/>
              <a:t>: The general pattern is ALTER TABLE </a:t>
            </a:r>
            <a:r>
              <a:rPr lang="en-US" dirty="0" err="1"/>
              <a:t>table_name</a:t>
            </a:r>
            <a:r>
              <a:rPr lang="en-US" dirty="0"/>
              <a:t> followed by the specific action.</a:t>
            </a:r>
          </a:p>
          <a:p>
            <a:r>
              <a:rPr lang="en-US" b="1" dirty="0"/>
              <a:t>Common actions</a:t>
            </a:r>
            <a:r>
              <a:rPr lang="en-US" dirty="0"/>
              <a:t>: ADD COLUMN for new attributes, ALTER COLUMN to change defaults or data types, DROP COLUMN to remove attributes, ADD CONSTRAINT for new business rules.</a:t>
            </a:r>
          </a:p>
          <a:p>
            <a:r>
              <a:rPr lang="en-US" b="1" dirty="0"/>
              <a:t>Example</a:t>
            </a:r>
            <a:r>
              <a:rPr lang="en-US" dirty="0"/>
              <a:t>: Adding </a:t>
            </a:r>
            <a:r>
              <a:rPr lang="en-US" dirty="0" err="1"/>
              <a:t>CustomerType</a:t>
            </a:r>
            <a:r>
              <a:rPr lang="en-US" dirty="0"/>
              <a:t> with a default value of 'Commercial' means existing customers automatically get classified appropriately. This prevents NULL values in the new column.</a:t>
            </a:r>
          </a:p>
          <a:p>
            <a:r>
              <a:rPr lang="en-US" b="1" dirty="0"/>
              <a:t>Best practices</a:t>
            </a:r>
            <a:r>
              <a:rPr lang="en-US" dirty="0"/>
              <a:t>: Always test ALTER statements in development first. Some changes might fail if existing data violates new constraints. For example, you can't add a NOT NULL column without a default unless the table is empty.</a:t>
            </a:r>
          </a:p>
          <a:p>
            <a:r>
              <a:rPr lang="en-US" b="1" dirty="0"/>
              <a:t>Bulk loading strategy</a:t>
            </a:r>
            <a:r>
              <a:rPr lang="en-US" dirty="0"/>
              <a:t>: Sometimes you'll DROP constraints before large data imports, then re-enable them afterward. This prevents constraint checking during the import while ensuring integrity is restored.</a:t>
            </a:r>
          </a:p>
          <a:p>
            <a:r>
              <a:rPr lang="en-US" dirty="0"/>
              <a:t>ALTER TABLE is essential for database evolution - business requirements change, and your database structure needs to adapt while preserving existing data and applications.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236316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DROP TABLE permanently removes tables and all their data:</a:t>
            </a:r>
          </a:p>
          <a:p>
            <a:r>
              <a:rPr lang="en-US" b="1" dirty="0"/>
              <a:t>Syntax</a:t>
            </a:r>
            <a:r>
              <a:rPr lang="en-US" dirty="0"/>
              <a:t>: Simply DROP TABLE </a:t>
            </a:r>
            <a:r>
              <a:rPr lang="en-US" dirty="0" err="1"/>
              <a:t>table_name</a:t>
            </a:r>
            <a:r>
              <a:rPr lang="en-US" dirty="0"/>
              <a:t>. This is irreversible - once dropped, the table and its data are gone.</a:t>
            </a:r>
          </a:p>
          <a:p>
            <a:r>
              <a:rPr lang="en-US" b="1" dirty="0"/>
              <a:t>Prerequisites</a:t>
            </a:r>
            <a:r>
              <a:rPr lang="en-US" dirty="0"/>
              <a:t>: You must own the table or have DROP privileges. The database prevents accidental deletions by requiring explicit permissions.</a:t>
            </a:r>
          </a:p>
          <a:p>
            <a:r>
              <a:rPr lang="en-US" b="1" dirty="0"/>
              <a:t>Cascade effects</a:t>
            </a:r>
            <a:r>
              <a:rPr lang="en-US" dirty="0"/>
              <a:t>: Dropping a table also removes its indexes, triggers, and grants. Foreign key constraints referencing the dropped table will cause errors.</a:t>
            </a:r>
          </a:p>
          <a:p>
            <a:r>
              <a:rPr lang="en-US" b="1" dirty="0"/>
              <a:t>RESTRICT vs CASCADE options</a:t>
            </a:r>
            <a:r>
              <a:rPr lang="en-US" dirty="0"/>
              <a:t>: RESTRICT (the default) prevents dropping if other objects depend on the table. CASCADE drops the table and all dependent objects.</a:t>
            </a:r>
          </a:p>
          <a:p>
            <a:r>
              <a:rPr lang="en-US" b="1" dirty="0"/>
              <a:t>Alternative</a:t>
            </a:r>
            <a:r>
              <a:rPr lang="en-US" dirty="0"/>
              <a:t>: TRUNCATE TABLE removes all data but preserves the table structure. Use this when you want to clear data but keep the table definition.</a:t>
            </a:r>
          </a:p>
          <a:p>
            <a:r>
              <a:rPr lang="en-US" b="1" dirty="0"/>
              <a:t>Real-world advice</a:t>
            </a:r>
            <a:r>
              <a:rPr lang="en-US" dirty="0"/>
              <a:t>: In production environments, never DROP tables directly. Instead, rename them (adding a date suffix) and drop them later after confirming no applications or reports break. This provides a safety net for mistakes.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680287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INSERT statement populates your tables with data. Let's explore the variations:</a:t>
            </a:r>
          </a:p>
          <a:p>
            <a:r>
              <a:rPr lang="en-US" b="1" dirty="0"/>
              <a:t>Complete row insertion</a:t>
            </a:r>
            <a:r>
              <a:rPr lang="en-US" dirty="0"/>
              <a:t>: When providing values for every column, you can omit the column list. Values must match the table's column order exactly. This is concise but fragile - if someone adds columns, your INSERT statements might break.</a:t>
            </a:r>
          </a:p>
          <a:p>
            <a:r>
              <a:rPr lang="en-US" b="1" dirty="0"/>
              <a:t>Partial row insertion</a:t>
            </a:r>
            <a:r>
              <a:rPr lang="en-US" dirty="0"/>
              <a:t>: Specify which columns receive values. Unspecified columns get either their default values or NULL. This is more robust because column order doesn't matter.</a:t>
            </a:r>
          </a:p>
          <a:p>
            <a:r>
              <a:rPr lang="en-US" b="1" dirty="0"/>
              <a:t>Copying from another table</a:t>
            </a:r>
            <a:r>
              <a:rPr lang="en-US" dirty="0"/>
              <a:t>: The INSERT ... SELECT pattern is incredibly powerful. You can populate entire tables, create backups, or copy subsets of data based on complex criteria.</a:t>
            </a:r>
          </a:p>
          <a:p>
            <a:r>
              <a:rPr lang="en-US" b="1" dirty="0"/>
              <a:t>Real-world example</a:t>
            </a:r>
            <a:r>
              <a:rPr lang="en-US" dirty="0"/>
              <a:t>: When setting up a new regional office, you might use INSERT ... SELECT to copy all products and customers for specific geographic regions from the main database to the regional database.</a:t>
            </a:r>
          </a:p>
          <a:p>
            <a:r>
              <a:rPr lang="en-US" b="1" dirty="0"/>
              <a:t>Error handling</a:t>
            </a:r>
            <a:r>
              <a:rPr lang="en-US" dirty="0"/>
              <a:t>: If an INSERT violates constraints (duplicate primary key, invalid foreign key, check constraint), the entire statement fails and no data is inserted.</a:t>
            </a:r>
          </a:p>
          <a:p>
            <a:r>
              <a:rPr lang="en-US" dirty="0"/>
              <a:t>The key is choosing the right INSERT variant for your situation and always being mindful of data integrity constraints.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326814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DELETE removes rows from tables based on specified criteria:</a:t>
            </a:r>
          </a:p>
          <a:p>
            <a:r>
              <a:rPr lang="en-US" b="1" dirty="0"/>
              <a:t>Conditional deletion</a:t>
            </a:r>
            <a:r>
              <a:rPr lang="en-US" dirty="0"/>
              <a:t>: The WHERE clause specifies which rows to remove. Without WHERE, you delete ALL rows - be very careful!</a:t>
            </a:r>
          </a:p>
          <a:p>
            <a:r>
              <a:rPr lang="en-US" b="1" dirty="0"/>
              <a:t>Example</a:t>
            </a:r>
            <a:r>
              <a:rPr lang="en-US" dirty="0"/>
              <a:t>: DELETE FROM Customer_T WHERE </a:t>
            </a:r>
            <a:r>
              <a:rPr lang="en-US" dirty="0" err="1"/>
              <a:t>CustomerState</a:t>
            </a:r>
            <a:r>
              <a:rPr lang="en-US" dirty="0"/>
              <a:t> = 'HI' removes all Hawaiian customers, perhaps because you've stopped serving that market.</a:t>
            </a:r>
          </a:p>
          <a:p>
            <a:r>
              <a:rPr lang="en-US" b="1" dirty="0"/>
              <a:t>Complete table deletion</a:t>
            </a:r>
            <a:r>
              <a:rPr lang="en-US" dirty="0"/>
              <a:t>: DELETE FROM Customer_T removes every row but preserves the table structure. This is different from DROP TABLE, which removes the table entirely.</a:t>
            </a:r>
          </a:p>
          <a:p>
            <a:r>
              <a:rPr lang="en-US" b="1" dirty="0"/>
              <a:t>Safety practices</a:t>
            </a:r>
            <a:r>
              <a:rPr lang="en-US" dirty="0"/>
              <a:t>: Always test your WHERE clause first with a SELECT statement. If SELECT * FROM Customer_T WHERE </a:t>
            </a:r>
            <a:r>
              <a:rPr lang="en-US" dirty="0" err="1"/>
              <a:t>CustomerState</a:t>
            </a:r>
            <a:r>
              <a:rPr lang="en-US" dirty="0"/>
              <a:t> = 'HI' returns the right rows, then DELETE FROM Customer_T WHERE </a:t>
            </a:r>
            <a:r>
              <a:rPr lang="en-US" dirty="0" err="1"/>
              <a:t>CustomerState</a:t>
            </a:r>
            <a:r>
              <a:rPr lang="en-US" dirty="0"/>
              <a:t> = 'HI' will delete the right rows.</a:t>
            </a:r>
          </a:p>
          <a:p>
            <a:r>
              <a:rPr lang="en-US" b="1" dirty="0"/>
              <a:t>Referential integrity</a:t>
            </a:r>
            <a:r>
              <a:rPr lang="en-US" dirty="0"/>
              <a:t>: You cannot delete parent records if child records reference them. To delete a customer, you must first delete or reassign their orders.</a:t>
            </a:r>
          </a:p>
          <a:p>
            <a:r>
              <a:rPr lang="en-US" b="1" dirty="0"/>
              <a:t>Performance</a:t>
            </a:r>
            <a:r>
              <a:rPr lang="en-US" dirty="0"/>
              <a:t>: Deleting many rows can be slow and may lock tables. For large deletions, consider doing them in batches during low-usage periods.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4795153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 modifies existing data in tables:</a:t>
            </a:r>
          </a:p>
          <a:p>
            <a:r>
              <a:rPr lang="en-US" b="1" dirty="0"/>
              <a:t>Basic syntax</a:t>
            </a:r>
            <a:r>
              <a:rPr lang="en-US" dirty="0"/>
              <a:t>: UPDATE </a:t>
            </a:r>
            <a:r>
              <a:rPr lang="en-US" dirty="0" err="1"/>
              <a:t>table_name</a:t>
            </a:r>
            <a:r>
              <a:rPr lang="en-US" dirty="0"/>
              <a:t> SET column = </a:t>
            </a:r>
            <a:r>
              <a:rPr lang="en-US" dirty="0" err="1"/>
              <a:t>new_value</a:t>
            </a:r>
            <a:r>
              <a:rPr lang="en-US" dirty="0"/>
              <a:t> WHERE condition. The WHERE clause is crucial - without it, you update EVERY row.</a:t>
            </a:r>
          </a:p>
          <a:p>
            <a:r>
              <a:rPr lang="en-US" b="1" dirty="0"/>
              <a:t>Example</a:t>
            </a:r>
            <a:r>
              <a:rPr lang="en-US" dirty="0"/>
              <a:t>: UPDATE </a:t>
            </a:r>
            <a:r>
              <a:rPr lang="en-US" dirty="0" err="1"/>
              <a:t>Product_T</a:t>
            </a:r>
            <a:r>
              <a:rPr lang="en-US" dirty="0"/>
              <a:t> SET </a:t>
            </a:r>
            <a:r>
              <a:rPr lang="en-US" dirty="0" err="1"/>
              <a:t>ProductStandardPrice</a:t>
            </a:r>
            <a:r>
              <a:rPr lang="en-US" dirty="0"/>
              <a:t> = 775 WHERE </a:t>
            </a:r>
            <a:r>
              <a:rPr lang="en-US" dirty="0" err="1"/>
              <a:t>ProductID</a:t>
            </a:r>
            <a:r>
              <a:rPr lang="en-US" dirty="0"/>
              <a:t> = 7 changes one product's price. This might correct a data entry error or implement a price change.</a:t>
            </a:r>
          </a:p>
          <a:p>
            <a:r>
              <a:rPr lang="en-US" b="1" dirty="0"/>
              <a:t>Multiple columns</a:t>
            </a:r>
            <a:r>
              <a:rPr lang="en-US" dirty="0"/>
              <a:t>: You can update several columns at once: UPDATE </a:t>
            </a:r>
            <a:r>
              <a:rPr lang="en-US" dirty="0" err="1"/>
              <a:t>Product_T</a:t>
            </a:r>
            <a:r>
              <a:rPr lang="en-US" dirty="0"/>
              <a:t> SET </a:t>
            </a:r>
            <a:r>
              <a:rPr lang="en-US" dirty="0" err="1"/>
              <a:t>ProductStandardPrice</a:t>
            </a:r>
            <a:r>
              <a:rPr lang="en-US" dirty="0"/>
              <a:t> = 800, </a:t>
            </a:r>
            <a:r>
              <a:rPr lang="en-US" dirty="0" err="1"/>
              <a:t>ProductFinish</a:t>
            </a:r>
            <a:r>
              <a:rPr lang="en-US" dirty="0"/>
              <a:t> = 'Natural Oak' WHERE </a:t>
            </a:r>
            <a:r>
              <a:rPr lang="en-US" dirty="0" err="1"/>
              <a:t>ProductID</a:t>
            </a:r>
            <a:r>
              <a:rPr lang="en-US" dirty="0"/>
              <a:t> = 7.</a:t>
            </a:r>
          </a:p>
          <a:p>
            <a:r>
              <a:rPr lang="en-US" b="1" dirty="0"/>
              <a:t>Calculated updates</a:t>
            </a:r>
            <a:r>
              <a:rPr lang="en-US" dirty="0"/>
              <a:t>: SET clauses can include expressions: UPDATE </a:t>
            </a:r>
            <a:r>
              <a:rPr lang="en-US" dirty="0" err="1"/>
              <a:t>Product_T</a:t>
            </a:r>
            <a:r>
              <a:rPr lang="en-US" dirty="0"/>
              <a:t> SET </a:t>
            </a:r>
            <a:r>
              <a:rPr lang="en-US" dirty="0" err="1"/>
              <a:t>ProductStandardPrice</a:t>
            </a:r>
            <a:r>
              <a:rPr lang="en-US" dirty="0"/>
              <a:t> = </a:t>
            </a:r>
            <a:r>
              <a:rPr lang="en-US" dirty="0" err="1"/>
              <a:t>ProductStandardPrice</a:t>
            </a:r>
            <a:r>
              <a:rPr lang="en-US" dirty="0"/>
              <a:t> * 1.1 increases all prices by 10%.</a:t>
            </a:r>
          </a:p>
          <a:p>
            <a:r>
              <a:rPr lang="en-US" b="1" dirty="0"/>
              <a:t>Subqueries</a:t>
            </a:r>
            <a:r>
              <a:rPr lang="en-US" dirty="0"/>
              <a:t>: Advanced UPDATE statements can use subqueries to determine new values based on data from other tables.</a:t>
            </a:r>
          </a:p>
          <a:p>
            <a:r>
              <a:rPr lang="en-US" b="1" dirty="0"/>
              <a:t>Safety</a:t>
            </a:r>
            <a:r>
              <a:rPr lang="en-US" dirty="0"/>
              <a:t>: Like DELETE, always test your WHERE clause with SELECT first. UPDATE mistakes can be difficult to reverse if you don't have backups.</a:t>
            </a:r>
          </a:p>
          <a:p>
            <a:r>
              <a:rPr lang="en-US" dirty="0"/>
              <a:t>The UPDATE statement is essential for data maintenance - correcting errors, implementing business changes, and keeping information current.</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647086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introduced in SQL:2008, combines INSERT and UPDATE operations:</a:t>
            </a:r>
          </a:p>
          <a:p>
            <a:r>
              <a:rPr lang="en-US" b="1" dirty="0"/>
              <a:t>Purpose</a:t>
            </a:r>
            <a:r>
              <a:rPr lang="en-US" dirty="0"/>
              <a:t>: MERGE is perfect for data synchronization scenarios. Imagine you receive weekly updates from suppliers - some products are new (need INSERT), others have price changes (need UPDATE).</a:t>
            </a:r>
          </a:p>
          <a:p>
            <a:r>
              <a:rPr lang="en-US" b="1" dirty="0"/>
              <a:t>Basic concept</a:t>
            </a:r>
            <a:r>
              <a:rPr lang="en-US" dirty="0"/>
              <a:t>: MERGE compares two data sets and performs different actions based on whether records match. It's like saying "If this product exists, update its price; if it doesn't exist, add it."</a:t>
            </a:r>
          </a:p>
          <a:p>
            <a:r>
              <a:rPr lang="en-US" b="1" dirty="0"/>
              <a:t>Efficiency</a:t>
            </a:r>
            <a:r>
              <a:rPr lang="en-US" dirty="0"/>
              <a:t>: Instead of writing separate INSERT and UPDATE statements with complex logic to avoid errors, MERGE handles everything in one operation.</a:t>
            </a:r>
          </a:p>
          <a:p>
            <a:r>
              <a:rPr lang="en-US" b="1" dirty="0"/>
              <a:t>Real-world example</a:t>
            </a:r>
            <a:r>
              <a:rPr lang="en-US" dirty="0"/>
              <a:t>: Data warehouses often use MERGE to load daily updates. New customers get inserted, existing customers with changed information get updated, all in one efficient operation.</a:t>
            </a:r>
          </a:p>
          <a:p>
            <a:r>
              <a:rPr lang="en-US" b="1" dirty="0"/>
              <a:t>Syntax complexity</a:t>
            </a:r>
            <a:r>
              <a:rPr lang="en-US" dirty="0"/>
              <a:t>: MERGE statements can look intimidating, but they're just combining the logic you already know from INSERT and UPDATE.</a:t>
            </a:r>
          </a:p>
          <a:p>
            <a:r>
              <a:rPr lang="en-US" b="1" dirty="0"/>
              <a:t>Benefits</a:t>
            </a:r>
            <a:r>
              <a:rPr lang="en-US" dirty="0"/>
              <a:t>: Reduces code complexity, improves performance, and eliminates race conditions that can occur when separate INSERT and UPDATE statements run concurrently.</a:t>
            </a:r>
          </a:p>
          <a:p>
            <a:r>
              <a:rPr lang="en-US" dirty="0"/>
              <a:t>MERGE is particularly valuable in data integration and ETL (Extract, Transform, Load) processes.</a:t>
            </a:r>
          </a:p>
          <a:p>
            <a:endParaRPr lang="en-US" altLang="en-US" sz="1200" b="0" i="0" u="none" strike="noStrike" kern="1200" cap="none" baseline="0" dirty="0">
              <a:solidFill>
                <a:schemeClr val="tx1"/>
              </a:solidFill>
              <a:latin typeface="+mn-lt"/>
              <a:cs typeface="Arial" charset="0"/>
              <a:sym typeface="Arial"/>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577944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Internal schema optimization focuses on performance tuning:</a:t>
            </a:r>
          </a:p>
          <a:p>
            <a:r>
              <a:rPr lang="en-US" b="1" dirty="0"/>
              <a:t>Choice of indexes</a:t>
            </a:r>
            <a:r>
              <a:rPr lang="en-US" dirty="0"/>
              <a:t>: Create indexes on frequently queried columns to speed up SELECT operations. But remember - indexes slow down INSERT/UPDATE/DELETE operations because the indexes must be maintained.</a:t>
            </a:r>
          </a:p>
          <a:p>
            <a:r>
              <a:rPr lang="en-US" b="1" dirty="0"/>
              <a:t>File organizations</a:t>
            </a:r>
            <a:r>
              <a:rPr lang="en-US" dirty="0"/>
              <a:t>: Different storage structures optimize for different access patterns. Sequential files are great for reporting, hash files for fast lookups, B-tree files for range queries.</a:t>
            </a:r>
          </a:p>
          <a:p>
            <a:r>
              <a:rPr lang="en-US" b="1" dirty="0"/>
              <a:t>Data clustering</a:t>
            </a:r>
            <a:r>
              <a:rPr lang="en-US" dirty="0"/>
              <a:t>: Store related data physically close together. For example, store all orders for a customer near each other on disk to speed up customer history queries.</a:t>
            </a:r>
          </a:p>
          <a:p>
            <a:r>
              <a:rPr lang="en-US" b="1" dirty="0"/>
              <a:t>Statistics maintenance</a:t>
            </a:r>
            <a:r>
              <a:rPr lang="en-US" dirty="0"/>
              <a:t>: The database optimizer needs current statistics about data distribution to choose efficient query plans. Outdated statistics lead to poor performance.</a:t>
            </a:r>
          </a:p>
          <a:p>
            <a:r>
              <a:rPr lang="en-US" b="1" dirty="0"/>
              <a:t>CREATE INDEX example</a:t>
            </a:r>
            <a:r>
              <a:rPr lang="en-US" dirty="0"/>
              <a:t>: CREATE INDEX </a:t>
            </a:r>
            <a:r>
              <a:rPr lang="en-US" dirty="0" err="1"/>
              <a:t>Name_IDX</a:t>
            </a:r>
            <a:r>
              <a:rPr lang="en-US" dirty="0"/>
              <a:t> ON Customer_T(</a:t>
            </a:r>
            <a:r>
              <a:rPr lang="en-US" dirty="0" err="1"/>
              <a:t>CustomerName</a:t>
            </a:r>
            <a:r>
              <a:rPr lang="en-US" dirty="0"/>
              <a:t>) creates an alphabetical index on customer names. This makes "find customer by name" queries much faster.</a:t>
            </a:r>
          </a:p>
          <a:p>
            <a:r>
              <a:rPr lang="en-US" b="1" dirty="0"/>
              <a:t>Balance considerations</a:t>
            </a:r>
            <a:r>
              <a:rPr lang="en-US" dirty="0"/>
              <a:t>: Every optimization has trade-offs. More indexes mean faster queries but slower updates. More complex file organizations use more storage but provide better performance.</a:t>
            </a:r>
          </a:p>
          <a:p>
            <a:r>
              <a:rPr lang="en-US" dirty="0"/>
              <a:t>The goal is matching your database's internal structure to your application's usage patterns.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9716847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reach the heart of SQL - the SELECT statement for querying data:</a:t>
            </a:r>
          </a:p>
          <a:p>
            <a:r>
              <a:rPr lang="en-US" b="1" dirty="0"/>
              <a:t>Purpose</a:t>
            </a:r>
            <a:r>
              <a:rPr lang="en-US" dirty="0"/>
              <a:t>: SELECT retrieves data from one or more tables based on specified criteria. It's your primary tool for asking questions of your database.</a:t>
            </a:r>
          </a:p>
          <a:p>
            <a:r>
              <a:rPr lang="en-US" b="1" dirty="0"/>
              <a:t>Three essential clauses</a:t>
            </a:r>
            <a:r>
              <a:rPr lang="en-US" dirty="0"/>
              <a:t>:</a:t>
            </a:r>
          </a:p>
          <a:p>
            <a:r>
              <a:rPr lang="en-US" b="1" dirty="0"/>
              <a:t>SELECT</a:t>
            </a:r>
            <a:r>
              <a:rPr lang="en-US" dirty="0"/>
              <a:t>: Specifies which columns to return</a:t>
            </a:r>
          </a:p>
          <a:p>
            <a:r>
              <a:rPr lang="en-US" b="1" dirty="0"/>
              <a:t>FROM</a:t>
            </a:r>
            <a:r>
              <a:rPr lang="en-US" dirty="0"/>
              <a:t>: Identifies the source tables</a:t>
            </a:r>
          </a:p>
          <a:p>
            <a:r>
              <a:rPr lang="en-US" b="1" dirty="0"/>
              <a:t>WHERE</a:t>
            </a:r>
            <a:r>
              <a:rPr lang="en-US" dirty="0"/>
              <a:t>: Filters rows based on conditions</a:t>
            </a:r>
          </a:p>
          <a:p>
            <a:r>
              <a:rPr lang="en-US" b="1" dirty="0"/>
              <a:t>Basic example</a:t>
            </a:r>
            <a:r>
              <a:rPr lang="en-US" dirty="0"/>
              <a:t>: SELECT </a:t>
            </a:r>
            <a:r>
              <a:rPr lang="en-US" dirty="0" err="1"/>
              <a:t>ProductDescription</a:t>
            </a:r>
            <a:r>
              <a:rPr lang="en-US" dirty="0"/>
              <a:t>, </a:t>
            </a:r>
            <a:r>
              <a:rPr lang="en-US" dirty="0" err="1"/>
              <a:t>ProductStandardPrice</a:t>
            </a:r>
            <a:r>
              <a:rPr lang="en-US" dirty="0"/>
              <a:t> FROM </a:t>
            </a:r>
            <a:r>
              <a:rPr lang="en-US" dirty="0" err="1"/>
              <a:t>Product_T</a:t>
            </a:r>
            <a:r>
              <a:rPr lang="en-US" dirty="0"/>
              <a:t> WHERE </a:t>
            </a:r>
            <a:r>
              <a:rPr lang="en-US" dirty="0" err="1"/>
              <a:t>ProductStandardPrice</a:t>
            </a:r>
            <a:r>
              <a:rPr lang="en-US" dirty="0"/>
              <a:t> &lt; 275 finds all products under $275.</a:t>
            </a:r>
          </a:p>
          <a:p>
            <a:r>
              <a:rPr lang="en-US" b="1" dirty="0"/>
              <a:t>Flexibility</a:t>
            </a:r>
            <a:r>
              <a:rPr lang="en-US" dirty="0"/>
              <a:t>: SELECT can return raw data, calculated values, summaries, or complex analytical results. It's both simple enough for beginners and powerful enough for advanced analytics.</a:t>
            </a:r>
          </a:p>
          <a:p>
            <a:r>
              <a:rPr lang="en-US" b="1" dirty="0"/>
              <a:t>Set-based nature</a:t>
            </a:r>
            <a:r>
              <a:rPr lang="en-US" dirty="0"/>
              <a:t>: Unlike procedural languages that process one record at a time, SQL processes entire sets of data at once. This makes it incredibly efficient for data analysis.</a:t>
            </a:r>
          </a:p>
          <a:p>
            <a:r>
              <a:rPr lang="en-US" dirty="0"/>
              <a:t>Understanding SELECT is crucial because it's the foundation for all data retrieval, reporting, and analysis tasks.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5733606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examine this concrete example: finding products with standard price less than $275.</a:t>
            </a:r>
          </a:p>
          <a:p>
            <a:r>
              <a:rPr lang="en-US" b="1" dirty="0"/>
              <a:t>Query breakdown</a:t>
            </a:r>
            <a:r>
              <a:rPr lang="en-US" dirty="0"/>
              <a:t>:</a:t>
            </a:r>
          </a:p>
          <a:p>
            <a:r>
              <a:rPr lang="en-US" dirty="0"/>
              <a:t>SELECT </a:t>
            </a:r>
            <a:r>
              <a:rPr lang="en-US" dirty="0" err="1"/>
              <a:t>ProductDescription</a:t>
            </a:r>
            <a:r>
              <a:rPr lang="en-US" dirty="0"/>
              <a:t>, </a:t>
            </a:r>
            <a:r>
              <a:rPr lang="en-US" dirty="0" err="1"/>
              <a:t>ProductStandardPrice</a:t>
            </a:r>
            <a:r>
              <a:rPr lang="en-US" dirty="0"/>
              <a:t>: Return these two columns</a:t>
            </a:r>
          </a:p>
          <a:p>
            <a:r>
              <a:rPr lang="en-US" dirty="0"/>
              <a:t>FROM </a:t>
            </a:r>
            <a:r>
              <a:rPr lang="en-US" dirty="0" err="1"/>
              <a:t>Product_T</a:t>
            </a:r>
            <a:r>
              <a:rPr lang="en-US" dirty="0"/>
              <a:t>: From the Product table</a:t>
            </a:r>
          </a:p>
          <a:p>
            <a:r>
              <a:rPr lang="en-US" dirty="0"/>
              <a:t>WHERE </a:t>
            </a:r>
            <a:r>
              <a:rPr lang="en-US" dirty="0" err="1"/>
              <a:t>ProductStandardPrice</a:t>
            </a:r>
            <a:r>
              <a:rPr lang="en-US" dirty="0"/>
              <a:t> &lt; 275: Only for products under $275</a:t>
            </a:r>
          </a:p>
          <a:p>
            <a:r>
              <a:rPr lang="en-US" b="1" dirty="0"/>
              <a:t>Results interpretation</a:t>
            </a:r>
            <a:r>
              <a:rPr lang="en-US" dirty="0"/>
              <a:t>: This query returns exactly what you'd expect - the End Table at $175 and Computer Desk at $250. Both meet the price criteria.</a:t>
            </a:r>
          </a:p>
          <a:p>
            <a:r>
              <a:rPr lang="en-US" b="1" dirty="0"/>
              <a:t>Column ordering</a:t>
            </a:r>
            <a:r>
              <a:rPr lang="en-US" dirty="0"/>
              <a:t>: Notice the results show columns in the same order as specified in the SELECT clause, not necessarily the order they appear in the table definition.</a:t>
            </a:r>
          </a:p>
          <a:p>
            <a:r>
              <a:rPr lang="en-US" b="1" dirty="0"/>
              <a:t>Why this matters</a:t>
            </a:r>
            <a:r>
              <a:rPr lang="en-US" dirty="0"/>
              <a:t>: This type of query might help a sales manager identify products for a discount promotion, or help customers filter products by their budget.</a:t>
            </a:r>
          </a:p>
          <a:p>
            <a:r>
              <a:rPr lang="en-US" b="1" dirty="0"/>
              <a:t>Scalability</a:t>
            </a:r>
            <a:r>
              <a:rPr lang="en-US" dirty="0"/>
              <a:t>: Whether your Product table has 8 rows or 8 million rows, this query works the same way. SQL's set-based approach handles scale automatically.</a:t>
            </a:r>
          </a:p>
          <a:p>
            <a:r>
              <a:rPr lang="en-US" dirty="0"/>
              <a:t>This simple example demonstrates SQL's power - complex business questions become straightforward queries.</a:t>
            </a:r>
          </a:p>
          <a:p>
            <a:pPr eaLnBrk="1" hangingPunct="1"/>
            <a:endParaRPr lang="en-US" altLang="en-US" baseline="0" dirty="0">
              <a:cs typeface="Arial" panose="020B060402020202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515242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Aliases make your queries more readable and flexible:</a:t>
            </a:r>
          </a:p>
          <a:p>
            <a:r>
              <a:rPr lang="en-US" b="1" dirty="0"/>
              <a:t>Column alias</a:t>
            </a:r>
            <a:r>
              <a:rPr lang="en-US" dirty="0"/>
              <a:t>: AS Name creates a more user-friendly column header than the actual column name CUSTOMERNAME.</a:t>
            </a:r>
          </a:p>
          <a:p>
            <a:r>
              <a:rPr lang="en-US" b="1" dirty="0"/>
              <a:t>Table alias</a:t>
            </a:r>
            <a:r>
              <a:rPr lang="en-US" dirty="0"/>
              <a:t>: AS Cust provides a shorthand for referencing the Customer_T table. This becomes essential in complex queries with multiple tables.</a:t>
            </a:r>
          </a:p>
          <a:p>
            <a:r>
              <a:rPr lang="en-US" b="1" dirty="0"/>
              <a:t>Benefits of aliases</a:t>
            </a:r>
            <a:r>
              <a:rPr lang="en-US" dirty="0"/>
              <a:t>:</a:t>
            </a:r>
          </a:p>
          <a:p>
            <a:r>
              <a:rPr lang="en-US" dirty="0"/>
              <a:t>Shorter, more readable queries</a:t>
            </a:r>
          </a:p>
          <a:p>
            <a:r>
              <a:rPr lang="en-US" dirty="0"/>
              <a:t>Better column headers in reports</a:t>
            </a:r>
          </a:p>
          <a:p>
            <a:r>
              <a:rPr lang="en-US" dirty="0"/>
              <a:t>Essential for self-joins and complex multi-table queries</a:t>
            </a:r>
          </a:p>
          <a:p>
            <a:r>
              <a:rPr lang="en-US" dirty="0"/>
              <a:t>Allows referencing calculated columns</a:t>
            </a:r>
          </a:p>
          <a:p>
            <a:r>
              <a:rPr lang="en-US" b="1" dirty="0"/>
              <a:t>Limitation note</a:t>
            </a:r>
            <a:r>
              <a:rPr lang="en-US" dirty="0"/>
              <a:t>: In Oracle SQL*Plus, you cannot use column aliases in WHERE clauses (except in ORDER BY). Other SQL implementations may allow this.</a:t>
            </a:r>
          </a:p>
          <a:p>
            <a:r>
              <a:rPr lang="en-US" b="1" dirty="0"/>
              <a:t>Real-world usage</a:t>
            </a:r>
            <a:r>
              <a:rPr lang="en-US" dirty="0"/>
              <a:t>: Production queries almost always use aliases. When your SELECT statement joins five tables and calculates multiple derived values, aliases transform unreadable code into maintainable queries.</a:t>
            </a:r>
          </a:p>
          <a:p>
            <a:r>
              <a:rPr lang="en-US" b="1" dirty="0"/>
              <a:t>Best practice</a:t>
            </a:r>
            <a:r>
              <a:rPr lang="en-US" dirty="0"/>
              <a:t>: Use meaningful aliases that reflect the data's business purpose, not just shorter technical names.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434780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Expressions let you perform calculations and transformations within SQL:</a:t>
            </a:r>
          </a:p>
          <a:p>
            <a:r>
              <a:rPr lang="en-US" b="1" dirty="0"/>
              <a:t>Mathematical operations</a:t>
            </a:r>
            <a:r>
              <a:rPr lang="en-US" dirty="0"/>
              <a:t>: Use +, -, *, / for arithmetic. Calculate extended prices, percentage increases, age from birth dates, etc.</a:t>
            </a:r>
          </a:p>
          <a:p>
            <a:r>
              <a:rPr lang="en-US" b="1" dirty="0"/>
              <a:t>Stored functions</a:t>
            </a:r>
            <a:r>
              <a:rPr lang="en-US" dirty="0"/>
              <a:t>: Built-in functions like SUM, AVG, ROUND handle common operations. These are optimized by the database engine.</a:t>
            </a:r>
          </a:p>
          <a:p>
            <a:r>
              <a:rPr lang="en-US" b="1" dirty="0"/>
              <a:t>Row-level calculations</a:t>
            </a:r>
            <a:r>
              <a:rPr lang="en-US" dirty="0"/>
              <a:t>: Expressions are evaluated for each row. </a:t>
            </a:r>
            <a:r>
              <a:rPr lang="en-US" dirty="0" err="1"/>
              <a:t>ProductStandardPrice</a:t>
            </a:r>
            <a:r>
              <a:rPr lang="en-US" dirty="0"/>
              <a:t> * 1.1 calculates a 10% increase for every product.</a:t>
            </a:r>
          </a:p>
          <a:p>
            <a:r>
              <a:rPr lang="en-US" b="1" dirty="0"/>
              <a:t>Business applications</a:t>
            </a:r>
            <a:r>
              <a:rPr lang="en-US" dirty="0"/>
              <a:t>:</a:t>
            </a:r>
          </a:p>
          <a:p>
            <a:r>
              <a:rPr lang="en-US" dirty="0"/>
              <a:t>Calculate tax amounts: Price * </a:t>
            </a:r>
            <a:r>
              <a:rPr lang="en-US" dirty="0" err="1"/>
              <a:t>TaxRate</a:t>
            </a:r>
            <a:endParaRPr lang="en-US" dirty="0"/>
          </a:p>
          <a:p>
            <a:r>
              <a:rPr lang="en-US" dirty="0"/>
              <a:t>Determine discounts: Price * (1 - </a:t>
            </a:r>
            <a:r>
              <a:rPr lang="en-US" dirty="0" err="1"/>
              <a:t>DiscountPercent</a:t>
            </a:r>
            <a:r>
              <a:rPr lang="en-US" dirty="0"/>
              <a:t>)</a:t>
            </a:r>
          </a:p>
          <a:p>
            <a:r>
              <a:rPr lang="en-US" dirty="0"/>
              <a:t>Age calculations: Current_Date - Birth_Date</a:t>
            </a:r>
          </a:p>
          <a:p>
            <a:r>
              <a:rPr lang="en-US" dirty="0"/>
              <a:t>String concatenation: FirstName + ' ' + LastName</a:t>
            </a:r>
          </a:p>
          <a:p>
            <a:r>
              <a:rPr lang="en-US" b="1" dirty="0"/>
              <a:t>Performance</a:t>
            </a:r>
            <a:r>
              <a:rPr lang="en-US" dirty="0"/>
              <a:t>: Database engines optimize expression evaluation. It's usually faster to calculate values in SQL than to retrieve raw data and calculate in application code.</a:t>
            </a:r>
          </a:p>
          <a:p>
            <a:r>
              <a:rPr lang="en-US" b="1" dirty="0"/>
              <a:t>Alias usage</a:t>
            </a:r>
            <a:r>
              <a:rPr lang="en-US" dirty="0"/>
              <a:t>: Always alias calculated columns with meaningful names like Plus10Percent rather than letting the system generate names like "</a:t>
            </a:r>
            <a:r>
              <a:rPr lang="en-US" dirty="0" err="1"/>
              <a:t>ProductStandardPrice</a:t>
            </a:r>
            <a:r>
              <a:rPr lang="en-US" dirty="0"/>
              <a:t>*1.1".</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2558018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SQL provides rich function libraries for different data types:</a:t>
            </a:r>
          </a:p>
          <a:p>
            <a:r>
              <a:rPr lang="en-US" b="1" dirty="0"/>
              <a:t>Mathematical functions</a:t>
            </a:r>
            <a:r>
              <a:rPr lang="en-US" dirty="0"/>
              <a:t>: MIN, MAX, SUM for aggregations; ROUND, TRUNC for number formatting; MOD for remainder operations.</a:t>
            </a:r>
          </a:p>
          <a:p>
            <a:r>
              <a:rPr lang="en-US" b="1" dirty="0"/>
              <a:t>String functions</a:t>
            </a:r>
            <a:r>
              <a:rPr lang="en-US" dirty="0"/>
              <a:t>: UPPER, LOWER for case conversion; CONCAT for joining strings; SUBSTR for extracting parts; COALESCE for handling nulls.</a:t>
            </a:r>
          </a:p>
          <a:p>
            <a:r>
              <a:rPr lang="en-US" b="1" dirty="0"/>
              <a:t>Date functions</a:t>
            </a:r>
            <a:r>
              <a:rPr lang="en-US" dirty="0"/>
              <a:t>: ADD_MONTHS for date arithmetic; MONTHS_BETWEEN for calculating intervals; NEXT_DAY for scheduling applications.</a:t>
            </a:r>
          </a:p>
          <a:p>
            <a:r>
              <a:rPr lang="en-US" b="1" dirty="0"/>
              <a:t>Analytical functions</a:t>
            </a:r>
            <a:r>
              <a:rPr lang="en-US" dirty="0"/>
              <a:t>: TOP for rankings; window functions for complex analytics.</a:t>
            </a:r>
          </a:p>
          <a:p>
            <a:r>
              <a:rPr lang="en-US" b="1" dirty="0"/>
              <a:t>Real-world examples</a:t>
            </a:r>
            <a:r>
              <a:rPr lang="en-US" dirty="0"/>
              <a:t>:</a:t>
            </a:r>
          </a:p>
          <a:p>
            <a:r>
              <a:rPr lang="en-US" dirty="0"/>
              <a:t>UPPER(</a:t>
            </a:r>
            <a:r>
              <a:rPr lang="en-US" dirty="0" err="1"/>
              <a:t>CustomerName</a:t>
            </a:r>
            <a:r>
              <a:rPr lang="en-US" dirty="0"/>
              <a:t>) standardizes name formatting</a:t>
            </a:r>
          </a:p>
          <a:p>
            <a:r>
              <a:rPr lang="en-US" dirty="0"/>
              <a:t>ROUND(Price, 2) ensures currency displays with two decimal places</a:t>
            </a:r>
          </a:p>
          <a:p>
            <a:r>
              <a:rPr lang="en-US" dirty="0"/>
              <a:t>ADD_MONTHS(</a:t>
            </a:r>
            <a:r>
              <a:rPr lang="en-US" dirty="0" err="1"/>
              <a:t>OrderDate</a:t>
            </a:r>
            <a:r>
              <a:rPr lang="en-US" dirty="0"/>
              <a:t>, 3) calculates payment due dates</a:t>
            </a:r>
          </a:p>
          <a:p>
            <a:r>
              <a:rPr lang="en-US" dirty="0"/>
              <a:t>COALESCE(</a:t>
            </a:r>
            <a:r>
              <a:rPr lang="en-US" dirty="0" err="1"/>
              <a:t>MiddleName</a:t>
            </a:r>
            <a:r>
              <a:rPr lang="en-US" dirty="0"/>
              <a:t>, '') handles optional middle names</a:t>
            </a:r>
          </a:p>
          <a:p>
            <a:r>
              <a:rPr lang="en-US" b="1" dirty="0"/>
              <a:t>Vendor variations</a:t>
            </a:r>
            <a:r>
              <a:rPr lang="en-US" dirty="0"/>
              <a:t>: While SQL standards define many functions, each database vendor adds proprietary functions. Oracle has different date functions than SQL Server or MySQL.</a:t>
            </a:r>
          </a:p>
          <a:p>
            <a:r>
              <a:rPr lang="en-US" b="1" dirty="0"/>
              <a:t>Best practice</a:t>
            </a:r>
            <a:r>
              <a:rPr lang="en-US" dirty="0"/>
              <a:t>: Learn your database's function library - it's much more efficient than writing complex application code for data transformations.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743346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practical examples show functions in action:</a:t>
            </a:r>
          </a:p>
          <a:p>
            <a:r>
              <a:rPr lang="en-US" b="1" dirty="0"/>
              <a:t>COUNT example</a:t>
            </a:r>
            <a:r>
              <a:rPr lang="en-US" dirty="0"/>
              <a:t>: COUNT(*) FROM </a:t>
            </a:r>
            <a:r>
              <a:rPr lang="en-US" dirty="0" err="1"/>
              <a:t>OrderLine_T</a:t>
            </a:r>
            <a:r>
              <a:rPr lang="en-US" dirty="0"/>
              <a:t> WHERE </a:t>
            </a:r>
            <a:r>
              <a:rPr lang="en-US" dirty="0" err="1"/>
              <a:t>OrderID</a:t>
            </a:r>
            <a:r>
              <a:rPr lang="en-US" dirty="0"/>
              <a:t> = 1004 returns 2, telling us order 1004 contains 2 different line items.</a:t>
            </a:r>
          </a:p>
          <a:p>
            <a:r>
              <a:rPr lang="en-US" b="1" dirty="0"/>
              <a:t>Date comparison</a:t>
            </a:r>
            <a:r>
              <a:rPr lang="en-US" dirty="0"/>
              <a:t>: </a:t>
            </a:r>
            <a:r>
              <a:rPr lang="en-US" dirty="0" err="1"/>
              <a:t>OrderDate</a:t>
            </a:r>
            <a:r>
              <a:rPr lang="en-US" dirty="0"/>
              <a:t> &gt; '24-OCT-2024' finds recent orders. Notice the date format - this varies by database system, so always check your system's requirements.</a:t>
            </a:r>
          </a:p>
          <a:p>
            <a:r>
              <a:rPr lang="en-US" b="1" dirty="0"/>
              <a:t>NULL handling</a:t>
            </a:r>
            <a:r>
              <a:rPr lang="en-US" dirty="0"/>
              <a:t>: </a:t>
            </a:r>
            <a:r>
              <a:rPr lang="en-US" dirty="0" err="1"/>
              <a:t>CustomerPostalCode</a:t>
            </a:r>
            <a:r>
              <a:rPr lang="en-US" dirty="0"/>
              <a:t> IS NULL finds customers missing postal codes. This is crucial for data quality analysis and mailing campaigns.</a:t>
            </a:r>
          </a:p>
          <a:p>
            <a:r>
              <a:rPr lang="en-US" b="1" dirty="0"/>
              <a:t>Key insights</a:t>
            </a:r>
            <a:r>
              <a:rPr lang="en-US" dirty="0"/>
              <a:t>:</a:t>
            </a:r>
          </a:p>
          <a:p>
            <a:r>
              <a:rPr lang="en-US" dirty="0"/>
              <a:t>COUNT(*) counts all rows regardless of NULL values</a:t>
            </a:r>
          </a:p>
          <a:p>
            <a:r>
              <a:rPr lang="en-US" dirty="0"/>
              <a:t>Date literals need proper formatting and quotes</a:t>
            </a:r>
          </a:p>
          <a:p>
            <a:r>
              <a:rPr lang="en-US" dirty="0"/>
              <a:t>IS NULL is the only way to test for missing values (= NULL doesn't work)</a:t>
            </a:r>
          </a:p>
          <a:p>
            <a:r>
              <a:rPr lang="en-US" b="1" dirty="0"/>
              <a:t>Business applications</a:t>
            </a:r>
            <a:r>
              <a:rPr lang="en-US" dirty="0"/>
              <a:t>:</a:t>
            </a:r>
          </a:p>
          <a:p>
            <a:r>
              <a:rPr lang="en-US" dirty="0"/>
              <a:t>Order counting helps measure customer activity</a:t>
            </a:r>
          </a:p>
          <a:p>
            <a:r>
              <a:rPr lang="en-US" dirty="0"/>
              <a:t>Date filtering supports time-based analysis</a:t>
            </a:r>
          </a:p>
          <a:p>
            <a:r>
              <a:rPr lang="en-US" dirty="0"/>
              <a:t>NULL detection identifies incomplete data</a:t>
            </a:r>
          </a:p>
          <a:p>
            <a:r>
              <a:rPr lang="en-US" b="1" dirty="0"/>
              <a:t>Performance tip</a:t>
            </a:r>
            <a:r>
              <a:rPr lang="en-US" dirty="0"/>
              <a:t>: Functions in WHERE clauses can prevent index usage. Sometimes it's more efficient to restructure queries to use indexes effectively.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067475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Boolean operators let you combine multiple conditions:</a:t>
            </a:r>
          </a:p>
          <a:p>
            <a:r>
              <a:rPr lang="en-US" b="1" dirty="0"/>
              <a:t>AND</a:t>
            </a:r>
            <a:r>
              <a:rPr lang="en-US" dirty="0"/>
              <a:t>: Both conditions must be true. Use for restrictive filtering.</a:t>
            </a:r>
          </a:p>
          <a:p>
            <a:r>
              <a:rPr lang="en-US" b="1" dirty="0"/>
              <a:t>OR</a:t>
            </a:r>
            <a:r>
              <a:rPr lang="en-US" dirty="0"/>
              <a:t>: Either condition can be true. Use for inclusive filtering.</a:t>
            </a:r>
          </a:p>
          <a:p>
            <a:r>
              <a:rPr lang="en-US" b="1" dirty="0"/>
              <a:t>NOT</a:t>
            </a:r>
            <a:r>
              <a:rPr lang="en-US" dirty="0"/>
              <a:t>: Reverses the condition. Use for exclusion filtering.</a:t>
            </a:r>
          </a:p>
          <a:p>
            <a:r>
              <a:rPr lang="en-US" b="1" dirty="0"/>
              <a:t>Practical examples</a:t>
            </a:r>
            <a:r>
              <a:rPr lang="en-US" dirty="0"/>
              <a:t>:</a:t>
            </a:r>
          </a:p>
          <a:p>
            <a:r>
              <a:rPr lang="en-US" dirty="0"/>
              <a:t>Customer lives in California AND has placed an order this year</a:t>
            </a:r>
          </a:p>
          <a:p>
            <a:r>
              <a:rPr lang="en-US" dirty="0"/>
              <a:t>Product is a desk OR product is a table</a:t>
            </a:r>
          </a:p>
          <a:p>
            <a:r>
              <a:rPr lang="en-US" dirty="0"/>
              <a:t>NOT (Customer is inactive)</a:t>
            </a:r>
          </a:p>
          <a:p>
            <a:r>
              <a:rPr lang="en-US" b="1" dirty="0"/>
              <a:t>Truth table logic</a:t>
            </a:r>
            <a:r>
              <a:rPr lang="en-US" dirty="0"/>
              <a:t>: Understanding how these operators work together is crucial for complex queries. AND is restrictive (narrows results), OR is expansive (widens results).</a:t>
            </a:r>
          </a:p>
          <a:p>
            <a:r>
              <a:rPr lang="en-US" b="1" dirty="0"/>
              <a:t>Precedence rules</a:t>
            </a:r>
            <a:r>
              <a:rPr lang="en-US" dirty="0"/>
              <a:t>: AND is processed before OR, just like multiplication before addition in math. Use parentheses to control evaluation order.</a:t>
            </a:r>
          </a:p>
          <a:p>
            <a:r>
              <a:rPr lang="en-US" b="1" dirty="0"/>
              <a:t>Common mistake</a:t>
            </a:r>
            <a:r>
              <a:rPr lang="en-US" dirty="0"/>
              <a:t>: Writing WHERE State = 'CA' OR 'TX' doesn't work. You need WHERE State = 'CA' OR State = 'TX'.</a:t>
            </a:r>
          </a:p>
          <a:p>
            <a:r>
              <a:rPr lang="en-US" dirty="0"/>
              <a:t>Mastering Boolean operators enables sophisticated data filtering that matches complex business requirements.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7120381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example demonstrates operator precedence problems:</a:t>
            </a:r>
          </a:p>
          <a:p>
            <a:r>
              <a:rPr lang="en-US" b="1" dirty="0"/>
              <a:t>Without parentheses</a:t>
            </a:r>
            <a:r>
              <a:rPr lang="en-US" dirty="0"/>
              <a:t>: The query finds all desks (regardless of price) PLUS expensive tables (over $300). This happens because AND is processed before OR.</a:t>
            </a:r>
          </a:p>
          <a:p>
            <a:r>
              <a:rPr lang="en-US" b="1" dirty="0"/>
              <a:t>Processing order</a:t>
            </a:r>
            <a:r>
              <a:rPr lang="en-US" dirty="0"/>
              <a:t>:</a:t>
            </a:r>
          </a:p>
          <a:p>
            <a:r>
              <a:rPr lang="en-US" dirty="0"/>
              <a:t>First: </a:t>
            </a:r>
            <a:r>
              <a:rPr lang="en-US" dirty="0" err="1"/>
              <a:t>ProductDescription</a:t>
            </a:r>
            <a:r>
              <a:rPr lang="en-US" dirty="0"/>
              <a:t> LIKE '%Table' AND </a:t>
            </a:r>
            <a:r>
              <a:rPr lang="en-US" dirty="0" err="1"/>
              <a:t>ProductStandardPrice</a:t>
            </a:r>
            <a:r>
              <a:rPr lang="en-US" dirty="0"/>
              <a:t> &gt; 300</a:t>
            </a:r>
          </a:p>
          <a:p>
            <a:r>
              <a:rPr lang="en-US" dirty="0"/>
              <a:t>Then: (result from step 1) OR </a:t>
            </a:r>
            <a:r>
              <a:rPr lang="en-US" dirty="0" err="1"/>
              <a:t>ProductDescription</a:t>
            </a:r>
            <a:r>
              <a:rPr lang="en-US" dirty="0"/>
              <a:t> LIKE '%Desk'</a:t>
            </a:r>
          </a:p>
          <a:p>
            <a:r>
              <a:rPr lang="en-US" b="1" dirty="0"/>
              <a:t>Results</a:t>
            </a:r>
            <a:r>
              <a:rPr lang="en-US" dirty="0"/>
              <a:t>: All desks appear, but only expensive tables. The $175 End Table is excluded, but the $250 Computer Desk is included.</a:t>
            </a:r>
          </a:p>
          <a:p>
            <a:r>
              <a:rPr lang="en-US" b="1" dirty="0"/>
              <a:t>Why this matters</a:t>
            </a:r>
            <a:r>
              <a:rPr lang="en-US" dirty="0"/>
              <a:t>: Without understanding precedence, you might write queries that return unexpected results. In business applications, this could mean incorrect reports, wrong inventory counts, or missed sales opportunities.</a:t>
            </a:r>
          </a:p>
          <a:p>
            <a:r>
              <a:rPr lang="en-US" b="1" dirty="0"/>
              <a:t>Debugging tip</a:t>
            </a:r>
            <a:r>
              <a:rPr lang="en-US" dirty="0"/>
              <a:t>: When Boolean queries return unexpected results, break them into smaller parts and test each condition separately.</a:t>
            </a:r>
          </a:p>
          <a:p>
            <a:r>
              <a:rPr lang="en-US" dirty="0"/>
              <a:t>This example illustrates why careful query construction is essential for accurate business intelligence.</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cs typeface="Tahoma"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080524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Venn diagram visualizes how Boolean operators work:</a:t>
            </a:r>
          </a:p>
          <a:p>
            <a:r>
              <a:rPr lang="en-US" b="1" dirty="0"/>
              <a:t>Step 1</a:t>
            </a:r>
            <a:r>
              <a:rPr lang="en-US" dirty="0"/>
              <a:t>: Process OR first (due to parentheses) - finds all desks and tables (large combined area)</a:t>
            </a:r>
          </a:p>
          <a:p>
            <a:r>
              <a:rPr lang="en-US" b="1" dirty="0"/>
              <a:t>Step 2</a:t>
            </a:r>
            <a:r>
              <a:rPr lang="en-US" dirty="0"/>
              <a:t>: Process AND - intersects the result with products over $300 (smaller shaded area)</a:t>
            </a:r>
          </a:p>
          <a:p>
            <a:r>
              <a:rPr lang="en-US" b="1" dirty="0"/>
              <a:t>Result</a:t>
            </a:r>
            <a:r>
              <a:rPr lang="en-US" dirty="0"/>
              <a:t>: Only expensive desks and tables (intersection area with diagonal lines)</a:t>
            </a:r>
          </a:p>
          <a:p>
            <a:r>
              <a:rPr lang="en-US" b="1" dirty="0"/>
              <a:t>Key difference</a:t>
            </a:r>
            <a:r>
              <a:rPr lang="en-US" dirty="0"/>
              <a:t>: The parentheses ensure we first identify all relevant product types, then apply the price filter. Without parentheses, we got all desks plus only expensive tables.</a:t>
            </a:r>
          </a:p>
          <a:p>
            <a:r>
              <a:rPr lang="en-US" b="1" dirty="0"/>
              <a:t>Real-world analogy</a:t>
            </a:r>
            <a:r>
              <a:rPr lang="en-US" dirty="0"/>
              <a:t>: This is like saying "From all furniture (desks or tables), show me only the expensive pieces" versus "Show me all desks plus expensive tables."</a:t>
            </a:r>
          </a:p>
          <a:p>
            <a:r>
              <a:rPr lang="en-US" b="1" dirty="0"/>
              <a:t>Query design principle</a:t>
            </a:r>
            <a:r>
              <a:rPr lang="en-US" dirty="0"/>
              <a:t>: Use parentheses to group logical concepts together. This makes queries more readable and ensures they match your business requirements.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0021245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parentheses changes everything:</a:t>
            </a:r>
          </a:p>
          <a:p>
            <a:r>
              <a:rPr lang="en-US" b="1" dirty="0"/>
              <a:t>With parentheses</a:t>
            </a:r>
            <a:r>
              <a:rPr lang="en-US" dirty="0"/>
              <a:t>: (</a:t>
            </a:r>
            <a:r>
              <a:rPr lang="en-US" dirty="0" err="1"/>
              <a:t>ProductDescription</a:t>
            </a:r>
            <a:r>
              <a:rPr lang="en-US" dirty="0"/>
              <a:t> LIKE '%Desk' OR </a:t>
            </a:r>
            <a:r>
              <a:rPr lang="en-US" dirty="0" err="1"/>
              <a:t>ProductDescription</a:t>
            </a:r>
            <a:r>
              <a:rPr lang="en-US" dirty="0"/>
              <a:t> LIKE '%Table') AND </a:t>
            </a:r>
            <a:r>
              <a:rPr lang="en-US" dirty="0" err="1"/>
              <a:t>ProductStandardPrice</a:t>
            </a:r>
            <a:r>
              <a:rPr lang="en-US" dirty="0"/>
              <a:t> &gt; 300</a:t>
            </a:r>
          </a:p>
          <a:p>
            <a:r>
              <a:rPr lang="en-US" b="1" dirty="0"/>
              <a:t>Processing order</a:t>
            </a:r>
            <a:r>
              <a:rPr lang="en-US" dirty="0"/>
              <a:t>:</a:t>
            </a:r>
          </a:p>
          <a:p>
            <a:r>
              <a:rPr lang="en-US" dirty="0"/>
              <a:t>First: Find all desks and tables (parentheses processed first)</a:t>
            </a:r>
          </a:p>
          <a:p>
            <a:r>
              <a:rPr lang="en-US" dirty="0"/>
              <a:t>Then: From that set, keep only items over $300</a:t>
            </a:r>
          </a:p>
          <a:p>
            <a:r>
              <a:rPr lang="en-US" b="1" dirty="0"/>
              <a:t>Results</a:t>
            </a:r>
            <a:r>
              <a:rPr lang="en-US" dirty="0"/>
              <a:t>: Only expensive desks and tables appear. The cheap Computer Desk is now excluded because it doesn't meet the price requirement.</a:t>
            </a:r>
          </a:p>
          <a:p>
            <a:r>
              <a:rPr lang="en-US" b="1" dirty="0"/>
              <a:t>Business impact</a:t>
            </a:r>
            <a:r>
              <a:rPr lang="en-US" dirty="0"/>
              <a:t>: This query better serves a business need like "find premium furniture for our high-end showroom." The parentheses ensure both product type and price requirements are met.</a:t>
            </a:r>
          </a:p>
          <a:p>
            <a:r>
              <a:rPr lang="en-US" b="1" dirty="0"/>
              <a:t>Lesson</a:t>
            </a:r>
            <a:r>
              <a:rPr lang="en-US" dirty="0"/>
              <a:t>: Parentheses give you precise control over query logic. When in doubt, use parentheses to make your intent explicit.</a:t>
            </a:r>
          </a:p>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9885545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corrected logic:</a:t>
            </a:r>
          </a:p>
          <a:p>
            <a:r>
              <a:rPr lang="en-US" b="1" dirty="0"/>
              <a:t>Step 1</a:t>
            </a:r>
            <a:r>
              <a:rPr lang="en-US" dirty="0"/>
              <a:t>: Process OR first (due to parentheses) - finds all desks and tables (large combined area)</a:t>
            </a:r>
          </a:p>
          <a:p>
            <a:r>
              <a:rPr lang="en-US" b="1" dirty="0"/>
              <a:t>Step 2</a:t>
            </a:r>
            <a:r>
              <a:rPr lang="en-US" dirty="0"/>
              <a:t>: Process AND - intersects the result with products over $300 (smaller shaded area)</a:t>
            </a:r>
          </a:p>
          <a:p>
            <a:r>
              <a:rPr lang="en-US" b="1" dirty="0"/>
              <a:t>Result</a:t>
            </a:r>
            <a:r>
              <a:rPr lang="en-US" dirty="0"/>
              <a:t>: Only expensive desks and tables (intersection area with diagonal lines)</a:t>
            </a:r>
          </a:p>
          <a:p>
            <a:r>
              <a:rPr lang="en-US" b="1" dirty="0"/>
              <a:t>Key difference</a:t>
            </a:r>
            <a:r>
              <a:rPr lang="en-US" dirty="0"/>
              <a:t>: The parentheses ensure we first identify all relevant product types, then apply the price filter. Without parentheses, we got all desks plus only expensive tables.</a:t>
            </a:r>
          </a:p>
          <a:p>
            <a:r>
              <a:rPr lang="en-US" b="1" dirty="0"/>
              <a:t>Real-world analogy</a:t>
            </a:r>
            <a:r>
              <a:rPr lang="en-US" dirty="0"/>
              <a:t>: This is like saying "From all furniture (desks or tables), show me only the expensive pieces" versus "Show me all desks plus expensive tables."</a:t>
            </a:r>
          </a:p>
          <a:p>
            <a:r>
              <a:rPr lang="en-US" b="1" dirty="0"/>
              <a:t>Query design principle</a:t>
            </a:r>
            <a:r>
              <a:rPr lang="en-US" dirty="0"/>
              <a:t>: Use parentheses to group logical concepts together. This makes queries more readable and ensures they match your business requirements.</a:t>
            </a:r>
          </a:p>
          <a:p>
            <a:r>
              <a:rPr lang="en-US" b="1" dirty="0"/>
              <a:t>Visual comparison</a:t>
            </a:r>
            <a:r>
              <a:rPr lang="en-US" dirty="0"/>
              <a:t>: Compare this diagram to Figure 5-8. Notice how the final shaded area is much smaller and more focused. The parentheses created a logical intersection rather than a union of different criteria.</a:t>
            </a:r>
          </a:p>
          <a:p>
            <a:r>
              <a:rPr lang="en-US" b="1" dirty="0"/>
              <a:t>Business impact</a:t>
            </a:r>
            <a:r>
              <a:rPr lang="en-US" dirty="0"/>
              <a:t>: This corrected query is more useful for real business scenarios. A furniture store manager looking for premium items to feature in a high-end catalog needs exactly this type of focused filtering.</a:t>
            </a:r>
          </a:p>
          <a:p>
            <a:r>
              <a:rPr lang="en-US" b="1" dirty="0"/>
              <a:t>Teaching moment</a:t>
            </a:r>
            <a:r>
              <a:rPr lang="en-US" dirty="0"/>
              <a:t>: This comparison perfectly illustrates why understanding operator precedence is crucial in SQL. The difference between these two queries could mean the difference between a successful marketing campaign and wasted resources promoting the wrong products.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526987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Range queries are common in business applications:</a:t>
            </a:r>
          </a:p>
          <a:p>
            <a:r>
              <a:rPr lang="en-US" b="1" dirty="0"/>
              <a:t>Comparison operators</a:t>
            </a:r>
            <a:r>
              <a:rPr lang="en-US" dirty="0"/>
              <a:t>: </a:t>
            </a:r>
            <a:r>
              <a:rPr lang="en-US" dirty="0" err="1"/>
              <a:t>ProductStandardPrice</a:t>
            </a:r>
            <a:r>
              <a:rPr lang="en-US" dirty="0"/>
              <a:t> &gt;= 200 AND </a:t>
            </a:r>
            <a:r>
              <a:rPr lang="en-US" dirty="0" err="1"/>
              <a:t>ProductStandardPrice</a:t>
            </a:r>
            <a:r>
              <a:rPr lang="en-US" dirty="0"/>
              <a:t> &lt;= 300 uses explicit comparisons.</a:t>
            </a:r>
          </a:p>
          <a:p>
            <a:r>
              <a:rPr lang="en-US" b="1" dirty="0"/>
              <a:t>BETWEEN operator</a:t>
            </a:r>
            <a:r>
              <a:rPr lang="en-US" dirty="0"/>
              <a:t>: </a:t>
            </a:r>
            <a:r>
              <a:rPr lang="en-US" dirty="0" err="1"/>
              <a:t>ProductStandardPrice</a:t>
            </a:r>
            <a:r>
              <a:rPr lang="en-US" dirty="0"/>
              <a:t> BETWEEN 200 AND 300 is more concise and readable.</a:t>
            </a:r>
          </a:p>
          <a:p>
            <a:r>
              <a:rPr lang="en-US" b="1" dirty="0"/>
              <a:t>Inclusive ranges</a:t>
            </a:r>
            <a:r>
              <a:rPr lang="en-US" dirty="0"/>
              <a:t>: BETWEEN includes both endpoints. BETWEEN 200 AND 300 matches products priced at exactly $200 or $300.</a:t>
            </a:r>
          </a:p>
          <a:p>
            <a:r>
              <a:rPr lang="en-US" b="1" dirty="0"/>
              <a:t>Practical applications</a:t>
            </a:r>
            <a:r>
              <a:rPr lang="en-US" dirty="0"/>
              <a:t>:</a:t>
            </a:r>
          </a:p>
          <a:p>
            <a:r>
              <a:rPr lang="en-US" dirty="0"/>
              <a:t>Find customers aged 25-65 for targeted marketing</a:t>
            </a:r>
          </a:p>
          <a:p>
            <a:r>
              <a:rPr lang="en-US" dirty="0"/>
              <a:t>Identify orders placed in the last quarter</a:t>
            </a:r>
          </a:p>
          <a:p>
            <a:r>
              <a:rPr lang="en-US" dirty="0"/>
              <a:t>Select products in a specific price range for promotions</a:t>
            </a:r>
          </a:p>
          <a:p>
            <a:r>
              <a:rPr lang="en-US" dirty="0"/>
              <a:t>Filter employees by years of service</a:t>
            </a:r>
          </a:p>
          <a:p>
            <a:r>
              <a:rPr lang="en-US" b="1" dirty="0"/>
              <a:t>Performance advantage</a:t>
            </a:r>
            <a:r>
              <a:rPr lang="en-US" dirty="0"/>
              <a:t>: Database optimizers can efficiently process BETWEEN clauses using indexes, often faster than separate comparison operations.</a:t>
            </a:r>
          </a:p>
          <a:p>
            <a:r>
              <a:rPr lang="en-US" b="1" dirty="0"/>
              <a:t>NOT BETWEEN</a:t>
            </a:r>
            <a:r>
              <a:rPr lang="en-US" dirty="0"/>
              <a:t>: Excludes the specified range. NOT BETWEEN 200 AND 300 finds products under $200 or over $300.</a:t>
            </a:r>
          </a:p>
          <a:p>
            <a:r>
              <a:rPr lang="en-US" b="1" dirty="0"/>
              <a:t>Data type flexibility</a:t>
            </a:r>
            <a:r>
              <a:rPr lang="en-US" dirty="0"/>
              <a:t>: BETWEEN works with numbers, dates, and even strings (alphabetical ranges).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61688664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DISTINCT eliminates duplicate values from query results:</a:t>
            </a:r>
          </a:p>
          <a:p>
            <a:r>
              <a:rPr lang="en-US" b="1" dirty="0"/>
              <a:t>Purpose</a:t>
            </a:r>
            <a:r>
              <a:rPr lang="en-US" dirty="0"/>
              <a:t>: When your query might return duplicate rows, DISTINCT ensures each unique combination appears only once.</a:t>
            </a:r>
          </a:p>
          <a:p>
            <a:r>
              <a:rPr lang="en-US" b="1" dirty="0"/>
              <a:t>Example business case</a:t>
            </a:r>
            <a:r>
              <a:rPr lang="en-US" dirty="0"/>
              <a:t>: "What are the unique combinations of order number and order quantity?" This helps identify ordering patterns without duplicate entries skewing analysis.</a:t>
            </a:r>
          </a:p>
          <a:p>
            <a:r>
              <a:rPr lang="en-US" b="1" dirty="0"/>
              <a:t>How it works</a:t>
            </a:r>
            <a:r>
              <a:rPr lang="en-US" dirty="0"/>
              <a:t>: SQL compares entire rows (all selected columns) for uniqueness. Only rows that are identical in ALL selected columns are considered duplicates.</a:t>
            </a:r>
          </a:p>
          <a:p>
            <a:r>
              <a:rPr lang="en-US" b="1" dirty="0"/>
              <a:t>Performance impact</a:t>
            </a:r>
            <a:r>
              <a:rPr lang="en-US" dirty="0"/>
              <a:t>: DISTINCT requires sorting or hashing operations, which can slow queries on large datasets. Use only when necessary.</a:t>
            </a:r>
          </a:p>
          <a:p>
            <a:r>
              <a:rPr lang="en-US" b="1" dirty="0"/>
              <a:t>Alternative approaches</a:t>
            </a:r>
            <a:r>
              <a:rPr lang="en-US" dirty="0"/>
              <a:t>: Sometimes GROUP BY can achieve similar results more efficiently, especially when you need aggregate calculations.</a:t>
            </a:r>
          </a:p>
          <a:p>
            <a:r>
              <a:rPr lang="en-US" b="1" dirty="0"/>
              <a:t>Common mistake</a:t>
            </a:r>
            <a:r>
              <a:rPr lang="en-US" dirty="0"/>
              <a:t>: Using DISTINCT to "fix" queries that return unexpected duplicates. Usually, the better solution is to understand why duplicates occur and address the root cause.</a:t>
            </a:r>
          </a:p>
          <a:p>
            <a:r>
              <a:rPr lang="en-US" b="1" dirty="0"/>
              <a:t>Real-world usage</a:t>
            </a:r>
            <a:r>
              <a:rPr lang="en-US" dirty="0"/>
              <a:t>: Distinct value queries are essential for data analysis, report generation, and understanding data patterns in your database.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2155547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 operator simplifies multiple value comparisons:</a:t>
            </a:r>
          </a:p>
          <a:p>
            <a:r>
              <a:rPr lang="en-US" b="1" dirty="0"/>
              <a:t>Basic usage</a:t>
            </a:r>
            <a:r>
              <a:rPr lang="en-US" dirty="0"/>
              <a:t>: </a:t>
            </a:r>
            <a:r>
              <a:rPr lang="en-US" dirty="0" err="1"/>
              <a:t>CustomerState</a:t>
            </a:r>
            <a:r>
              <a:rPr lang="en-US" dirty="0"/>
              <a:t> IN ('FL', 'TX', 'CA', 'HI') is much cleaner than four separate OR conditions.</a:t>
            </a:r>
          </a:p>
          <a:p>
            <a:r>
              <a:rPr lang="en-US" b="1" dirty="0"/>
              <a:t>Business application</a:t>
            </a:r>
            <a:r>
              <a:rPr lang="en-US" dirty="0"/>
              <a:t>: This query finds customers in "warmer states" for seasonal product marketing. You might use this to promote outdoor furniture or swimwear.</a:t>
            </a:r>
          </a:p>
          <a:p>
            <a:r>
              <a:rPr lang="en-US" b="1" dirty="0"/>
              <a:t>Dynamic lists</a:t>
            </a:r>
            <a:r>
              <a:rPr lang="en-US" dirty="0"/>
              <a:t>: The values in parentheses can come from subqueries: </a:t>
            </a:r>
            <a:r>
              <a:rPr lang="en-US" dirty="0" err="1"/>
              <a:t>CustomerState</a:t>
            </a:r>
            <a:r>
              <a:rPr lang="en-US" dirty="0"/>
              <a:t> IN (SELECT State FROM </a:t>
            </a:r>
            <a:r>
              <a:rPr lang="en-US" dirty="0" err="1"/>
              <a:t>WarmClimateStates</a:t>
            </a:r>
            <a:r>
              <a:rPr lang="en-US" dirty="0"/>
              <a:t>). This makes queries more maintainable.</a:t>
            </a:r>
          </a:p>
          <a:p>
            <a:r>
              <a:rPr lang="en-US" b="1" dirty="0"/>
              <a:t>NOT IN</a:t>
            </a:r>
            <a:r>
              <a:rPr lang="en-US" dirty="0"/>
              <a:t>: Excludes listed values. </a:t>
            </a:r>
            <a:r>
              <a:rPr lang="en-US" dirty="0" err="1"/>
              <a:t>CustomerState</a:t>
            </a:r>
            <a:r>
              <a:rPr lang="en-US" dirty="0"/>
              <a:t> NOT IN ('AK', 'ME', 'VT') finds customers outside cold weather states.</a:t>
            </a:r>
          </a:p>
          <a:p>
            <a:r>
              <a:rPr lang="en-US" b="1" dirty="0"/>
              <a:t>Performance benefits</a:t>
            </a:r>
            <a:r>
              <a:rPr lang="en-US" dirty="0"/>
              <a:t>: Database optimizers can efficiently process IN lists, often using indexes more effectively than multiple OR conditions.</a:t>
            </a:r>
          </a:p>
          <a:p>
            <a:r>
              <a:rPr lang="en-US" b="1" dirty="0"/>
              <a:t>Maintenance advantage</a:t>
            </a:r>
            <a:r>
              <a:rPr lang="en-US" dirty="0"/>
              <a:t>: When your list of values changes, you only update one place in the query rather than multiple OR conditions.</a:t>
            </a:r>
          </a:p>
          <a:p>
            <a:r>
              <a:rPr lang="en-US" b="1" dirty="0"/>
              <a:t>NULL considerations</a:t>
            </a:r>
            <a:r>
              <a:rPr lang="en-US" dirty="0"/>
              <a:t>: Be careful with NOT IN when the list might contain NULL values - this can produce unexpected results.</a:t>
            </a:r>
          </a:p>
          <a:p>
            <a:r>
              <a:rPr lang="en-US" dirty="0"/>
              <a:t>The IN operator makes queries more readable and maintainable when filtering on multiple discrete values.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37</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931496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clauses extend SELECT's power significantly:</a:t>
            </a:r>
          </a:p>
          <a:p>
            <a:r>
              <a:rPr lang="en-US" b="1" dirty="0"/>
              <a:t>ORDER BY</a:t>
            </a:r>
            <a:r>
              <a:rPr lang="en-US" dirty="0"/>
              <a:t>: Controls result presentation order. Essential for reports and user interfaces where data sequence matters.</a:t>
            </a:r>
          </a:p>
          <a:p>
            <a:r>
              <a:rPr lang="en-US" b="1" dirty="0"/>
              <a:t>GROUP BY</a:t>
            </a:r>
            <a:r>
              <a:rPr lang="en-US" dirty="0"/>
              <a:t>: Organizes rows into groups for aggregate calculations. This transforms detail data into summary information.</a:t>
            </a:r>
          </a:p>
          <a:p>
            <a:r>
              <a:rPr lang="en-US" b="1" dirty="0"/>
              <a:t>HAVING</a:t>
            </a:r>
            <a:r>
              <a:rPr lang="en-US" dirty="0"/>
              <a:t>: Filters groups after GROUP BY processing. It's like WHERE, but operates on groups rather than individual rows.</a:t>
            </a:r>
          </a:p>
          <a:p>
            <a:r>
              <a:rPr lang="en-US" b="1" dirty="0"/>
              <a:t>Relationship between clauses</a:t>
            </a:r>
            <a:r>
              <a:rPr lang="en-US" dirty="0"/>
              <a:t>: These work together systematically - GROUP BY creates groups, HAVING filters groups, ORDER BY sorts the final results.</a:t>
            </a:r>
          </a:p>
          <a:p>
            <a:r>
              <a:rPr lang="en-US" b="1" dirty="0"/>
              <a:t>Business applications</a:t>
            </a:r>
            <a:r>
              <a:rPr lang="en-US" dirty="0"/>
              <a:t>:</a:t>
            </a:r>
          </a:p>
          <a:p>
            <a:r>
              <a:rPr lang="en-US" dirty="0"/>
              <a:t>ORDER BY: Customer lists, product catalogs, sales reports</a:t>
            </a:r>
          </a:p>
          <a:p>
            <a:r>
              <a:rPr lang="en-US" dirty="0"/>
              <a:t>GROUP BY: Sales by region, inventory by category, orders by month</a:t>
            </a:r>
          </a:p>
          <a:p>
            <a:r>
              <a:rPr lang="en-US" dirty="0"/>
              <a:t>HAVING: Regions with sales &gt; $10,000, categories with &gt; 100 items</a:t>
            </a:r>
          </a:p>
          <a:p>
            <a:r>
              <a:rPr lang="en-US" b="1" dirty="0"/>
              <a:t>Processing sequence</a:t>
            </a:r>
            <a:r>
              <a:rPr lang="en-US" dirty="0"/>
              <a:t>: SQL processes these clauses in a specific order (shown in Figure 5-10), not necessarily the order you write them.</a:t>
            </a:r>
          </a:p>
          <a:p>
            <a:r>
              <a:rPr lang="en-US" dirty="0"/>
              <a:t>Understanding these clauses is crucial for creating meaningful business reports and analytical queries.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8657147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BY transforms chaotic data into organized information:</a:t>
            </a:r>
          </a:p>
          <a:p>
            <a:r>
              <a:rPr lang="en-US" b="1" dirty="0"/>
              <a:t>Multiple column sorting</a:t>
            </a:r>
            <a:r>
              <a:rPr lang="en-US" dirty="0"/>
              <a:t>: ORDER BY </a:t>
            </a:r>
            <a:r>
              <a:rPr lang="en-US" dirty="0" err="1"/>
              <a:t>CustomerState</a:t>
            </a:r>
            <a:r>
              <a:rPr lang="en-US" dirty="0"/>
              <a:t>, </a:t>
            </a:r>
            <a:r>
              <a:rPr lang="en-US" dirty="0" err="1"/>
              <a:t>CustomerName</a:t>
            </a:r>
            <a:r>
              <a:rPr lang="en-US" dirty="0"/>
              <a:t> sorts first by state, then by name within each state. This creates logical groupings in your results.</a:t>
            </a:r>
          </a:p>
          <a:p>
            <a:r>
              <a:rPr lang="en-US" b="1" dirty="0"/>
              <a:t>Business value</a:t>
            </a:r>
            <a:r>
              <a:rPr lang="en-US" dirty="0"/>
              <a:t>: The sorted results are much more usable - customers in California are grouped together and alphabetized, making the data easier to scan and use.</a:t>
            </a:r>
          </a:p>
          <a:p>
            <a:r>
              <a:rPr lang="en-US" b="1" dirty="0"/>
              <a:t>Sort direction</a:t>
            </a:r>
            <a:r>
              <a:rPr lang="en-US" dirty="0"/>
              <a:t>: Default is ascending (A-Z, 1-100). Use DESC for descending order: ORDER BY </a:t>
            </a:r>
            <a:r>
              <a:rPr lang="en-US" dirty="0" err="1"/>
              <a:t>CustomerState</a:t>
            </a:r>
            <a:r>
              <a:rPr lang="en-US" dirty="0"/>
              <a:t> DESC, </a:t>
            </a:r>
            <a:r>
              <a:rPr lang="en-US" dirty="0" err="1"/>
              <a:t>CustomerName</a:t>
            </a:r>
            <a:r>
              <a:rPr lang="en-US" dirty="0"/>
              <a:t>.</a:t>
            </a:r>
          </a:p>
          <a:p>
            <a:r>
              <a:rPr lang="en-US" b="1" dirty="0"/>
              <a:t>Column position shortcuts</a:t>
            </a:r>
            <a:r>
              <a:rPr lang="en-US" dirty="0"/>
              <a:t>: ORDER BY 3, 1 references columns by their position in the SELECT list. This is convenient but less maintainable than using column names.</a:t>
            </a:r>
          </a:p>
          <a:p>
            <a:r>
              <a:rPr lang="en-US" b="1" dirty="0"/>
              <a:t>Performance considerations</a:t>
            </a:r>
            <a:r>
              <a:rPr lang="en-US" dirty="0"/>
              <a:t>: Sorting large result sets can be expensive. Sometimes it's more efficient to sort in the application layer, especially for interactive applications where users might change sort orders frequently.</a:t>
            </a:r>
          </a:p>
          <a:p>
            <a:r>
              <a:rPr lang="en-US" b="1" dirty="0"/>
              <a:t>NULL handling</a:t>
            </a:r>
            <a:r>
              <a:rPr lang="en-US" dirty="0"/>
              <a:t>: Different databases sort NULL values differently - some put them first, others last. Check your system's behavior.</a:t>
            </a:r>
          </a:p>
          <a:p>
            <a:r>
              <a:rPr lang="en-US" dirty="0"/>
              <a:t>Proper sorting makes your query results immediately useful for business purposes rather than requiring additional processing.</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850153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BY enables powerful data summarization:</a:t>
            </a:r>
          </a:p>
          <a:p>
            <a:r>
              <a:rPr lang="en-US" b="1" dirty="0"/>
              <a:t>Scalar vs Vector aggregates</a:t>
            </a:r>
            <a:r>
              <a:rPr lang="en-US" dirty="0"/>
              <a:t>:</a:t>
            </a:r>
          </a:p>
          <a:p>
            <a:r>
              <a:rPr lang="en-US" dirty="0"/>
              <a:t>Scalar: One value for entire table (AVG of all product prices)</a:t>
            </a:r>
          </a:p>
          <a:p>
            <a:r>
              <a:rPr lang="en-US" dirty="0"/>
              <a:t>Vector: Multiple values, one per group (AVG price per product category)</a:t>
            </a:r>
          </a:p>
          <a:p>
            <a:r>
              <a:rPr lang="en-US" b="1" dirty="0"/>
              <a:t>GROUP BY purpose</a:t>
            </a:r>
            <a:r>
              <a:rPr lang="en-US" dirty="0"/>
              <a:t>: Divides table rows into groups based on common column values, then applies aggregate functions to each group separately.</a:t>
            </a:r>
          </a:p>
          <a:p>
            <a:r>
              <a:rPr lang="en-US" b="1" dirty="0"/>
              <a:t>Business transformation</a:t>
            </a:r>
            <a:r>
              <a:rPr lang="en-US" dirty="0"/>
              <a:t>: GROUP BY converts detail transaction data into management summary information. Instead of seeing 1000 individual sales, you see sales totals by region, month, or product line.</a:t>
            </a:r>
          </a:p>
          <a:p>
            <a:r>
              <a:rPr lang="en-US" b="1" dirty="0"/>
              <a:t>Memory analogy</a:t>
            </a:r>
            <a:r>
              <a:rPr lang="en-US" dirty="0"/>
              <a:t>: Think of GROUP BY like sorting mail into different boxes based on zip codes, then counting how many pieces go in each box.</a:t>
            </a:r>
          </a:p>
          <a:p>
            <a:r>
              <a:rPr lang="en-US" b="1" dirty="0"/>
              <a:t>Foundation for analytics</a:t>
            </a:r>
            <a:r>
              <a:rPr lang="en-US" dirty="0"/>
              <a:t>: Most business intelligence and reporting relies on GROUP BY operations. Sales dashboards, inventory reports, and performance metrics all use grouped data.</a:t>
            </a:r>
          </a:p>
          <a:p>
            <a:r>
              <a:rPr lang="en-US" dirty="0"/>
              <a:t>Understanding GROUP BY is essential for transitioning from basic data retrieval to meaningful business analysis.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30342686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practical example shows GROUP BY in action:</a:t>
            </a:r>
          </a:p>
          <a:p>
            <a:r>
              <a:rPr lang="en-US" b="1" dirty="0"/>
              <a:t>Query breakdown</a:t>
            </a:r>
            <a:r>
              <a:rPr lang="en-US" dirty="0"/>
              <a:t>: SELECT </a:t>
            </a:r>
            <a:r>
              <a:rPr lang="en-US" dirty="0" err="1"/>
              <a:t>CustomerState</a:t>
            </a:r>
            <a:r>
              <a:rPr lang="en-US" dirty="0"/>
              <a:t>, COUNT(</a:t>
            </a:r>
            <a:r>
              <a:rPr lang="en-US" dirty="0" err="1"/>
              <a:t>CustomerState</a:t>
            </a:r>
            <a:r>
              <a:rPr lang="en-US" dirty="0"/>
              <a:t>) FROM Customer_T GROUP BY </a:t>
            </a:r>
            <a:r>
              <a:rPr lang="en-US" dirty="0" err="1"/>
              <a:t>CustomerState</a:t>
            </a:r>
            <a:r>
              <a:rPr lang="en-US" dirty="0"/>
              <a:t> counts customers per state.</a:t>
            </a:r>
          </a:p>
          <a:p>
            <a:r>
              <a:rPr lang="en-US" b="1" dirty="0"/>
              <a:t>Business insight</a:t>
            </a:r>
            <a:r>
              <a:rPr lang="en-US" dirty="0"/>
              <a:t>: The results tell you where your customers are located geographically. This information drives decisions about shipping costs, regional marketing, warehouse locations, and expansion opportunities.</a:t>
            </a:r>
          </a:p>
          <a:p>
            <a:r>
              <a:rPr lang="en-US" b="1" dirty="0"/>
              <a:t>GROUP BY rule</a:t>
            </a:r>
            <a:r>
              <a:rPr lang="en-US" dirty="0"/>
              <a:t>: Every column in SELECT must either appear in GROUP BY or be an aggregate function. This ensures each group produces exactly one result row.</a:t>
            </a:r>
          </a:p>
          <a:p>
            <a:r>
              <a:rPr lang="en-US" b="1" dirty="0"/>
              <a:t>ORDER BY integration</a:t>
            </a:r>
            <a:r>
              <a:rPr lang="en-US" dirty="0"/>
              <a:t>: Adding ORDER BY </a:t>
            </a:r>
            <a:r>
              <a:rPr lang="en-US" dirty="0" err="1"/>
              <a:t>CustomerState</a:t>
            </a:r>
            <a:r>
              <a:rPr lang="en-US" dirty="0"/>
              <a:t> sorts states alphabetically, making the results easier to read and present.</a:t>
            </a:r>
          </a:p>
          <a:p>
            <a:r>
              <a:rPr lang="en-US" b="1" dirty="0"/>
              <a:t>Scalability</a:t>
            </a:r>
            <a:r>
              <a:rPr lang="en-US" dirty="0"/>
              <a:t>: This same query pattern works whether you have 10 customers or 10 million. SQL's set-based approach handles the complexity automatically.</a:t>
            </a:r>
          </a:p>
          <a:p>
            <a:r>
              <a:rPr lang="en-US" b="1" dirty="0"/>
              <a:t>Extension possibilities</a:t>
            </a:r>
            <a:r>
              <a:rPr lang="en-US" dirty="0"/>
              <a:t>: You could easily modify this to GROUP BY </a:t>
            </a:r>
            <a:r>
              <a:rPr lang="en-US" dirty="0" err="1"/>
              <a:t>CustomerState</a:t>
            </a:r>
            <a:r>
              <a:rPr lang="en-US" dirty="0"/>
              <a:t>, </a:t>
            </a:r>
            <a:r>
              <a:rPr lang="en-US" dirty="0" err="1"/>
              <a:t>CustomerCity</a:t>
            </a:r>
            <a:r>
              <a:rPr lang="en-US" dirty="0"/>
              <a:t> for more detailed geographic analysis.</a:t>
            </a:r>
          </a:p>
          <a:p>
            <a:r>
              <a:rPr lang="en-US" dirty="0"/>
              <a:t>This type of query forms the foundation of business reporting and data analysis across all industries.</a:t>
            </a:r>
          </a:p>
          <a:p>
            <a:pPr eaLnBrk="1" hangingPunct="1"/>
            <a:endParaRPr lang="en-US" altLang="en-US" baseline="0" dirty="0">
              <a:cs typeface="Arial" panose="020B060402020202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60217128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HAVING filters groups created by GROUP BY:</a:t>
            </a:r>
          </a:p>
          <a:p>
            <a:r>
              <a:rPr lang="en-US" b="1" dirty="0"/>
              <a:t>WHERE vs HAVING</a:t>
            </a:r>
            <a:r>
              <a:rPr lang="en-US" dirty="0"/>
              <a:t>: WHERE filters individual rows before grouping; HAVING filters groups after aggregation. They serve different purposes in the query processing pipeline.</a:t>
            </a:r>
          </a:p>
          <a:p>
            <a:r>
              <a:rPr lang="en-US" b="1" dirty="0"/>
              <a:t>Example logic</a:t>
            </a:r>
            <a:r>
              <a:rPr lang="en-US" dirty="0"/>
              <a:t>: "Show me only states with more than one customer" requires HAVING because the condition involves a count of grouped rows.</a:t>
            </a:r>
          </a:p>
          <a:p>
            <a:r>
              <a:rPr lang="en-US" b="1" dirty="0"/>
              <a:t>Business applications</a:t>
            </a:r>
            <a:r>
              <a:rPr lang="en-US" dirty="0"/>
              <a:t>:</a:t>
            </a:r>
          </a:p>
          <a:p>
            <a:r>
              <a:rPr lang="en-US" dirty="0"/>
              <a:t>Markets with sales &gt; $100,000 (significant markets only)</a:t>
            </a:r>
          </a:p>
          <a:p>
            <a:r>
              <a:rPr lang="en-US" dirty="0"/>
              <a:t>Product categories with &gt; 50 items (major categories)</a:t>
            </a:r>
          </a:p>
          <a:p>
            <a:r>
              <a:rPr lang="en-US" dirty="0"/>
              <a:t>Customers with &gt; 10 orders (frequent buyers)</a:t>
            </a:r>
          </a:p>
          <a:p>
            <a:r>
              <a:rPr lang="en-US" b="1" dirty="0"/>
              <a:t>Performance insight</a:t>
            </a:r>
            <a:r>
              <a:rPr lang="en-US" dirty="0"/>
              <a:t>: HAVING executes after GROUP BY, so it can't improve query performance the way WHERE can. Use WHERE whenever possible to reduce the data set early.</a:t>
            </a:r>
          </a:p>
          <a:p>
            <a:r>
              <a:rPr lang="en-US" b="1" dirty="0"/>
              <a:t>Complex conditions</a:t>
            </a:r>
            <a:r>
              <a:rPr lang="en-US" dirty="0"/>
              <a:t>: HAVING can use AND, OR, NOT just like WHERE: HAVING COUNT(*) &gt; 1 AND AVG(</a:t>
            </a:r>
            <a:r>
              <a:rPr lang="en-US" dirty="0" err="1"/>
              <a:t>OrderAmount</a:t>
            </a:r>
            <a:r>
              <a:rPr lang="en-US" dirty="0"/>
              <a:t>) &gt; 500.</a:t>
            </a:r>
          </a:p>
          <a:p>
            <a:r>
              <a:rPr lang="en-US" b="1" dirty="0"/>
              <a:t>Required aggregates</a:t>
            </a:r>
            <a:r>
              <a:rPr lang="en-US" dirty="0"/>
              <a:t>: HAVING conditions typically involve aggregate functions because they're testing properties of groups, not individual rows.</a:t>
            </a:r>
          </a:p>
          <a:p>
            <a:r>
              <a:rPr lang="en-US" dirty="0"/>
              <a:t>HAVING enables sophisticated analysis by letting you focus on significant patterns in your grouped data.</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dirty="0">
              <a:cs typeface="Arial" panose="020B0604020202020204"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05105113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reveals SQL's internal execution sequence:</a:t>
            </a:r>
          </a:p>
          <a:p>
            <a:r>
              <a:rPr lang="en-US" b="1" dirty="0"/>
              <a:t>Processing order</a:t>
            </a:r>
            <a:r>
              <a:rPr lang="en-US" dirty="0"/>
              <a:t> (different from syntax order):</a:t>
            </a:r>
          </a:p>
          <a:p>
            <a:r>
              <a:rPr lang="en-US" b="1" dirty="0"/>
              <a:t>FROM</a:t>
            </a:r>
            <a:r>
              <a:rPr lang="en-US" dirty="0"/>
              <a:t>: Identify and load source tables</a:t>
            </a:r>
          </a:p>
          <a:p>
            <a:r>
              <a:rPr lang="en-US" b="1" dirty="0"/>
              <a:t>WHERE</a:t>
            </a:r>
            <a:r>
              <a:rPr lang="en-US" dirty="0"/>
              <a:t>: Filter individual rows</a:t>
            </a:r>
          </a:p>
          <a:p>
            <a:r>
              <a:rPr lang="en-US" b="1" dirty="0"/>
              <a:t>GROUP BY</a:t>
            </a:r>
            <a:r>
              <a:rPr lang="en-US" dirty="0"/>
              <a:t>: Organize remaining rows into groups</a:t>
            </a:r>
          </a:p>
          <a:p>
            <a:r>
              <a:rPr lang="en-US" b="1" dirty="0"/>
              <a:t>HAVING</a:t>
            </a:r>
            <a:r>
              <a:rPr lang="en-US" dirty="0"/>
              <a:t>: Filter groups based on aggregate conditions</a:t>
            </a:r>
          </a:p>
          <a:p>
            <a:r>
              <a:rPr lang="en-US" b="1" dirty="0"/>
              <a:t>SELECT</a:t>
            </a:r>
            <a:r>
              <a:rPr lang="en-US" dirty="0"/>
              <a:t>: Choose columns and apply functions</a:t>
            </a:r>
          </a:p>
          <a:p>
            <a:r>
              <a:rPr lang="en-US" b="1" dirty="0"/>
              <a:t>ORDER BY</a:t>
            </a:r>
            <a:r>
              <a:rPr lang="en-US" dirty="0"/>
              <a:t>: Sort final results</a:t>
            </a:r>
          </a:p>
          <a:p>
            <a:r>
              <a:rPr lang="en-US" b="1" dirty="0"/>
              <a:t>Why this matters</a:t>
            </a:r>
            <a:r>
              <a:rPr lang="en-US" dirty="0"/>
              <a:t>: Understanding processing order helps you:</a:t>
            </a:r>
          </a:p>
          <a:p>
            <a:r>
              <a:rPr lang="en-US" dirty="0"/>
              <a:t>Write more efficient queries</a:t>
            </a:r>
          </a:p>
          <a:p>
            <a:r>
              <a:rPr lang="en-US" dirty="0"/>
              <a:t>Debug problems systematically</a:t>
            </a:r>
          </a:p>
          <a:p>
            <a:r>
              <a:rPr lang="en-US" dirty="0"/>
              <a:t>Understand why certain constructs work or don't work</a:t>
            </a:r>
          </a:p>
          <a:p>
            <a:r>
              <a:rPr lang="en-US" b="1" dirty="0"/>
              <a:t>Debugging strategy</a:t>
            </a:r>
            <a:r>
              <a:rPr lang="en-US" dirty="0"/>
              <a:t>: When a complex query doesn't work, build it step by step following this processing order. Test each clause individually before combining them.</a:t>
            </a:r>
          </a:p>
          <a:p>
            <a:r>
              <a:rPr lang="en-US" b="1" dirty="0"/>
              <a:t>Performance implications</a:t>
            </a:r>
            <a:r>
              <a:rPr lang="en-US" dirty="0"/>
              <a:t>: Each step creates an intermediate result set. Efficient queries minimize the size of intermediate results by filtering early (WHERE) rather than late (HAVING).</a:t>
            </a:r>
          </a:p>
          <a:p>
            <a:r>
              <a:rPr lang="en-US" b="1" dirty="0"/>
              <a:t>Optimization insight</a:t>
            </a:r>
            <a:r>
              <a:rPr lang="en-US" dirty="0"/>
              <a:t>: Database optimizers may reorder operations for efficiency, but the logical sequence remains constant.</a:t>
            </a:r>
          </a:p>
          <a:p>
            <a:r>
              <a:rPr lang="en-US" dirty="0"/>
              <a:t>This processing model is fundamental to understanding how SQL transforms your query into results.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64566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Shape 381"/>
          <p:cNvSpPr>
            <a:spLocks noGrp="1" noRot="1" noChangeAspect="1"/>
          </p:cNvSpPr>
          <p:nvPr>
            <p:ph type="sldImg" idx="2"/>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382" name="Shape 382"/>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a:spcBef>
                <a:spcPts val="0"/>
              </a:spcBef>
              <a:buNone/>
            </a:pPr>
            <a:endParaRPr dirty="0"/>
          </a:p>
        </p:txBody>
      </p:sp>
      <p:sp>
        <p:nvSpPr>
          <p:cNvPr id="383" name="Shape 383"/>
          <p:cNvSpPr txBox="1">
            <a:spLocks noGrp="1"/>
          </p:cNvSpPr>
          <p:nvPr>
            <p:ph type="sldNum" idx="12"/>
          </p:nvPr>
        </p:nvSpPr>
        <p:spPr>
          <a:xfrm>
            <a:off x="3884612" y="8685213"/>
            <a:ext cx="2971800" cy="457200"/>
          </a:xfrm>
          <a:prstGeom prst="rect">
            <a:avLst/>
          </a:prstGeom>
        </p:spPr>
        <p:txBody>
          <a:bodyPr lIns="91425" tIns="45700" rIns="91425" bIns="45700" anchor="b" anchorCtr="0">
            <a:noAutofit/>
          </a:bodyPr>
          <a:lstStyle/>
          <a:p>
            <a:pPr lvl="0">
              <a:spcBef>
                <a:spcPts val="0"/>
              </a:spcBef>
              <a:buClr>
                <a:srgbClr val="000000"/>
              </a:buClr>
              <a:buSzPct val="25000"/>
              <a:buFont typeface="Arial"/>
              <a:buNone/>
            </a:pPr>
            <a:fld id="{00000000-1234-1234-1234-123412341234}" type="slidenum">
              <a:rPr lang="en-US"/>
              <a:t>44</a:t>
            </a:fld>
            <a:endParaRPr lang="en-US" dirty="0"/>
          </a:p>
        </p:txBody>
      </p:sp>
    </p:spTree>
    <p:extLst>
      <p:ext uri="{BB962C8B-B14F-4D97-AF65-F5344CB8AC3E}">
        <p14:creationId xmlns:p14="http://schemas.microsoft.com/office/powerpoint/2010/main" val="793279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0" indent="0" algn="ctr">
              <a:buNone/>
              <a:defRPr sz="2200">
                <a:latin typeface="+mn-lt"/>
              </a:defRPr>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1" orient="horz" pos="4176"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ctr"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Content Placeholder"/>
          <p:cNvSpPr txBox="1">
            <a:spLocks noGrp="1"/>
          </p:cNvSpPr>
          <p:nvPr>
            <p:ph type="body" idx="1"/>
          </p:nvPr>
        </p:nvSpPr>
        <p:spPr>
          <a:xfrm>
            <a:off x="457200" y="958098"/>
            <a:ext cx="8229600" cy="478970"/>
          </a:xfrm>
          <a:prstGeom prst="rect">
            <a:avLst/>
          </a:prstGeom>
          <a:noFill/>
          <a:ln>
            <a:noFill/>
          </a:ln>
        </p:spPr>
        <p:txBody>
          <a:bodyPr lIns="91425" tIns="91425" rIns="91425" bIns="91425" anchor="ctr" anchorCtr="0"/>
          <a:lstStyle>
            <a:lvl1pPr marL="0" marR="0" lvl="0" indent="0" algn="l" rtl="0">
              <a:spcBef>
                <a:spcPts val="0"/>
              </a:spcBef>
              <a:buClr>
                <a:srgbClr val="007FA3"/>
              </a:buClr>
              <a:buFont typeface="Arial"/>
              <a:buNone/>
              <a:defRPr sz="2000" b="0" i="0" u="none" strike="noStrike" cap="none">
                <a:solidFill>
                  <a:srgbClr val="007FA3"/>
                </a:solidFill>
                <a:latin typeface="+mn-lt"/>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lgn="ctr">
              <a:buNone/>
              <a:defRPr sz="3000" b="1">
                <a:latin typeface="+mn-lt"/>
              </a:defRPr>
            </a:lvl1pPr>
            <a:lvl2pPr marL="558800" indent="0">
              <a:buNone/>
              <a:defRPr/>
            </a:lvl2pPr>
          </a:lstStyle>
          <a:p>
            <a:pPr lvl="0"/>
            <a:r>
              <a:rPr lang="en-US"/>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9"/>
            <a:ext cx="3657600" cy="1262062"/>
          </a:xfrm>
        </p:spPr>
        <p:txBody>
          <a:bodyPr/>
          <a:lstStyle>
            <a:lvl1pPr marL="0" indent="0" algn="ctr">
              <a:buNone/>
              <a:defRPr sz="2200">
                <a:latin typeface="+mn-lt"/>
              </a:defRPr>
            </a:lvl1pPr>
          </a:lstStyle>
          <a:p>
            <a:pPr lvl="0"/>
            <a:r>
              <a:rPr lang="en-US"/>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5" name="Content Placeholder 2">
            <a:extLst>
              <a:ext uri="{FF2B5EF4-FFF2-40B4-BE49-F238E27FC236}">
                <a16:creationId xmlns:a16="http://schemas.microsoft.com/office/drawing/2014/main" id="{A13192F1-5420-4735-B9E5-A0EE76B4D8A1}"/>
              </a:ext>
            </a:extLst>
          </p:cNvPr>
          <p:cNvSpPr>
            <a:spLocks noGrp="1"/>
          </p:cNvSpPr>
          <p:nvPr>
            <p:ph sz="quarter" idx="18"/>
          </p:nvPr>
        </p:nvSpPr>
        <p:spPr>
          <a:xfrm>
            <a:off x="5400675" y="4867275"/>
            <a:ext cx="3209925" cy="1009650"/>
          </a:xfrm>
        </p:spPr>
        <p:txBody>
          <a:bodyPr/>
          <a:lstStyle>
            <a:lvl3pPr marL="1143000" indent="-127000">
              <a:buFont typeface="Arial" panose="020B0604020202020204" pitchFamily="34" charset="0"/>
              <a:buChar char="▪"/>
              <a:defRPr/>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2993162040"/>
      </p:ext>
    </p:extLst>
  </p:cSld>
  <p:clrMapOvr>
    <a:masterClrMapping/>
  </p:clrMapOvr>
  <p:extLst>
    <p:ext uri="{DCECCB84-F9BA-43D5-87BE-67443E8EF086}">
      <p15:sldGuideLst xmlns:p15="http://schemas.microsoft.com/office/powerpoint/2012/main">
        <p15:guide id="1" orient="horz" pos="4176">
          <p15:clr>
            <a:srgbClr val="FBAE40"/>
          </p15:clr>
        </p15:guide>
        <p15:guide id="2" pos="288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dirty="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dirty="0">
              <a:ln>
                <a:noFill/>
              </a:ln>
              <a:solidFill>
                <a:srgbClr val="FFFFFF"/>
              </a:solidFill>
              <a:effectLst/>
              <a:uLnTx/>
              <a:uFillTx/>
              <a:latin typeface="Arial"/>
              <a:ea typeface="Arial"/>
              <a:cs typeface="Arial"/>
              <a:sym typeface="Arial"/>
            </a:endParaRPr>
          </a:p>
        </p:txBody>
      </p:sp>
    </p:spTree>
    <p:extLst>
      <p:ext uri="{BB962C8B-B14F-4D97-AF65-F5344CB8AC3E}">
        <p14:creationId xmlns:p14="http://schemas.microsoft.com/office/powerpoint/2010/main" val="4215940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554920"/>
            <a:ext cx="8232775" cy="4663335"/>
          </a:xfrm>
        </p:spPr>
        <p:txBody>
          <a:bodyPr/>
          <a:lstStyle>
            <a:lvl1pPr indent="-255600">
              <a:defRPr sz="2400">
                <a:latin typeface="+mn-lt"/>
              </a:defRPr>
            </a:lvl1pPr>
            <a:lvl2pPr indent="-284400">
              <a:defRPr sz="2400">
                <a:latin typeface="+mn-lt"/>
              </a:defRPr>
            </a:lvl2pPr>
            <a:lvl3pPr indent="-230400">
              <a:defRPr sz="2400">
                <a:latin typeface="+mn-lt"/>
              </a:defRPr>
            </a:lvl3pPr>
            <a:lvl4pPr indent="-230400">
              <a:defRPr sz="2400">
                <a:latin typeface="+mn-lt"/>
              </a:defRPr>
            </a:lvl4pPr>
            <a:lvl5pPr indent="-230400">
              <a:defRPr sz="24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Title and Two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57200" y="1556327"/>
            <a:ext cx="8229600"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57200" y="3971925"/>
            <a:ext cx="8229600"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694830" y="1552575"/>
            <a:ext cx="399197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1"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3274199" y="1552575"/>
            <a:ext cx="2595602"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6091197" y="1552575"/>
            <a:ext cx="2595603"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2572593"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687986"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6803378" y="1552575"/>
            <a:ext cx="1885950" cy="44386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and Ten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p:nvPr>
        </p:nvSpPr>
        <p:spPr>
          <a:xfrm>
            <a:off x="457200" y="1552575"/>
            <a:ext cx="4011769" cy="46940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p:nvPr>
        </p:nvSpPr>
        <p:spPr>
          <a:xfrm>
            <a:off x="457200" y="2216772"/>
            <a:ext cx="4011769" cy="552186"/>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p:nvPr>
        </p:nvSpPr>
        <p:spPr>
          <a:xfrm>
            <a:off x="457200" y="2953477"/>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p:nvPr>
        </p:nvSpPr>
        <p:spPr>
          <a:xfrm>
            <a:off x="457200" y="3640944"/>
            <a:ext cx="4011769" cy="52536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
        <p:nvSpPr>
          <p:cNvPr id="3" name="Content Placeholder 2"/>
          <p:cNvSpPr>
            <a:spLocks noGrp="1"/>
          </p:cNvSpPr>
          <p:nvPr>
            <p:ph sz="quarter" idx="17"/>
          </p:nvPr>
        </p:nvSpPr>
        <p:spPr>
          <a:xfrm>
            <a:off x="457200" y="4352925"/>
            <a:ext cx="4011769"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quarter" idx="18"/>
          </p:nvPr>
        </p:nvSpPr>
        <p:spPr>
          <a:xfrm>
            <a:off x="457200" y="5010150"/>
            <a:ext cx="4011769"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9"/>
          </p:nvPr>
        </p:nvSpPr>
        <p:spPr>
          <a:xfrm>
            <a:off x="457200" y="5692775"/>
            <a:ext cx="4011769"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0" name="Content Placeholder 9"/>
          <p:cNvSpPr>
            <a:spLocks noGrp="1"/>
          </p:cNvSpPr>
          <p:nvPr>
            <p:ph sz="quarter" idx="20"/>
          </p:nvPr>
        </p:nvSpPr>
        <p:spPr>
          <a:xfrm>
            <a:off x="4622801" y="1557338"/>
            <a:ext cx="4064000" cy="4651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2" name="Content Placeholder 11"/>
          <p:cNvSpPr>
            <a:spLocks noGrp="1"/>
          </p:cNvSpPr>
          <p:nvPr>
            <p:ph sz="quarter" idx="21"/>
          </p:nvPr>
        </p:nvSpPr>
        <p:spPr>
          <a:xfrm>
            <a:off x="4622800" y="2216150"/>
            <a:ext cx="4064000" cy="5524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4" name="Content Placeholder 13"/>
          <p:cNvSpPr>
            <a:spLocks noGrp="1"/>
          </p:cNvSpPr>
          <p:nvPr>
            <p:ph sz="quarter" idx="22"/>
          </p:nvPr>
        </p:nvSpPr>
        <p:spPr>
          <a:xfrm>
            <a:off x="4622800" y="2952750"/>
            <a:ext cx="4064000" cy="525463"/>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9" name="Content Placeholder 18"/>
          <p:cNvSpPr>
            <a:spLocks noGrp="1"/>
          </p:cNvSpPr>
          <p:nvPr>
            <p:ph sz="quarter" idx="23"/>
          </p:nvPr>
        </p:nvSpPr>
        <p:spPr>
          <a:xfrm>
            <a:off x="4622800" y="3641725"/>
            <a:ext cx="4064000" cy="523875"/>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1" name="Content Placeholder 20"/>
          <p:cNvSpPr>
            <a:spLocks noGrp="1"/>
          </p:cNvSpPr>
          <p:nvPr>
            <p:ph sz="quarter" idx="24"/>
          </p:nvPr>
        </p:nvSpPr>
        <p:spPr>
          <a:xfrm>
            <a:off x="4622800" y="4352925"/>
            <a:ext cx="4064000" cy="4762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3" name="Content Placeholder 22"/>
          <p:cNvSpPr>
            <a:spLocks noGrp="1"/>
          </p:cNvSpPr>
          <p:nvPr>
            <p:ph sz="quarter" idx="25"/>
          </p:nvPr>
        </p:nvSpPr>
        <p:spPr>
          <a:xfrm>
            <a:off x="4713288" y="5010150"/>
            <a:ext cx="3973512" cy="514350"/>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25" name="Content Placeholder 24"/>
          <p:cNvSpPr>
            <a:spLocks noGrp="1"/>
          </p:cNvSpPr>
          <p:nvPr>
            <p:ph sz="quarter" idx="26"/>
          </p:nvPr>
        </p:nvSpPr>
        <p:spPr>
          <a:xfrm>
            <a:off x="4713288" y="5692775"/>
            <a:ext cx="3973512" cy="566738"/>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IN" sz="2400" b="0" i="0" u="none" strike="noStrike" cap="none" dirty="0" smtClean="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447121803"/>
      </p:ext>
    </p:extLst>
  </p:cSld>
  <p:clrMapOvr>
    <a:masterClrMapping/>
  </p:clrMapOvr>
  <p:extLst>
    <p:ext uri="{DCECCB84-F9BA-43D5-87BE-67443E8EF086}">
      <p15:sldGuideLst xmlns:p15="http://schemas.microsoft.com/office/powerpoint/2012/main">
        <p15:guide id="1" orient="horz" pos="981"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41479"/>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64404"/>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102487"/>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558412"/>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p:nvPr>
        </p:nvSpPr>
        <p:spPr>
          <a:xfrm>
            <a:off x="5048250" y="1558412"/>
            <a:ext cx="3638550" cy="3754437"/>
          </a:xfrm>
        </p:spPr>
        <p:txBody>
          <a:bodyPr/>
          <a:lstStyle>
            <a:lvl1pPr marR="0" indent="-2556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1pPr>
            <a:lvl2pPr marR="0" indent="-284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2pPr>
            <a:lvl3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3pPr>
            <a:lvl4pPr marR="0" indent="-230400" algn="l" rtl="0">
              <a:lnSpc>
                <a:spcPct val="100000"/>
              </a:lnSpc>
              <a:spcAft>
                <a:spcPts val="0"/>
              </a:spcAft>
              <a:buClr>
                <a:srgbClr val="007FA3"/>
              </a:buClr>
              <a:buSzPct val="100000"/>
              <a:defRPr lang="en-US" sz="2400" b="0" i="0" u="none" strike="noStrike" cap="none" dirty="0" smtClean="0">
                <a:solidFill>
                  <a:schemeClr val="dk1"/>
                </a:solidFill>
                <a:latin typeface="+mn-lt"/>
                <a:ea typeface="Arial"/>
                <a:cs typeface="Arial"/>
                <a:sym typeface="Arial"/>
              </a:defRPr>
            </a:lvl4pPr>
            <a:lvl5pPr marR="0" indent="-230400" algn="l" rtl="0">
              <a:lnSpc>
                <a:spcPct val="100000"/>
              </a:lnSpc>
              <a:spcAft>
                <a:spcPts val="0"/>
              </a:spcAft>
              <a:buClr>
                <a:srgbClr val="007FA3"/>
              </a:buClr>
              <a:buSzPct val="100000"/>
              <a:defRPr lang="en-US" sz="2400" b="0" i="0" u="none" strike="noStrike" cap="none" dirty="0">
                <a:solidFill>
                  <a:schemeClr val="dk1"/>
                </a:solidFill>
                <a:latin typeface="+mn-lt"/>
                <a:ea typeface="Arial"/>
                <a:cs typeface="Arial"/>
                <a:sym typeface="Aria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420799"/>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image" Target="../media/image1.jpg"/><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81"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6" name="Copyright"/>
          <p:cNvSpPr txBox="1"/>
          <p:nvPr/>
        </p:nvSpPr>
        <p:spPr>
          <a:xfrm>
            <a:off x="1600200" y="6429344"/>
            <a:ext cx="7162799" cy="200054"/>
          </a:xfrm>
          <a:prstGeom prst="rect">
            <a:avLst/>
          </a:prstGeom>
          <a:noFill/>
          <a:ln>
            <a:noFill/>
          </a:ln>
        </p:spPr>
        <p:txBody>
          <a:bodyPr lIns="91425" tIns="45700" rIns="91425" bIns="45700" anchor="ctr" anchorCtr="0">
            <a:noAutofit/>
          </a:bodyPr>
          <a:lstStyle/>
          <a:p>
            <a:pPr marL="0" indent="0" algn="r">
              <a:buNone/>
            </a:pPr>
            <a:r>
              <a:rPr lang="en-US" altLang="en-US" sz="1200" dirty="0">
                <a:solidFill>
                  <a:schemeClr val="tx1"/>
                </a:solidFill>
                <a:latin typeface="Verdana"/>
                <a:cs typeface="Verdana" panose="020B0604030504040204" pitchFamily="34" charset="0"/>
              </a:rPr>
              <a:t>Copyright © 2026, 2022, 2018 Pearson Education, Inc. All Rights Reserved</a:t>
            </a:r>
            <a:endParaRPr lang="en-US" altLang="en-US" sz="1200" b="0" dirty="0">
              <a:latin typeface="Verdana"/>
              <a:ea typeface="Verdana" panose="020B0604030504040204" pitchFamily="34" charset="0"/>
              <a:cs typeface="Verdana" panose="020B0604030504040204" pitchFamily="34" charset="0"/>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dirty="0">
              <a:solidFill>
                <a:schemeClr val="lt1"/>
              </a:solidFill>
              <a:latin typeface="Arial"/>
              <a:ea typeface="Arial"/>
              <a:cs typeface="Arial"/>
              <a:sym typeface="Arial"/>
            </a:endParaRPr>
          </a:p>
        </p:txBody>
      </p:sp>
      <p:pic>
        <p:nvPicPr>
          <p:cNvPr id="8" name="Picture Placeholder 21" descr="Pearson Logo">
            <a:extLst>
              <a:ext uri="{FF2B5EF4-FFF2-40B4-BE49-F238E27FC236}">
                <a16:creationId xmlns:a16="http://schemas.microsoft.com/office/drawing/2014/main" id="{9482BDEB-84DF-4344-AD30-389884976DF6}"/>
              </a:ext>
            </a:extLst>
          </p:cNvPr>
          <p:cNvPicPr>
            <a:picLocks noChangeAspect="1"/>
          </p:cNvPicPr>
          <p:nvPr userDrawn="1"/>
        </p:nvPicPr>
        <p:blipFill>
          <a:blip r:embed="rId15"/>
          <a:srcRect t="22152" b="22152"/>
          <a:stretch>
            <a:fillRect/>
          </a:stretch>
        </p:blipFill>
        <p:spPr>
          <a:xfrm>
            <a:off x="315677" y="6420639"/>
            <a:ext cx="1176574" cy="296443"/>
          </a:xfrm>
          <a:prstGeom prst="rect">
            <a:avLst/>
          </a:prstGeom>
        </p:spPr>
      </p:pic>
    </p:spTree>
  </p:cSld>
  <p:clrMap bg1="lt1" tx1="dk1" bg2="dk2" tx2="lt2" accent1="accent1" accent2="accent2" accent3="accent3" accent4="accent4" accent5="accent5" accent6="accent6" hlink="hlink" folHlink="folHlink"/>
  <p:sldLayoutIdLst>
    <p:sldLayoutId id="2147483664" r:id="rId1"/>
    <p:sldLayoutId id="2147483649" r:id="rId2"/>
    <p:sldLayoutId id="2147483650" r:id="rId3"/>
    <p:sldLayoutId id="2147483676" r:id="rId4"/>
    <p:sldLayoutId id="2147483677" r:id="rId5"/>
    <p:sldLayoutId id="2147483678" r:id="rId6"/>
    <p:sldLayoutId id="2147483679" r:id="rId7"/>
    <p:sldLayoutId id="2147483680" r:id="rId8"/>
    <p:sldLayoutId id="2147483671" r:id="rId9"/>
    <p:sldLayoutId id="2147483673" r:id="rId10"/>
    <p:sldLayoutId id="2147483670" r:id="rId11"/>
    <p:sldLayoutId id="2147483669" r:id="rId12"/>
    <p:sldLayoutId id="2147483655"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4.xml"/><Relationship Id="rId1" Type="http://schemas.openxmlformats.org/officeDocument/2006/relationships/slideLayout" Target="../slideLayouts/slideLayout5.xml"/><Relationship Id="rId4" Type="http://schemas.openxmlformats.org/officeDocument/2006/relationships/image" Target="../media/image1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62D4FAE7-153C-9727-D493-F00441DF6A5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57E98728-A241-43F4-95FF-6C49FEEA0911}"/>
              </a:ext>
              <a:ext uri="{C183D7F6-B498-43B3-948B-1728B52AA6E4}">
                <adec:decorative xmlns:adec="http://schemas.microsoft.com/office/drawing/2017/decorative" val="0"/>
              </a:ext>
            </a:extLst>
          </p:cNvPr>
          <p:cNvSpPr>
            <a:spLocks noGrp="1"/>
          </p:cNvSpPr>
          <p:nvPr>
            <p:ph type="title"/>
          </p:nvPr>
        </p:nvSpPr>
        <p:spPr>
          <a:xfrm>
            <a:off x="457200" y="188913"/>
            <a:ext cx="8229600" cy="760505"/>
          </a:xfrm>
        </p:spPr>
        <p:txBody>
          <a:bodyPr anchor="ctr"/>
          <a:lstStyle/>
          <a:p>
            <a:pPr>
              <a:spcAft>
                <a:spcPts val="125"/>
              </a:spcAft>
            </a:pPr>
            <a:r>
              <a:rPr lang="en-US" noProof="0" dirty="0"/>
              <a:t>Modern Database Management</a:t>
            </a:r>
            <a:endParaRPr lang="en-US" noProof="0" dirty="0">
              <a:solidFill>
                <a:schemeClr val="tx2"/>
              </a:solidFill>
            </a:endParaRPr>
          </a:p>
        </p:txBody>
      </p:sp>
      <p:sp>
        <p:nvSpPr>
          <p:cNvPr id="3" name="Content Placeholder 2">
            <a:extLst>
              <a:ext uri="{FF2B5EF4-FFF2-40B4-BE49-F238E27FC236}">
                <a16:creationId xmlns:a16="http://schemas.microsoft.com/office/drawing/2014/main" id="{ABE18F80-D4FC-4D8F-B2BD-E7BEE7E012B5}"/>
              </a:ext>
              <a:ext uri="{C183D7F6-B498-43B3-948B-1728B52AA6E4}">
                <adec:decorative xmlns:adec="http://schemas.microsoft.com/office/drawing/2017/decorative" val="0"/>
              </a:ext>
            </a:extLst>
          </p:cNvPr>
          <p:cNvSpPr>
            <a:spLocks noGrp="1"/>
          </p:cNvSpPr>
          <p:nvPr>
            <p:ph type="body" idx="1"/>
          </p:nvPr>
        </p:nvSpPr>
        <p:spPr>
          <a:xfrm>
            <a:off x="457200" y="1079694"/>
            <a:ext cx="8229600" cy="410660"/>
          </a:xfrm>
        </p:spPr>
        <p:txBody>
          <a:bodyPr anchor="ctr"/>
          <a:lstStyle/>
          <a:p>
            <a:r>
              <a:rPr lang="en-US" noProof="0" dirty="0">
                <a:solidFill>
                  <a:schemeClr val="tx2"/>
                </a:solidFill>
              </a:rPr>
              <a:t>Fourteenth Edition</a:t>
            </a:r>
          </a:p>
        </p:txBody>
      </p:sp>
      <p:pic>
        <p:nvPicPr>
          <p:cNvPr id="8" name="Picture 7" descr="Front Cover: Modern Database Management Fourteenth Edition by Hoffer, Topi, Ramesh, and Bala.">
            <a:extLst>
              <a:ext uri="{FF2B5EF4-FFF2-40B4-BE49-F238E27FC236}">
                <a16:creationId xmlns:a16="http://schemas.microsoft.com/office/drawing/2014/main" id="{07B50D1C-3EDC-5A39-35B9-9DA096030565}"/>
              </a:ext>
            </a:extLst>
          </p:cNvPr>
          <p:cNvPicPr>
            <a:picLocks noChangeAspect="1"/>
          </p:cNvPicPr>
          <p:nvPr/>
        </p:nvPicPr>
        <p:blipFill>
          <a:blip r:embed="rId3"/>
          <a:stretch>
            <a:fillRect/>
          </a:stretch>
        </p:blipFill>
        <p:spPr>
          <a:xfrm>
            <a:off x="514043" y="1656005"/>
            <a:ext cx="3661702" cy="4684105"/>
          </a:xfrm>
          <a:prstGeom prst="rect">
            <a:avLst/>
          </a:prstGeom>
          <a:ln w="9525">
            <a:solidFill>
              <a:schemeClr val="tx1"/>
            </a:solidFill>
          </a:ln>
        </p:spPr>
      </p:pic>
      <p:sp>
        <p:nvSpPr>
          <p:cNvPr id="5" name="Content Placeholder 4">
            <a:extLst>
              <a:ext uri="{FF2B5EF4-FFF2-40B4-BE49-F238E27FC236}">
                <a16:creationId xmlns:a16="http://schemas.microsoft.com/office/drawing/2014/main" id="{2D222376-7AD7-4443-B67A-120BE12F4DDB}"/>
              </a:ext>
              <a:ext uri="{C183D7F6-B498-43B3-948B-1728B52AA6E4}">
                <adec:decorative xmlns:adec="http://schemas.microsoft.com/office/drawing/2017/decorative" val="0"/>
              </a:ext>
            </a:extLst>
          </p:cNvPr>
          <p:cNvSpPr>
            <a:spLocks noGrp="1"/>
          </p:cNvSpPr>
          <p:nvPr>
            <p:ph sz="quarter" idx="14"/>
          </p:nvPr>
        </p:nvSpPr>
        <p:spPr>
          <a:xfrm>
            <a:off x="5029200" y="2115671"/>
            <a:ext cx="3592286" cy="976779"/>
          </a:xfrm>
        </p:spPr>
        <p:txBody>
          <a:bodyPr/>
          <a:lstStyle/>
          <a:p>
            <a:pPr marL="0" lvl="0" algn="ctr"/>
            <a:r>
              <a:rPr lang="en-US" b="1" noProof="0" dirty="0">
                <a:latin typeface="+mn-lt"/>
              </a:rPr>
              <a:t>Chapter 5</a:t>
            </a:r>
          </a:p>
        </p:txBody>
      </p:sp>
      <p:sp>
        <p:nvSpPr>
          <p:cNvPr id="6" name="Content Placeholder 5">
            <a:extLst>
              <a:ext uri="{FF2B5EF4-FFF2-40B4-BE49-F238E27FC236}">
                <a16:creationId xmlns:a16="http://schemas.microsoft.com/office/drawing/2014/main" id="{82FD4EC9-4778-4E2F-B136-2A176CA2BA69}"/>
              </a:ext>
              <a:ext uri="{C183D7F6-B498-43B3-948B-1728B52AA6E4}">
                <adec:decorative xmlns:adec="http://schemas.microsoft.com/office/drawing/2017/decorative" val="0"/>
              </a:ext>
            </a:extLst>
          </p:cNvPr>
          <p:cNvSpPr>
            <a:spLocks noGrp="1"/>
          </p:cNvSpPr>
          <p:nvPr>
            <p:ph sz="quarter" idx="15"/>
          </p:nvPr>
        </p:nvSpPr>
        <p:spPr>
          <a:xfrm>
            <a:off x="5029200" y="3252788"/>
            <a:ext cx="3592286" cy="673753"/>
          </a:xfrm>
        </p:spPr>
        <p:txBody>
          <a:bodyPr/>
          <a:lstStyle/>
          <a:p>
            <a:r>
              <a:rPr lang="en-US" noProof="0" dirty="0"/>
              <a:t>Introduction to S</a:t>
            </a:r>
            <a:r>
              <a:rPr lang="en-US" sz="100" noProof="0" dirty="0"/>
              <a:t> </a:t>
            </a:r>
            <a:r>
              <a:rPr lang="en-US" noProof="0" dirty="0"/>
              <a:t>Q</a:t>
            </a:r>
            <a:r>
              <a:rPr lang="en-US" sz="100" noProof="0" dirty="0"/>
              <a:t> </a:t>
            </a:r>
            <a:r>
              <a:rPr lang="en-US" noProof="0" dirty="0"/>
              <a:t>L</a:t>
            </a:r>
          </a:p>
        </p:txBody>
      </p:sp>
      <p:pic>
        <p:nvPicPr>
          <p:cNvPr id="12" name="Picture Placeholder 21" descr="Pearson Logo">
            <a:extLst>
              <a:ext uri="{FF2B5EF4-FFF2-40B4-BE49-F238E27FC236}">
                <a16:creationId xmlns:a16="http://schemas.microsoft.com/office/drawing/2014/main" id="{CF37FB16-D567-464F-82AB-B4CF4A031A4F}"/>
              </a:ext>
            </a:extLst>
          </p:cNvPr>
          <p:cNvPicPr>
            <a:picLocks noChangeAspect="1"/>
          </p:cNvPicPr>
          <p:nvPr/>
        </p:nvPicPr>
        <p:blipFill>
          <a:blip r:embed="rId4"/>
          <a:srcRect t="22152" b="22152"/>
          <a:stretch>
            <a:fillRect/>
          </a:stretch>
        </p:blipFill>
        <p:spPr>
          <a:xfrm>
            <a:off x="315677" y="6420639"/>
            <a:ext cx="1176574" cy="296443"/>
          </a:xfrm>
          <a:prstGeom prst="rect">
            <a:avLst/>
          </a:prstGeom>
          <a:noFill/>
          <a:ln>
            <a:noFill/>
          </a:ln>
        </p:spPr>
      </p:pic>
      <p:sp>
        <p:nvSpPr>
          <p:cNvPr id="16" name="Content Placeholder 15">
            <a:extLst>
              <a:ext uri="{FF2B5EF4-FFF2-40B4-BE49-F238E27FC236}">
                <a16:creationId xmlns:a16="http://schemas.microsoft.com/office/drawing/2014/main" id="{2D774843-4134-6976-80C3-706780862995}"/>
              </a:ext>
            </a:extLst>
          </p:cNvPr>
          <p:cNvSpPr>
            <a:spLocks noGrp="1"/>
          </p:cNvSpPr>
          <p:nvPr>
            <p:ph sz="quarter" idx="4294967295"/>
          </p:nvPr>
        </p:nvSpPr>
        <p:spPr>
          <a:xfrm>
            <a:off x="2172496" y="6416681"/>
            <a:ext cx="6589712" cy="228600"/>
          </a:xfrm>
        </p:spPr>
        <p:txBody>
          <a:bodyPr anchor="ctr"/>
          <a:lstStyle/>
          <a:p>
            <a:pPr marL="0" indent="0" algn="r">
              <a:buNone/>
            </a:pPr>
            <a:r>
              <a:rPr lang="en-US" altLang="en-US" sz="1200" noProof="0" dirty="0">
                <a:solidFill>
                  <a:schemeClr val="tx1"/>
                </a:solidFill>
                <a:latin typeface="Verdana"/>
                <a:cs typeface="Verdana" panose="020B0604030504040204" pitchFamily="34" charset="0"/>
              </a:rPr>
              <a:t>Copyright © 2026, 2022, 2018 Pearson Education, Inc. All Rights Reserved</a:t>
            </a:r>
            <a:endParaRPr lang="en-US" altLang="en-US" sz="1200" b="0" noProof="0" dirty="0">
              <a:latin typeface="Verdana"/>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17791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BCFC580-5652-7151-11E5-D8023CA3253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Learning Objectives</a:t>
            </a:r>
          </a:p>
        </p:txBody>
      </p:sp>
      <p:sp>
        <p:nvSpPr>
          <p:cNvPr id="3" name="Content Placeholder 2"/>
          <p:cNvSpPr>
            <a:spLocks noGrp="1"/>
          </p:cNvSpPr>
          <p:nvPr>
            <p:ph sz="quarter" idx="13"/>
          </p:nvPr>
        </p:nvSpPr>
        <p:spPr>
          <a:xfrm>
            <a:off x="457200" y="1554920"/>
            <a:ext cx="8232775" cy="4263989"/>
          </a:xfrm>
        </p:spPr>
        <p:txBody>
          <a:bodyPr/>
          <a:lstStyle/>
          <a:p>
            <a:pPr marL="0" indent="0">
              <a:buClr>
                <a:schemeClr val="lt1"/>
              </a:buClr>
              <a:buNone/>
            </a:pPr>
            <a:r>
              <a:rPr lang="en-US" b="1" noProof="0" dirty="0">
                <a:solidFill>
                  <a:srgbClr val="007FA3"/>
                </a:solidFill>
              </a:rPr>
              <a:t>5.1</a:t>
            </a:r>
            <a:r>
              <a:rPr lang="en-US" noProof="0" dirty="0"/>
              <a:t> Concisely define chapter key terms</a:t>
            </a:r>
          </a:p>
          <a:p>
            <a:pPr marL="0" indent="0">
              <a:buClr>
                <a:schemeClr val="lt1"/>
              </a:buClr>
              <a:buNone/>
            </a:pPr>
            <a:r>
              <a:rPr lang="en-US" b="1" noProof="0" dirty="0">
                <a:solidFill>
                  <a:srgbClr val="007FA3"/>
                </a:solidFill>
              </a:rPr>
              <a:t>5.2</a:t>
            </a:r>
            <a:r>
              <a:rPr lang="en-US" b="1" noProof="0" dirty="0">
                <a:solidFill>
                  <a:schemeClr val="accent1"/>
                </a:solidFill>
              </a:rPr>
              <a:t> </a:t>
            </a:r>
            <a:r>
              <a:rPr lang="en-US" noProof="0" dirty="0">
                <a:solidFill>
                  <a:srgbClr val="000000"/>
                </a:solidFill>
                <a:effectLst>
                  <a:outerShdw blurRad="38100" dist="38100" dir="2700000" algn="tl">
                    <a:srgbClr val="FFFFFF"/>
                  </a:outerShdw>
                </a:effectLst>
              </a:rPr>
              <a:t>Interpret the history and role of S</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Q</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L in database development</a:t>
            </a:r>
            <a:endParaRPr lang="en-US" noProof="0" dirty="0"/>
          </a:p>
          <a:p>
            <a:pPr marL="0" indent="0">
              <a:buNone/>
              <a:defRPr/>
            </a:pPr>
            <a:r>
              <a:rPr lang="en-US" b="1" noProof="0" dirty="0">
                <a:solidFill>
                  <a:srgbClr val="007FA3"/>
                </a:solidFill>
              </a:rPr>
              <a:t>5.3</a:t>
            </a:r>
            <a:r>
              <a:rPr lang="en-US" noProof="0" dirty="0"/>
              <a:t> </a:t>
            </a:r>
            <a:r>
              <a:rPr lang="en-US" noProof="0" dirty="0">
                <a:solidFill>
                  <a:srgbClr val="000000"/>
                </a:solidFill>
                <a:effectLst>
                  <a:outerShdw blurRad="38100" dist="38100" dir="2700000" algn="tl">
                    <a:srgbClr val="FFFFFF"/>
                  </a:outerShdw>
                </a:effectLst>
              </a:rPr>
              <a:t>Define and implement a database using the S</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Q</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L data definition language</a:t>
            </a:r>
          </a:p>
          <a:p>
            <a:pPr marL="0" indent="0">
              <a:buClr>
                <a:schemeClr val="lt1"/>
              </a:buClr>
              <a:buNone/>
            </a:pPr>
            <a:r>
              <a:rPr lang="en-US" b="1" noProof="0" dirty="0">
                <a:solidFill>
                  <a:srgbClr val="007FA3"/>
                </a:solidFill>
              </a:rPr>
              <a:t>5.4 </a:t>
            </a:r>
            <a:r>
              <a:rPr lang="en-US" noProof="0" dirty="0">
                <a:solidFill>
                  <a:srgbClr val="000000"/>
                </a:solidFill>
                <a:effectLst>
                  <a:outerShdw blurRad="38100" dist="38100" dir="2700000" algn="tl">
                    <a:srgbClr val="FFFFFF"/>
                  </a:outerShdw>
                </a:effectLst>
              </a:rPr>
              <a:t>Establish referential integrity using S</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Q</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L</a:t>
            </a:r>
          </a:p>
          <a:p>
            <a:pPr marL="0" indent="0">
              <a:buClr>
                <a:schemeClr val="lt1"/>
              </a:buClr>
              <a:buNone/>
            </a:pPr>
            <a:r>
              <a:rPr lang="en-US" b="1" noProof="0" dirty="0">
                <a:solidFill>
                  <a:srgbClr val="007FA3"/>
                </a:solidFill>
              </a:rPr>
              <a:t>5.5</a:t>
            </a:r>
            <a:r>
              <a:rPr lang="en-US" noProof="0" dirty="0"/>
              <a:t> Write single-table queries using S</a:t>
            </a:r>
            <a:r>
              <a:rPr lang="en-US" sz="100" noProof="0" dirty="0"/>
              <a:t> </a:t>
            </a:r>
            <a:r>
              <a:rPr lang="en-US" noProof="0" dirty="0"/>
              <a:t>Q</a:t>
            </a:r>
            <a:r>
              <a:rPr lang="en-US" sz="100" noProof="0" dirty="0"/>
              <a:t> </a:t>
            </a:r>
            <a:r>
              <a:rPr lang="en-US" noProof="0" dirty="0"/>
              <a:t>L commands</a:t>
            </a:r>
          </a:p>
          <a:p>
            <a:pPr marL="0" indent="0">
              <a:buClr>
                <a:schemeClr val="lt1"/>
              </a:buClr>
              <a:buNone/>
            </a:pPr>
            <a:r>
              <a:rPr lang="en-US" b="1" noProof="0" dirty="0">
                <a:solidFill>
                  <a:srgbClr val="007FA3"/>
                </a:solidFill>
              </a:rPr>
              <a:t>5.6</a:t>
            </a:r>
            <a:r>
              <a:rPr lang="en-US" noProof="0" dirty="0">
                <a:solidFill>
                  <a:srgbClr val="000000"/>
                </a:solidFill>
                <a:effectLst>
                  <a:outerShdw blurRad="38100" dist="38100" dir="2700000" algn="tl">
                    <a:srgbClr val="FFFFFF"/>
                  </a:outerShdw>
                </a:effectLst>
              </a:rPr>
              <a:t> Discuss the S</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Q</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L:1999 and S</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Q</a:t>
            </a:r>
            <a:r>
              <a:rPr lang="en-US" sz="100" noProof="0" dirty="0">
                <a:solidFill>
                  <a:srgbClr val="000000"/>
                </a:solidFill>
                <a:effectLst>
                  <a:outerShdw blurRad="38100" dist="38100" dir="2700000" algn="tl">
                    <a:srgbClr val="FFFFFF"/>
                  </a:outerShdw>
                </a:effectLst>
              </a:rPr>
              <a:t> </a:t>
            </a:r>
            <a:r>
              <a:rPr lang="en-US" noProof="0" dirty="0">
                <a:solidFill>
                  <a:srgbClr val="000000"/>
                </a:solidFill>
                <a:effectLst>
                  <a:outerShdw blurRad="38100" dist="38100" dir="2700000" algn="tl">
                    <a:srgbClr val="FFFFFF"/>
                  </a:outerShdw>
                </a:effectLst>
              </a:rPr>
              <a:t>L:2016 standards</a:t>
            </a:r>
          </a:p>
        </p:txBody>
      </p:sp>
    </p:spTree>
    <p:extLst>
      <p:ext uri="{BB962C8B-B14F-4D97-AF65-F5344CB8AC3E}">
        <p14:creationId xmlns:p14="http://schemas.microsoft.com/office/powerpoint/2010/main" val="3452098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A3CDF8B-737C-6A55-17AA-13C2CF2E96E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a:t>
            </a:r>
            <a:r>
              <a:rPr lang="en-US" sz="100" noProof="0" dirty="0"/>
              <a:t> </a:t>
            </a:r>
            <a:r>
              <a:rPr lang="en-US" noProof="0" dirty="0"/>
              <a:t>Q</a:t>
            </a:r>
            <a:r>
              <a:rPr lang="en-US" sz="100" noProof="0" dirty="0"/>
              <a:t> </a:t>
            </a:r>
            <a:r>
              <a:rPr lang="en-US" noProof="0" dirty="0"/>
              <a:t>L Overview</a:t>
            </a:r>
          </a:p>
        </p:txBody>
      </p:sp>
      <p:sp>
        <p:nvSpPr>
          <p:cNvPr id="3" name="Content Placeholder 2"/>
          <p:cNvSpPr>
            <a:spLocks noGrp="1"/>
          </p:cNvSpPr>
          <p:nvPr>
            <p:ph sz="quarter" idx="13"/>
          </p:nvPr>
        </p:nvSpPr>
        <p:spPr>
          <a:xfrm>
            <a:off x="457201" y="1554921"/>
            <a:ext cx="7843652" cy="3931480"/>
          </a:xfrm>
        </p:spPr>
        <p:txBody>
          <a:bodyPr/>
          <a:lstStyle/>
          <a:p>
            <a:pPr eaLnBrk="1" hangingPunct="1"/>
            <a:r>
              <a:rPr lang="en-US" altLang="en-US" noProof="0" dirty="0">
                <a:solidFill>
                  <a:schemeClr val="tx1"/>
                </a:solidFill>
              </a:rPr>
              <a:t>Structured Query Language</a:t>
            </a:r>
            <a:r>
              <a:rPr lang="en-US" noProof="0" dirty="0">
                <a:solidFill>
                  <a:schemeClr val="tx1"/>
                </a:solidFill>
              </a:rPr>
              <a:t>—</a:t>
            </a:r>
            <a:r>
              <a:rPr lang="en-US" altLang="en-US" noProof="0" dirty="0">
                <a:solidFill>
                  <a:schemeClr val="tx1"/>
                </a:solidFill>
              </a:rPr>
              <a:t>often pronounced “Sequel”</a:t>
            </a:r>
          </a:p>
          <a:p>
            <a:pPr eaLnBrk="1" hangingPunct="1"/>
            <a:r>
              <a:rPr lang="en-US" altLang="en-US" noProof="0" dirty="0">
                <a:solidFill>
                  <a:schemeClr val="tx1"/>
                </a:solidFill>
              </a:rPr>
              <a:t>The standard for Relational Database Management Systems (R</a:t>
            </a:r>
            <a:r>
              <a:rPr lang="en-US" altLang="en-US" sz="100" noProof="0" dirty="0">
                <a:solidFill>
                  <a:schemeClr val="tx1"/>
                </a:solidFill>
              </a:rPr>
              <a:t> </a:t>
            </a:r>
            <a:r>
              <a:rPr lang="en-US" altLang="en-US" noProof="0" dirty="0">
                <a:solidFill>
                  <a:schemeClr val="tx1"/>
                </a:solidFill>
              </a:rPr>
              <a:t>D</a:t>
            </a:r>
            <a:r>
              <a:rPr lang="en-US" altLang="en-US" sz="100" noProof="0" dirty="0">
                <a:solidFill>
                  <a:schemeClr val="tx1"/>
                </a:solidFill>
              </a:rPr>
              <a:t> </a:t>
            </a:r>
            <a:r>
              <a:rPr lang="en-US" altLang="en-US" noProof="0" dirty="0">
                <a:solidFill>
                  <a:schemeClr val="tx1"/>
                </a:solidFill>
              </a:rPr>
              <a:t>B</a:t>
            </a:r>
            <a:r>
              <a:rPr lang="en-US" altLang="en-US" sz="100" noProof="0" dirty="0">
                <a:solidFill>
                  <a:schemeClr val="tx1"/>
                </a:solidFill>
              </a:rPr>
              <a:t> </a:t>
            </a:r>
            <a:r>
              <a:rPr lang="en-US" altLang="en-US" noProof="0" dirty="0">
                <a:solidFill>
                  <a:schemeClr val="tx1"/>
                </a:solidFill>
              </a:rPr>
              <a:t>M</a:t>
            </a:r>
            <a:r>
              <a:rPr lang="en-US" altLang="en-US" sz="100" noProof="0" dirty="0">
                <a:solidFill>
                  <a:schemeClr val="tx1"/>
                </a:solidFill>
              </a:rPr>
              <a:t> </a:t>
            </a:r>
            <a:r>
              <a:rPr lang="en-US" altLang="en-US" noProof="0" dirty="0">
                <a:solidFill>
                  <a:schemeClr val="tx1"/>
                </a:solidFill>
              </a:rPr>
              <a:t>S)</a:t>
            </a:r>
          </a:p>
          <a:p>
            <a:pPr eaLnBrk="1" hangingPunct="1"/>
            <a:r>
              <a:rPr lang="en-US" altLang="en-US" noProof="0" dirty="0">
                <a:solidFill>
                  <a:schemeClr val="tx1"/>
                </a:solidFill>
              </a:rPr>
              <a:t>R</a:t>
            </a:r>
            <a:r>
              <a:rPr lang="en-US" altLang="en-US" sz="100" noProof="0" dirty="0">
                <a:solidFill>
                  <a:schemeClr val="tx1"/>
                </a:solidFill>
              </a:rPr>
              <a:t> </a:t>
            </a:r>
            <a:r>
              <a:rPr lang="en-US" altLang="en-US" noProof="0" dirty="0">
                <a:solidFill>
                  <a:schemeClr val="tx1"/>
                </a:solidFill>
              </a:rPr>
              <a:t>D</a:t>
            </a:r>
            <a:r>
              <a:rPr lang="en-US" altLang="en-US" sz="100" noProof="0" dirty="0">
                <a:solidFill>
                  <a:schemeClr val="tx1"/>
                </a:solidFill>
              </a:rPr>
              <a:t> </a:t>
            </a:r>
            <a:r>
              <a:rPr lang="en-US" altLang="en-US" noProof="0" dirty="0">
                <a:solidFill>
                  <a:schemeClr val="tx1"/>
                </a:solidFill>
              </a:rPr>
              <a:t>B</a:t>
            </a:r>
            <a:r>
              <a:rPr lang="en-US" altLang="en-US" sz="100" noProof="0" dirty="0">
                <a:solidFill>
                  <a:schemeClr val="tx1"/>
                </a:solidFill>
              </a:rPr>
              <a:t> </a:t>
            </a:r>
            <a:r>
              <a:rPr lang="en-US" altLang="en-US" noProof="0" dirty="0">
                <a:solidFill>
                  <a:schemeClr val="tx1"/>
                </a:solidFill>
              </a:rPr>
              <a:t>M</a:t>
            </a:r>
            <a:r>
              <a:rPr lang="en-US" altLang="en-US" sz="100" noProof="0" dirty="0">
                <a:solidFill>
                  <a:schemeClr val="tx1"/>
                </a:solidFill>
              </a:rPr>
              <a:t> </a:t>
            </a:r>
            <a:r>
              <a:rPr lang="en-US" altLang="en-US" noProof="0" dirty="0">
                <a:solidFill>
                  <a:schemeClr val="tx1"/>
                </a:solidFill>
              </a:rPr>
              <a:t>S: A database management system that manages data as a collection of tables in which all relationships are represented by common values in related tables</a:t>
            </a:r>
          </a:p>
        </p:txBody>
      </p:sp>
    </p:spTree>
    <p:extLst>
      <p:ext uri="{BB962C8B-B14F-4D97-AF65-F5344CB8AC3E}">
        <p14:creationId xmlns:p14="http://schemas.microsoft.com/office/powerpoint/2010/main" val="3897747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B8865841-5760-2210-8DA8-45B73DE4F10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History of S</a:t>
            </a:r>
            <a:r>
              <a:rPr lang="en-US" sz="100" noProof="0" dirty="0"/>
              <a:t> </a:t>
            </a:r>
            <a:r>
              <a:rPr lang="en-US" noProof="0" dirty="0"/>
              <a:t>Q</a:t>
            </a:r>
            <a:r>
              <a:rPr lang="en-US" sz="100" noProof="0" dirty="0"/>
              <a:t> </a:t>
            </a:r>
            <a:r>
              <a:rPr lang="en-US" noProof="0" dirty="0"/>
              <a:t>L</a:t>
            </a:r>
          </a:p>
        </p:txBody>
      </p:sp>
      <p:sp>
        <p:nvSpPr>
          <p:cNvPr id="4" name="Content Placeholder 3"/>
          <p:cNvSpPr>
            <a:spLocks noGrp="1"/>
          </p:cNvSpPr>
          <p:nvPr>
            <p:ph sz="quarter" idx="13"/>
          </p:nvPr>
        </p:nvSpPr>
        <p:spPr/>
        <p:txBody>
          <a:bodyPr/>
          <a:lstStyle/>
          <a:p>
            <a:pPr eaLnBrk="1" hangingPunct="1"/>
            <a:r>
              <a:rPr lang="en-US" altLang="en-US" sz="2000" b="1" noProof="0" dirty="0">
                <a:solidFill>
                  <a:schemeClr val="tx1"/>
                </a:solidFill>
              </a:rPr>
              <a:t>1970</a:t>
            </a:r>
            <a:r>
              <a:rPr lang="en-US" sz="2000" noProof="0" dirty="0">
                <a:solidFill>
                  <a:schemeClr val="tx1"/>
                </a:solidFill>
              </a:rPr>
              <a:t>—</a:t>
            </a:r>
            <a:r>
              <a:rPr lang="en-US" altLang="en-US" sz="2000" noProof="0" dirty="0">
                <a:solidFill>
                  <a:schemeClr val="tx1"/>
                </a:solidFill>
              </a:rPr>
              <a:t>E. F. Codd develops relational database concept</a:t>
            </a:r>
          </a:p>
          <a:p>
            <a:pPr eaLnBrk="1" hangingPunct="1"/>
            <a:r>
              <a:rPr lang="en-US" altLang="en-US" sz="2000" b="1" noProof="0" dirty="0">
                <a:solidFill>
                  <a:schemeClr val="tx1"/>
                </a:solidFill>
              </a:rPr>
              <a:t>1974-79</a:t>
            </a:r>
            <a:r>
              <a:rPr lang="en-US" sz="2000" noProof="0" dirty="0">
                <a:solidFill>
                  <a:schemeClr val="tx1"/>
                </a:solidFill>
              </a:rPr>
              <a:t>—</a:t>
            </a:r>
            <a:r>
              <a:rPr lang="en-US" altLang="en-US" sz="2000" noProof="0" dirty="0">
                <a:solidFill>
                  <a:schemeClr val="tx1"/>
                </a:solidFill>
              </a:rPr>
              <a:t>System R with Sequel (later S</a:t>
            </a:r>
            <a:r>
              <a:rPr lang="en-US" altLang="en-US" sz="100" noProof="0" dirty="0">
                <a:solidFill>
                  <a:schemeClr val="tx1"/>
                </a:solidFill>
              </a:rPr>
              <a:t> </a:t>
            </a:r>
            <a:r>
              <a:rPr lang="en-US" altLang="en-US" sz="2000" noProof="0" dirty="0">
                <a:solidFill>
                  <a:schemeClr val="tx1"/>
                </a:solidFill>
              </a:rPr>
              <a:t>Q</a:t>
            </a:r>
            <a:r>
              <a:rPr lang="en-US" altLang="en-US" sz="100" noProof="0" dirty="0">
                <a:solidFill>
                  <a:schemeClr val="tx1"/>
                </a:solidFill>
              </a:rPr>
              <a:t> </a:t>
            </a:r>
            <a:r>
              <a:rPr lang="en-US" altLang="en-US" sz="2000" noProof="0" dirty="0">
                <a:solidFill>
                  <a:schemeClr val="tx1"/>
                </a:solidFill>
              </a:rPr>
              <a:t>L) created at I</a:t>
            </a:r>
            <a:r>
              <a:rPr lang="en-US" altLang="en-US" sz="100" noProof="0" dirty="0">
                <a:solidFill>
                  <a:schemeClr val="tx1"/>
                </a:solidFill>
              </a:rPr>
              <a:t> </a:t>
            </a:r>
            <a:r>
              <a:rPr lang="en-US" altLang="en-US" sz="2000" noProof="0" dirty="0">
                <a:solidFill>
                  <a:schemeClr val="tx1"/>
                </a:solidFill>
              </a:rPr>
              <a:t>B</a:t>
            </a:r>
            <a:r>
              <a:rPr lang="en-US" altLang="en-US" sz="100" noProof="0" dirty="0">
                <a:solidFill>
                  <a:schemeClr val="tx1"/>
                </a:solidFill>
              </a:rPr>
              <a:t> </a:t>
            </a:r>
            <a:r>
              <a:rPr lang="en-US" altLang="en-US" sz="2000" noProof="0" dirty="0">
                <a:solidFill>
                  <a:schemeClr val="tx1"/>
                </a:solidFill>
              </a:rPr>
              <a:t>M Research Lab</a:t>
            </a:r>
          </a:p>
          <a:p>
            <a:pPr eaLnBrk="1" hangingPunct="1"/>
            <a:r>
              <a:rPr lang="en-US" altLang="en-US" sz="2000" b="1" noProof="0" dirty="0">
                <a:solidFill>
                  <a:schemeClr val="tx1"/>
                </a:solidFill>
              </a:rPr>
              <a:t>1979</a:t>
            </a:r>
            <a:r>
              <a:rPr lang="en-US" sz="2000" noProof="0" dirty="0">
                <a:solidFill>
                  <a:schemeClr val="tx1"/>
                </a:solidFill>
              </a:rPr>
              <a:t>—</a:t>
            </a:r>
            <a:r>
              <a:rPr lang="en-US" altLang="en-US" sz="2000" noProof="0" dirty="0">
                <a:solidFill>
                  <a:schemeClr val="tx1"/>
                </a:solidFill>
              </a:rPr>
              <a:t>Oracle markets first relational D</a:t>
            </a:r>
            <a:r>
              <a:rPr lang="en-US" altLang="en-US" sz="100" noProof="0" dirty="0">
                <a:solidFill>
                  <a:schemeClr val="tx1"/>
                </a:solidFill>
              </a:rPr>
              <a:t> </a:t>
            </a:r>
            <a:r>
              <a:rPr lang="en-US" altLang="en-US" sz="2000" noProof="0" dirty="0">
                <a:solidFill>
                  <a:schemeClr val="tx1"/>
                </a:solidFill>
              </a:rPr>
              <a:t>B with S</a:t>
            </a:r>
            <a:r>
              <a:rPr lang="en-US" altLang="en-US" sz="100" noProof="0" dirty="0">
                <a:solidFill>
                  <a:schemeClr val="tx1"/>
                </a:solidFill>
              </a:rPr>
              <a:t> </a:t>
            </a:r>
            <a:r>
              <a:rPr lang="en-US" altLang="en-US" sz="2000" noProof="0" dirty="0">
                <a:solidFill>
                  <a:schemeClr val="tx1"/>
                </a:solidFill>
              </a:rPr>
              <a:t>Q</a:t>
            </a:r>
            <a:r>
              <a:rPr lang="en-US" altLang="en-US" sz="100" noProof="0" dirty="0">
                <a:solidFill>
                  <a:schemeClr val="tx1"/>
                </a:solidFill>
              </a:rPr>
              <a:t> </a:t>
            </a:r>
            <a:r>
              <a:rPr lang="en-US" altLang="en-US" sz="2000" noProof="0" dirty="0">
                <a:solidFill>
                  <a:schemeClr val="tx1"/>
                </a:solidFill>
              </a:rPr>
              <a:t>L</a:t>
            </a:r>
          </a:p>
          <a:p>
            <a:pPr eaLnBrk="1" hangingPunct="1"/>
            <a:r>
              <a:rPr lang="en-US" altLang="en-US" sz="2000" b="1" noProof="0" dirty="0">
                <a:solidFill>
                  <a:schemeClr val="tx1"/>
                </a:solidFill>
              </a:rPr>
              <a:t>1981</a:t>
            </a:r>
            <a:r>
              <a:rPr lang="en-US" sz="2000" noProof="0" dirty="0">
                <a:solidFill>
                  <a:schemeClr val="tx1"/>
                </a:solidFill>
              </a:rPr>
              <a:t>—</a:t>
            </a:r>
            <a:r>
              <a:rPr lang="en-US" altLang="en-US" sz="2000" noProof="0" dirty="0">
                <a:solidFill>
                  <a:schemeClr val="tx1"/>
                </a:solidFill>
              </a:rPr>
              <a:t>S</a:t>
            </a:r>
            <a:r>
              <a:rPr lang="en-US" altLang="en-US" sz="100" noProof="0" dirty="0">
                <a:solidFill>
                  <a:schemeClr val="tx1"/>
                </a:solidFill>
              </a:rPr>
              <a:t> </a:t>
            </a:r>
            <a:r>
              <a:rPr lang="en-US" altLang="en-US" sz="2000" noProof="0" dirty="0">
                <a:solidFill>
                  <a:schemeClr val="tx1"/>
                </a:solidFill>
              </a:rPr>
              <a:t>Q</a:t>
            </a:r>
            <a:r>
              <a:rPr lang="en-US" altLang="en-US" sz="100" noProof="0" dirty="0">
                <a:solidFill>
                  <a:schemeClr val="tx1"/>
                </a:solidFill>
              </a:rPr>
              <a:t> </a:t>
            </a:r>
            <a:r>
              <a:rPr lang="en-US" altLang="en-US" sz="2000" noProof="0" dirty="0">
                <a:solidFill>
                  <a:schemeClr val="tx1"/>
                </a:solidFill>
              </a:rPr>
              <a:t>L/D</a:t>
            </a:r>
            <a:r>
              <a:rPr lang="en-US" altLang="en-US" sz="100" noProof="0" dirty="0">
                <a:solidFill>
                  <a:schemeClr val="tx1"/>
                </a:solidFill>
              </a:rPr>
              <a:t> </a:t>
            </a:r>
            <a:r>
              <a:rPr lang="en-US" altLang="en-US" sz="2000" noProof="0" dirty="0">
                <a:solidFill>
                  <a:schemeClr val="tx1"/>
                </a:solidFill>
              </a:rPr>
              <a:t>S first available R</a:t>
            </a:r>
            <a:r>
              <a:rPr lang="en-US" altLang="en-US" sz="100" noProof="0" dirty="0">
                <a:solidFill>
                  <a:schemeClr val="tx1"/>
                </a:solidFill>
              </a:rPr>
              <a:t> </a:t>
            </a:r>
            <a:r>
              <a:rPr lang="en-US" altLang="en-US" sz="2000" noProof="0" dirty="0">
                <a:solidFill>
                  <a:schemeClr val="tx1"/>
                </a:solidFill>
              </a:rPr>
              <a:t>D</a:t>
            </a:r>
            <a:r>
              <a:rPr lang="en-US" altLang="en-US" sz="100" noProof="0" dirty="0">
                <a:solidFill>
                  <a:schemeClr val="tx1"/>
                </a:solidFill>
              </a:rPr>
              <a:t> </a:t>
            </a:r>
            <a:r>
              <a:rPr lang="en-US" altLang="en-US" sz="2000" noProof="0" dirty="0">
                <a:solidFill>
                  <a:schemeClr val="tx1"/>
                </a:solidFill>
              </a:rPr>
              <a:t>B</a:t>
            </a:r>
            <a:r>
              <a:rPr lang="en-US" altLang="en-US" sz="100" noProof="0" dirty="0">
                <a:solidFill>
                  <a:schemeClr val="tx1"/>
                </a:solidFill>
              </a:rPr>
              <a:t> </a:t>
            </a:r>
            <a:r>
              <a:rPr lang="en-US" altLang="en-US" sz="2000" noProof="0" dirty="0">
                <a:solidFill>
                  <a:schemeClr val="tx1"/>
                </a:solidFill>
              </a:rPr>
              <a:t>M</a:t>
            </a:r>
            <a:r>
              <a:rPr lang="en-US" altLang="en-US" sz="100" noProof="0" dirty="0">
                <a:solidFill>
                  <a:schemeClr val="tx1"/>
                </a:solidFill>
              </a:rPr>
              <a:t> </a:t>
            </a:r>
            <a:r>
              <a:rPr lang="en-US" altLang="en-US" sz="2000" noProof="0" dirty="0">
                <a:solidFill>
                  <a:schemeClr val="tx1"/>
                </a:solidFill>
              </a:rPr>
              <a:t>S system on D</a:t>
            </a:r>
            <a:r>
              <a:rPr lang="en-US" altLang="en-US" sz="100" noProof="0" dirty="0">
                <a:solidFill>
                  <a:schemeClr val="tx1"/>
                </a:solidFill>
              </a:rPr>
              <a:t> </a:t>
            </a:r>
            <a:r>
              <a:rPr lang="en-US" altLang="en-US" sz="2000" noProof="0" dirty="0">
                <a:solidFill>
                  <a:schemeClr val="tx1"/>
                </a:solidFill>
              </a:rPr>
              <a:t>O</a:t>
            </a:r>
            <a:r>
              <a:rPr lang="en-US" altLang="en-US" sz="100" noProof="0" dirty="0">
                <a:solidFill>
                  <a:schemeClr val="tx1"/>
                </a:solidFill>
              </a:rPr>
              <a:t> </a:t>
            </a:r>
            <a:r>
              <a:rPr lang="en-US" altLang="en-US" sz="2000" noProof="0" dirty="0">
                <a:solidFill>
                  <a:schemeClr val="tx1"/>
                </a:solidFill>
              </a:rPr>
              <a:t>S/V</a:t>
            </a:r>
            <a:r>
              <a:rPr lang="en-US" altLang="en-US" sz="100" noProof="0" dirty="0">
                <a:solidFill>
                  <a:schemeClr val="tx1"/>
                </a:solidFill>
              </a:rPr>
              <a:t> </a:t>
            </a:r>
            <a:r>
              <a:rPr lang="en-US" altLang="en-US" sz="2000" noProof="0" dirty="0">
                <a:solidFill>
                  <a:schemeClr val="tx1"/>
                </a:solidFill>
              </a:rPr>
              <a:t>S</a:t>
            </a:r>
            <a:r>
              <a:rPr lang="en-US" altLang="en-US" sz="100" noProof="0" dirty="0">
                <a:solidFill>
                  <a:schemeClr val="tx1"/>
                </a:solidFill>
              </a:rPr>
              <a:t> </a:t>
            </a:r>
            <a:r>
              <a:rPr lang="en-US" altLang="en-US" sz="2000" noProof="0" dirty="0">
                <a:solidFill>
                  <a:schemeClr val="tx1"/>
                </a:solidFill>
              </a:rPr>
              <a:t>E</a:t>
            </a:r>
          </a:p>
          <a:p>
            <a:pPr lvl="1"/>
            <a:r>
              <a:rPr lang="en-US" altLang="en-US" sz="2000" noProof="0" dirty="0">
                <a:solidFill>
                  <a:schemeClr val="tx1"/>
                </a:solidFill>
              </a:rPr>
              <a:t>Others followed: I</a:t>
            </a:r>
            <a:r>
              <a:rPr lang="en-US" altLang="en-US" sz="100" noProof="0" dirty="0">
                <a:solidFill>
                  <a:schemeClr val="tx1"/>
                </a:solidFill>
              </a:rPr>
              <a:t> </a:t>
            </a:r>
            <a:r>
              <a:rPr lang="en-US" altLang="en-US" sz="2000" noProof="0" dirty="0">
                <a:solidFill>
                  <a:schemeClr val="tx1"/>
                </a:solidFill>
              </a:rPr>
              <a:t>N</a:t>
            </a:r>
            <a:r>
              <a:rPr lang="en-US" altLang="en-US" sz="100" noProof="0" dirty="0">
                <a:solidFill>
                  <a:schemeClr val="tx1"/>
                </a:solidFill>
              </a:rPr>
              <a:t> </a:t>
            </a:r>
            <a:r>
              <a:rPr lang="en-US" altLang="en-US" sz="2000" noProof="0" dirty="0">
                <a:solidFill>
                  <a:schemeClr val="tx1"/>
                </a:solidFill>
              </a:rPr>
              <a:t>G</a:t>
            </a:r>
            <a:r>
              <a:rPr lang="en-US" altLang="en-US" sz="100" noProof="0" dirty="0">
                <a:solidFill>
                  <a:schemeClr val="tx1"/>
                </a:solidFill>
              </a:rPr>
              <a:t> </a:t>
            </a:r>
            <a:r>
              <a:rPr lang="en-US" altLang="en-US" sz="2000" noProof="0" dirty="0">
                <a:solidFill>
                  <a:schemeClr val="tx1"/>
                </a:solidFill>
              </a:rPr>
              <a:t>R</a:t>
            </a:r>
            <a:r>
              <a:rPr lang="en-US" altLang="en-US" sz="100" noProof="0" dirty="0">
                <a:solidFill>
                  <a:schemeClr val="tx1"/>
                </a:solidFill>
              </a:rPr>
              <a:t> </a:t>
            </a:r>
            <a:r>
              <a:rPr lang="en-US" altLang="en-US" sz="2000" noProof="0" dirty="0">
                <a:solidFill>
                  <a:schemeClr val="tx1"/>
                </a:solidFill>
              </a:rPr>
              <a:t>E</a:t>
            </a:r>
            <a:r>
              <a:rPr lang="en-US" altLang="en-US" sz="100" noProof="0" dirty="0">
                <a:solidFill>
                  <a:schemeClr val="tx1"/>
                </a:solidFill>
              </a:rPr>
              <a:t> </a:t>
            </a:r>
            <a:r>
              <a:rPr lang="en-US" altLang="en-US" sz="2000" noProof="0" dirty="0">
                <a:solidFill>
                  <a:schemeClr val="tx1"/>
                </a:solidFill>
              </a:rPr>
              <a:t>S (1981), I</a:t>
            </a:r>
            <a:r>
              <a:rPr lang="en-US" altLang="en-US" sz="100" noProof="0" dirty="0">
                <a:solidFill>
                  <a:schemeClr val="tx1"/>
                </a:solidFill>
              </a:rPr>
              <a:t> </a:t>
            </a:r>
            <a:r>
              <a:rPr lang="en-US" altLang="en-US" sz="2000" noProof="0" dirty="0">
                <a:solidFill>
                  <a:schemeClr val="tx1"/>
                </a:solidFill>
              </a:rPr>
              <a:t>D</a:t>
            </a:r>
            <a:r>
              <a:rPr lang="en-US" altLang="en-US" sz="100" noProof="0" dirty="0">
                <a:solidFill>
                  <a:schemeClr val="tx1"/>
                </a:solidFill>
              </a:rPr>
              <a:t> </a:t>
            </a:r>
            <a:r>
              <a:rPr lang="en-US" altLang="en-US" sz="2000" noProof="0" dirty="0">
                <a:solidFill>
                  <a:schemeClr val="tx1"/>
                </a:solidFill>
              </a:rPr>
              <a:t>M (1982), D</a:t>
            </a:r>
            <a:r>
              <a:rPr lang="en-US" altLang="en-US" sz="100" noProof="0" dirty="0">
                <a:solidFill>
                  <a:schemeClr val="tx1"/>
                </a:solidFill>
              </a:rPr>
              <a:t> </a:t>
            </a:r>
            <a:r>
              <a:rPr lang="en-US" altLang="en-US" sz="2000" noProof="0" dirty="0">
                <a:solidFill>
                  <a:schemeClr val="tx1"/>
                </a:solidFill>
              </a:rPr>
              <a:t>G/S</a:t>
            </a:r>
            <a:r>
              <a:rPr lang="en-US" altLang="en-US" sz="100" noProof="0" dirty="0">
                <a:solidFill>
                  <a:schemeClr val="tx1"/>
                </a:solidFill>
              </a:rPr>
              <a:t> </a:t>
            </a:r>
            <a:r>
              <a:rPr lang="en-US" altLang="en-US" sz="2000" noProof="0" dirty="0">
                <a:solidFill>
                  <a:schemeClr val="tx1"/>
                </a:solidFill>
              </a:rPr>
              <a:t>G</a:t>
            </a:r>
            <a:r>
              <a:rPr lang="en-US" altLang="en-US" sz="100" noProof="0" dirty="0">
                <a:solidFill>
                  <a:schemeClr val="tx1"/>
                </a:solidFill>
              </a:rPr>
              <a:t> </a:t>
            </a:r>
            <a:r>
              <a:rPr lang="en-US" altLang="en-US" sz="2000" noProof="0" dirty="0">
                <a:solidFill>
                  <a:schemeClr val="tx1"/>
                </a:solidFill>
              </a:rPr>
              <a:t>L (1984), Sybase (1986)</a:t>
            </a:r>
          </a:p>
          <a:p>
            <a:pPr eaLnBrk="1" hangingPunct="1"/>
            <a:r>
              <a:rPr lang="en-US" altLang="en-US" sz="2000" b="1" noProof="0" dirty="0">
                <a:solidFill>
                  <a:schemeClr val="tx1"/>
                </a:solidFill>
              </a:rPr>
              <a:t>1986</a:t>
            </a:r>
            <a:r>
              <a:rPr lang="en-US" sz="2000" noProof="0" dirty="0">
                <a:solidFill>
                  <a:schemeClr val="tx1"/>
                </a:solidFill>
              </a:rPr>
              <a:t>—</a:t>
            </a:r>
            <a:r>
              <a:rPr lang="en-US" altLang="en-US" sz="2000" noProof="0" dirty="0">
                <a:solidFill>
                  <a:schemeClr val="tx1"/>
                </a:solidFill>
              </a:rPr>
              <a:t>A</a:t>
            </a:r>
            <a:r>
              <a:rPr lang="en-US" altLang="en-US" sz="100" noProof="0" dirty="0">
                <a:solidFill>
                  <a:schemeClr val="tx1"/>
                </a:solidFill>
              </a:rPr>
              <a:t> </a:t>
            </a:r>
            <a:r>
              <a:rPr lang="en-US" altLang="en-US" sz="2000" noProof="0" dirty="0">
                <a:solidFill>
                  <a:schemeClr val="tx1"/>
                </a:solidFill>
              </a:rPr>
              <a:t>N</a:t>
            </a:r>
            <a:r>
              <a:rPr lang="en-US" altLang="en-US" sz="100" noProof="0" dirty="0">
                <a:solidFill>
                  <a:schemeClr val="tx1"/>
                </a:solidFill>
              </a:rPr>
              <a:t> </a:t>
            </a:r>
            <a:r>
              <a:rPr lang="en-US" altLang="en-US" sz="2000" noProof="0" dirty="0">
                <a:solidFill>
                  <a:schemeClr val="tx1"/>
                </a:solidFill>
              </a:rPr>
              <a:t>S</a:t>
            </a:r>
            <a:r>
              <a:rPr lang="en-US" altLang="en-US" sz="100" noProof="0" dirty="0">
                <a:solidFill>
                  <a:schemeClr val="tx1"/>
                </a:solidFill>
              </a:rPr>
              <a:t> </a:t>
            </a:r>
            <a:r>
              <a:rPr lang="en-US" altLang="en-US" sz="2000" noProof="0" dirty="0">
                <a:solidFill>
                  <a:schemeClr val="tx1"/>
                </a:solidFill>
              </a:rPr>
              <a:t>I S</a:t>
            </a:r>
            <a:r>
              <a:rPr lang="en-US" altLang="en-US" sz="100" noProof="0" dirty="0">
                <a:solidFill>
                  <a:schemeClr val="tx1"/>
                </a:solidFill>
              </a:rPr>
              <a:t> </a:t>
            </a:r>
            <a:r>
              <a:rPr lang="en-US" altLang="en-US" sz="2000" noProof="0" dirty="0">
                <a:solidFill>
                  <a:schemeClr val="tx1"/>
                </a:solidFill>
              </a:rPr>
              <a:t>Q</a:t>
            </a:r>
            <a:r>
              <a:rPr lang="en-US" altLang="en-US" sz="100" noProof="0" dirty="0">
                <a:solidFill>
                  <a:schemeClr val="tx1"/>
                </a:solidFill>
              </a:rPr>
              <a:t> </a:t>
            </a:r>
            <a:r>
              <a:rPr lang="en-US" altLang="en-US" sz="2000" noProof="0" dirty="0">
                <a:solidFill>
                  <a:schemeClr val="tx1"/>
                </a:solidFill>
              </a:rPr>
              <a:t>L standard released</a:t>
            </a:r>
          </a:p>
          <a:p>
            <a:pPr lvl="1"/>
            <a:r>
              <a:rPr lang="en-US" altLang="en-US" sz="2000" noProof="0" dirty="0">
                <a:solidFill>
                  <a:schemeClr val="tx1"/>
                </a:solidFill>
              </a:rPr>
              <a:t>Major A</a:t>
            </a:r>
            <a:r>
              <a:rPr lang="en-US" altLang="en-US" sz="100" noProof="0" dirty="0">
                <a:solidFill>
                  <a:schemeClr val="tx1"/>
                </a:solidFill>
              </a:rPr>
              <a:t> </a:t>
            </a:r>
            <a:r>
              <a:rPr lang="en-US" altLang="en-US" sz="2000" noProof="0" dirty="0">
                <a:solidFill>
                  <a:schemeClr val="tx1"/>
                </a:solidFill>
              </a:rPr>
              <a:t>N</a:t>
            </a:r>
            <a:r>
              <a:rPr lang="en-US" altLang="en-US" sz="100" noProof="0" dirty="0">
                <a:solidFill>
                  <a:schemeClr val="tx1"/>
                </a:solidFill>
              </a:rPr>
              <a:t> </a:t>
            </a:r>
            <a:r>
              <a:rPr lang="en-US" altLang="en-US" sz="2000" noProof="0" dirty="0">
                <a:solidFill>
                  <a:schemeClr val="tx1"/>
                </a:solidFill>
              </a:rPr>
              <a:t>S</a:t>
            </a:r>
            <a:r>
              <a:rPr lang="en-US" altLang="en-US" sz="100" noProof="0" dirty="0">
                <a:solidFill>
                  <a:schemeClr val="tx1"/>
                </a:solidFill>
              </a:rPr>
              <a:t> </a:t>
            </a:r>
            <a:r>
              <a:rPr lang="en-US" altLang="en-US" sz="2000" noProof="0" dirty="0">
                <a:solidFill>
                  <a:schemeClr val="tx1"/>
                </a:solidFill>
              </a:rPr>
              <a:t>I standard updates in 1989, 1992, 1999, 2003, 2006, 2008, 2011, 2016</a:t>
            </a:r>
          </a:p>
          <a:p>
            <a:pPr eaLnBrk="1" hangingPunct="1"/>
            <a:r>
              <a:rPr lang="en-US" altLang="en-US" sz="2000" b="1" noProof="0" dirty="0">
                <a:solidFill>
                  <a:schemeClr val="tx1"/>
                </a:solidFill>
              </a:rPr>
              <a:t>Today</a:t>
            </a:r>
            <a:r>
              <a:rPr lang="en-US" sz="2000" noProof="0" dirty="0">
                <a:solidFill>
                  <a:schemeClr val="tx1"/>
                </a:solidFill>
              </a:rPr>
              <a:t>—</a:t>
            </a:r>
            <a:r>
              <a:rPr lang="en-US" altLang="en-US" sz="2000" noProof="0" dirty="0">
                <a:solidFill>
                  <a:schemeClr val="tx1"/>
                </a:solidFill>
              </a:rPr>
              <a:t>S</a:t>
            </a:r>
            <a:r>
              <a:rPr lang="en-US" altLang="en-US" sz="100" noProof="0" dirty="0">
                <a:solidFill>
                  <a:schemeClr val="tx1"/>
                </a:solidFill>
              </a:rPr>
              <a:t> </a:t>
            </a:r>
            <a:r>
              <a:rPr lang="en-US" altLang="en-US" sz="2000" noProof="0" dirty="0">
                <a:solidFill>
                  <a:schemeClr val="tx1"/>
                </a:solidFill>
              </a:rPr>
              <a:t>Q</a:t>
            </a:r>
            <a:r>
              <a:rPr lang="en-US" altLang="en-US" sz="100" noProof="0" dirty="0">
                <a:solidFill>
                  <a:schemeClr val="tx1"/>
                </a:solidFill>
              </a:rPr>
              <a:t> </a:t>
            </a:r>
            <a:r>
              <a:rPr lang="en-US" altLang="en-US" sz="2000" noProof="0" dirty="0">
                <a:solidFill>
                  <a:schemeClr val="tx1"/>
                </a:solidFill>
              </a:rPr>
              <a:t>L is supported by most major database vendors</a:t>
            </a:r>
          </a:p>
        </p:txBody>
      </p:sp>
    </p:spTree>
    <p:extLst>
      <p:ext uri="{BB962C8B-B14F-4D97-AF65-F5344CB8AC3E}">
        <p14:creationId xmlns:p14="http://schemas.microsoft.com/office/powerpoint/2010/main" val="22687166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194AB848-7059-4BF3-C9D9-9C8119B8A6D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Original Purpose of S</a:t>
            </a:r>
            <a:r>
              <a:rPr lang="en-US" sz="100" noProof="0" dirty="0"/>
              <a:t> </a:t>
            </a:r>
            <a:r>
              <a:rPr lang="en-US" noProof="0" dirty="0"/>
              <a:t>Q</a:t>
            </a:r>
            <a:r>
              <a:rPr lang="en-US" sz="100" noProof="0" dirty="0"/>
              <a:t> </a:t>
            </a:r>
            <a:r>
              <a:rPr lang="en-US" noProof="0" dirty="0"/>
              <a:t>L Standard</a:t>
            </a:r>
          </a:p>
        </p:txBody>
      </p:sp>
      <p:sp>
        <p:nvSpPr>
          <p:cNvPr id="3" name="Content Placeholder 2"/>
          <p:cNvSpPr>
            <a:spLocks noGrp="1"/>
          </p:cNvSpPr>
          <p:nvPr>
            <p:ph sz="quarter" idx="13"/>
          </p:nvPr>
        </p:nvSpPr>
        <p:spPr>
          <a:xfrm>
            <a:off x="457200" y="1554920"/>
            <a:ext cx="8232775" cy="3636000"/>
          </a:xfrm>
        </p:spPr>
        <p:txBody>
          <a:bodyPr/>
          <a:lstStyle/>
          <a:p>
            <a:pPr eaLnBrk="1" hangingPunct="1"/>
            <a:r>
              <a:rPr lang="en-US" altLang="en-US" sz="2200" noProof="0" dirty="0"/>
              <a:t>Specify syntax/semantics for data definition and manipulation</a:t>
            </a:r>
          </a:p>
          <a:p>
            <a:pPr eaLnBrk="1" hangingPunct="1"/>
            <a:r>
              <a:rPr lang="en-US" altLang="en-US" sz="2200" noProof="0" dirty="0"/>
              <a:t>Define data structures and basic operations</a:t>
            </a:r>
          </a:p>
          <a:p>
            <a:pPr eaLnBrk="1" hangingPunct="1"/>
            <a:r>
              <a:rPr lang="en-US" altLang="en-US" sz="2200" noProof="0" dirty="0"/>
              <a:t>Enable portability of database definition and application modules</a:t>
            </a:r>
          </a:p>
          <a:p>
            <a:pPr eaLnBrk="1" hangingPunct="1"/>
            <a:r>
              <a:rPr lang="en-US" altLang="en-US" sz="2200" noProof="0" dirty="0"/>
              <a:t>Specify minimal (level 1) and complete (level 2) standards</a:t>
            </a:r>
          </a:p>
          <a:p>
            <a:pPr eaLnBrk="1" hangingPunct="1"/>
            <a:r>
              <a:rPr lang="en-US" altLang="en-US" sz="2200" noProof="0" dirty="0"/>
              <a:t>Allow for later growth/enhancement to standard (referential integrity, transaction management, user-defined functions, extended join operations, national character sets)</a:t>
            </a:r>
          </a:p>
        </p:txBody>
      </p:sp>
    </p:spTree>
    <p:extLst>
      <p:ext uri="{BB962C8B-B14F-4D97-AF65-F5344CB8AC3E}">
        <p14:creationId xmlns:p14="http://schemas.microsoft.com/office/powerpoint/2010/main" val="3634765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75CE731-6C4A-8EFB-0A4D-BEDED4DF9CA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199" y="160507"/>
            <a:ext cx="8208000" cy="1207007"/>
          </a:xfrm>
        </p:spPr>
        <p:txBody>
          <a:bodyPr anchor="ctr"/>
          <a:lstStyle/>
          <a:p>
            <a:r>
              <a:rPr lang="en-US" noProof="0" dirty="0"/>
              <a:t>Benefits of a Standardized Relational Language</a:t>
            </a:r>
          </a:p>
        </p:txBody>
      </p:sp>
      <p:sp>
        <p:nvSpPr>
          <p:cNvPr id="3" name="Content Placeholder 2"/>
          <p:cNvSpPr>
            <a:spLocks noGrp="1"/>
          </p:cNvSpPr>
          <p:nvPr>
            <p:ph sz="quarter" idx="13"/>
          </p:nvPr>
        </p:nvSpPr>
        <p:spPr>
          <a:xfrm>
            <a:off x="457200" y="1554921"/>
            <a:ext cx="8232775" cy="3384000"/>
          </a:xfrm>
        </p:spPr>
        <p:txBody>
          <a:bodyPr/>
          <a:lstStyle/>
          <a:p>
            <a:pPr eaLnBrk="1" hangingPunct="1"/>
            <a:r>
              <a:rPr lang="en-US" altLang="en-US" noProof="0" dirty="0"/>
              <a:t>Reduced training costs</a:t>
            </a:r>
          </a:p>
          <a:p>
            <a:pPr eaLnBrk="1" hangingPunct="1"/>
            <a:r>
              <a:rPr lang="en-US" altLang="en-US" noProof="0" dirty="0"/>
              <a:t>Productivity</a:t>
            </a:r>
          </a:p>
          <a:p>
            <a:pPr eaLnBrk="1" hangingPunct="1"/>
            <a:r>
              <a:rPr lang="en-US" altLang="en-US" noProof="0" dirty="0"/>
              <a:t>Application portability</a:t>
            </a:r>
          </a:p>
          <a:p>
            <a:pPr eaLnBrk="1" hangingPunct="1"/>
            <a:r>
              <a:rPr lang="en-US" altLang="en-US" noProof="0" dirty="0"/>
              <a:t>Application longevity</a:t>
            </a:r>
          </a:p>
          <a:p>
            <a:pPr eaLnBrk="1" hangingPunct="1"/>
            <a:r>
              <a:rPr lang="en-US" altLang="en-US" noProof="0" dirty="0"/>
              <a:t>Reduced dependence on a single vendor</a:t>
            </a:r>
          </a:p>
          <a:p>
            <a:pPr eaLnBrk="1" hangingPunct="1"/>
            <a:r>
              <a:rPr lang="en-US" altLang="en-US" noProof="0" dirty="0"/>
              <a:t>Cross-system communication</a:t>
            </a:r>
          </a:p>
        </p:txBody>
      </p:sp>
    </p:spTree>
    <p:extLst>
      <p:ext uri="{BB962C8B-B14F-4D97-AF65-F5344CB8AC3E}">
        <p14:creationId xmlns:p14="http://schemas.microsoft.com/office/powerpoint/2010/main" val="17296134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1F4A26C-104E-1EF6-2145-3D4BB372214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a:t>
            </a:r>
            <a:r>
              <a:rPr lang="en-US" sz="100" noProof="0" dirty="0"/>
              <a:t> </a:t>
            </a:r>
            <a:r>
              <a:rPr lang="en-US" noProof="0" dirty="0"/>
              <a:t>Q</a:t>
            </a:r>
            <a:r>
              <a:rPr lang="en-US" sz="100" noProof="0" dirty="0"/>
              <a:t> </a:t>
            </a:r>
            <a:r>
              <a:rPr lang="en-US" noProof="0" dirty="0"/>
              <a:t>L Environment</a:t>
            </a:r>
          </a:p>
        </p:txBody>
      </p:sp>
      <p:sp>
        <p:nvSpPr>
          <p:cNvPr id="3" name="Content Placeholder 2"/>
          <p:cNvSpPr>
            <a:spLocks noGrp="1"/>
          </p:cNvSpPr>
          <p:nvPr>
            <p:ph sz="quarter" idx="13"/>
          </p:nvPr>
        </p:nvSpPr>
        <p:spPr>
          <a:xfrm>
            <a:off x="457200" y="1554921"/>
            <a:ext cx="8232775" cy="4537122"/>
          </a:xfrm>
        </p:spPr>
        <p:txBody>
          <a:bodyPr/>
          <a:lstStyle/>
          <a:p>
            <a:pPr>
              <a:spcBef>
                <a:spcPts val="600"/>
              </a:spcBef>
              <a:defRPr/>
            </a:pPr>
            <a:r>
              <a:rPr lang="en-US" sz="1800" noProof="0" dirty="0"/>
              <a:t>Catalog</a:t>
            </a:r>
          </a:p>
          <a:p>
            <a:pPr lvl="1">
              <a:defRPr/>
            </a:pPr>
            <a:r>
              <a:rPr lang="en-US" sz="1800" noProof="0" dirty="0"/>
              <a:t>A set of schemas that constitute the description of a database</a:t>
            </a:r>
          </a:p>
          <a:p>
            <a:pPr>
              <a:spcBef>
                <a:spcPts val="600"/>
              </a:spcBef>
              <a:defRPr/>
            </a:pPr>
            <a:r>
              <a:rPr lang="en-US" sz="1800" noProof="0" dirty="0"/>
              <a:t>Schema</a:t>
            </a:r>
          </a:p>
          <a:p>
            <a:pPr lvl="1">
              <a:defRPr/>
            </a:pPr>
            <a:r>
              <a:rPr lang="en-US" sz="1800" noProof="0" dirty="0"/>
              <a:t>The structure that contains descriptions of objects created by a user (base tables, views, constraints)</a:t>
            </a:r>
          </a:p>
          <a:p>
            <a:pPr>
              <a:spcBef>
                <a:spcPts val="600"/>
              </a:spcBef>
              <a:defRPr/>
            </a:pPr>
            <a:r>
              <a:rPr lang="en-US" sz="1800" noProof="0" dirty="0"/>
              <a:t>Data Definition Language (D</a:t>
            </a:r>
            <a:r>
              <a:rPr lang="en-US" sz="100" noProof="0" dirty="0"/>
              <a:t> </a:t>
            </a:r>
            <a:r>
              <a:rPr lang="en-US" sz="1800" noProof="0" dirty="0"/>
              <a:t>D</a:t>
            </a:r>
            <a:r>
              <a:rPr lang="en-US" sz="100" noProof="0" dirty="0"/>
              <a:t> </a:t>
            </a:r>
            <a:r>
              <a:rPr lang="en-US" sz="1800" noProof="0" dirty="0"/>
              <a:t>L)</a:t>
            </a:r>
          </a:p>
          <a:p>
            <a:pPr lvl="1">
              <a:defRPr/>
            </a:pPr>
            <a:r>
              <a:rPr lang="en-US" sz="1800" noProof="0" dirty="0"/>
              <a:t>Commands that define a database, including creating, altering, and dropping tables and establishing constraints</a:t>
            </a:r>
          </a:p>
          <a:p>
            <a:pPr>
              <a:spcBef>
                <a:spcPts val="600"/>
              </a:spcBef>
              <a:defRPr/>
            </a:pPr>
            <a:r>
              <a:rPr lang="en-US" sz="1800" noProof="0" dirty="0"/>
              <a:t>Data Manipulation Language (D</a:t>
            </a:r>
            <a:r>
              <a:rPr lang="en-US" sz="100" noProof="0" dirty="0"/>
              <a:t> </a:t>
            </a:r>
            <a:r>
              <a:rPr lang="en-US" sz="1800" noProof="0" dirty="0"/>
              <a:t>M</a:t>
            </a:r>
            <a:r>
              <a:rPr lang="en-US" sz="100" noProof="0" dirty="0"/>
              <a:t> </a:t>
            </a:r>
            <a:r>
              <a:rPr lang="en-US" sz="1800" noProof="0" dirty="0"/>
              <a:t>L)</a:t>
            </a:r>
          </a:p>
          <a:p>
            <a:pPr lvl="1">
              <a:defRPr/>
            </a:pPr>
            <a:r>
              <a:rPr lang="en-US" sz="1800" noProof="0" dirty="0"/>
              <a:t>Commands that maintain and query a database</a:t>
            </a:r>
          </a:p>
          <a:p>
            <a:pPr>
              <a:spcBef>
                <a:spcPts val="600"/>
              </a:spcBef>
              <a:defRPr/>
            </a:pPr>
            <a:r>
              <a:rPr lang="en-US" sz="1800" noProof="0" dirty="0"/>
              <a:t>Data Control Language (D</a:t>
            </a:r>
            <a:r>
              <a:rPr lang="en-US" sz="100" noProof="0" dirty="0"/>
              <a:t> </a:t>
            </a:r>
            <a:r>
              <a:rPr lang="en-US" sz="1800" noProof="0" dirty="0"/>
              <a:t>C</a:t>
            </a:r>
            <a:r>
              <a:rPr lang="en-US" sz="100" noProof="0" dirty="0"/>
              <a:t> </a:t>
            </a:r>
            <a:r>
              <a:rPr lang="en-US" sz="1800" noProof="0" dirty="0"/>
              <a:t>L)</a:t>
            </a:r>
          </a:p>
          <a:p>
            <a:pPr lvl="1">
              <a:defRPr/>
            </a:pPr>
            <a:r>
              <a:rPr lang="en-US" sz="1800" noProof="0" dirty="0"/>
              <a:t>Commands that control a database, including administering privileges and committing data</a:t>
            </a:r>
          </a:p>
        </p:txBody>
      </p:sp>
    </p:spTree>
    <p:extLst>
      <p:ext uri="{BB962C8B-B14F-4D97-AF65-F5344CB8AC3E}">
        <p14:creationId xmlns:p14="http://schemas.microsoft.com/office/powerpoint/2010/main" val="618822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6AE0CB0-FF6D-5F0D-D2CC-9F6CE30B3B4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29464"/>
            <a:ext cx="8316000" cy="1800000"/>
          </a:xfrm>
        </p:spPr>
        <p:txBody>
          <a:bodyPr anchor="ctr"/>
          <a:lstStyle/>
          <a:p>
            <a:r>
              <a:rPr lang="en-US" noProof="0" dirty="0"/>
              <a:t>Figure 5-1 A Simplified Schematic of a Typical S</a:t>
            </a:r>
            <a:r>
              <a:rPr lang="en-US" sz="100" noProof="0" dirty="0"/>
              <a:t> </a:t>
            </a:r>
            <a:r>
              <a:rPr lang="en-US" noProof="0" dirty="0"/>
              <a:t>Q</a:t>
            </a:r>
            <a:r>
              <a:rPr lang="en-US" sz="100" noProof="0" dirty="0"/>
              <a:t> </a:t>
            </a:r>
            <a:r>
              <a:rPr lang="en-US" noProof="0" dirty="0"/>
              <a:t>L Environment, as Described by the S</a:t>
            </a:r>
            <a:r>
              <a:rPr lang="en-US" sz="100" noProof="0" dirty="0"/>
              <a:t> </a:t>
            </a:r>
            <a:r>
              <a:rPr lang="en-US" noProof="0" dirty="0"/>
              <a:t>Q</a:t>
            </a:r>
            <a:r>
              <a:rPr lang="en-US" sz="100" noProof="0" dirty="0"/>
              <a:t> </a:t>
            </a:r>
            <a:r>
              <a:rPr lang="en-US" noProof="0" dirty="0"/>
              <a:t>L:2016 Standard</a:t>
            </a:r>
          </a:p>
        </p:txBody>
      </p:sp>
      <p:pic>
        <p:nvPicPr>
          <p:cNvPr id="6" name="Picture 5" descr="A simplified schematic of a typical S Q L environment, as described by the S Q L 2016 standards.&#10;&#10;For long description in Notes pane, press F6.">
            <a:extLst>
              <a:ext uri="{FF2B5EF4-FFF2-40B4-BE49-F238E27FC236}">
                <a16:creationId xmlns:a16="http://schemas.microsoft.com/office/drawing/2014/main" id="{017A574A-4693-06B6-FB87-75D92A95D95D}"/>
              </a:ext>
            </a:extLst>
          </p:cNvPr>
          <p:cNvPicPr>
            <a:picLocks noChangeAspect="1"/>
          </p:cNvPicPr>
          <p:nvPr/>
        </p:nvPicPr>
        <p:blipFill>
          <a:blip r:embed="rId3"/>
          <a:stretch>
            <a:fillRect/>
          </a:stretch>
        </p:blipFill>
        <p:spPr>
          <a:xfrm>
            <a:off x="1943424" y="2105248"/>
            <a:ext cx="6166433" cy="4215336"/>
          </a:xfrm>
          <a:prstGeom prst="rect">
            <a:avLst/>
          </a:prstGeom>
        </p:spPr>
      </p:pic>
    </p:spTree>
    <p:extLst>
      <p:ext uri="{BB962C8B-B14F-4D97-AF65-F5344CB8AC3E}">
        <p14:creationId xmlns:p14="http://schemas.microsoft.com/office/powerpoint/2010/main" val="1075747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C8B1AEF-A89F-F011-086D-78E7A669C29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a:t>
            </a:r>
            <a:r>
              <a:rPr lang="en-US" sz="100" noProof="0" dirty="0"/>
              <a:t> </a:t>
            </a:r>
            <a:r>
              <a:rPr lang="en-US" noProof="0" dirty="0"/>
              <a:t>Q</a:t>
            </a:r>
            <a:r>
              <a:rPr lang="en-US" sz="100" noProof="0" dirty="0"/>
              <a:t> </a:t>
            </a:r>
            <a:r>
              <a:rPr lang="en-US" noProof="0" dirty="0"/>
              <a:t>L Data Types</a:t>
            </a:r>
          </a:p>
        </p:txBody>
      </p:sp>
      <p:sp>
        <p:nvSpPr>
          <p:cNvPr id="3" name="Content Placeholder 2"/>
          <p:cNvSpPr>
            <a:spLocks noGrp="1"/>
          </p:cNvSpPr>
          <p:nvPr>
            <p:ph sz="quarter" idx="13"/>
          </p:nvPr>
        </p:nvSpPr>
        <p:spPr>
          <a:xfrm>
            <a:off x="457200" y="1554920"/>
            <a:ext cx="8232775" cy="4663335"/>
          </a:xfrm>
        </p:spPr>
        <p:txBody>
          <a:bodyPr/>
          <a:lstStyle/>
          <a:p>
            <a:pPr eaLnBrk="1" hangingPunct="1"/>
            <a:r>
              <a:rPr lang="en-US" altLang="en-US" sz="2200" noProof="0" dirty="0"/>
              <a:t>Strings</a:t>
            </a:r>
          </a:p>
          <a:p>
            <a:pPr lvl="1"/>
            <a:r>
              <a:rPr lang="en-US" altLang="en-US" sz="2200" noProof="0" dirty="0"/>
              <a:t>CHARACTER (n), CHARACTER VARYING (n)</a:t>
            </a:r>
          </a:p>
          <a:p>
            <a:pPr eaLnBrk="1" hangingPunct="1"/>
            <a:r>
              <a:rPr lang="en-US" altLang="en-US" sz="2200" noProof="0" dirty="0"/>
              <a:t>Binary</a:t>
            </a:r>
          </a:p>
          <a:p>
            <a:pPr lvl="1"/>
            <a:r>
              <a:rPr lang="en-US" altLang="en-US" sz="2200" noProof="0" dirty="0"/>
              <a:t>BINARY LARGE OBJECT (B</a:t>
            </a:r>
            <a:r>
              <a:rPr lang="en-US" altLang="en-US" sz="100" noProof="0" dirty="0"/>
              <a:t> </a:t>
            </a:r>
            <a:r>
              <a:rPr lang="en-US" altLang="en-US" sz="2200" noProof="0" dirty="0"/>
              <a:t>L</a:t>
            </a:r>
            <a:r>
              <a:rPr lang="en-US" altLang="en-US" sz="100" noProof="0" dirty="0"/>
              <a:t> </a:t>
            </a:r>
            <a:r>
              <a:rPr lang="en-US" altLang="en-US" sz="2200" noProof="0" dirty="0"/>
              <a:t>O</a:t>
            </a:r>
            <a:r>
              <a:rPr lang="en-US" altLang="en-US" sz="100" noProof="0" dirty="0"/>
              <a:t> </a:t>
            </a:r>
            <a:r>
              <a:rPr lang="en-US" altLang="en-US" sz="2200" noProof="0" dirty="0"/>
              <a:t>B)</a:t>
            </a:r>
          </a:p>
          <a:p>
            <a:pPr eaLnBrk="1" hangingPunct="1"/>
            <a:r>
              <a:rPr lang="en-US" altLang="en-US" sz="2200" noProof="0" dirty="0"/>
              <a:t>Number</a:t>
            </a:r>
          </a:p>
          <a:p>
            <a:pPr lvl="1"/>
            <a:r>
              <a:rPr lang="en-US" altLang="en-US" sz="2200" noProof="0" dirty="0"/>
              <a:t>NUMERIC (precision, scale), DECIMAL (p, s), INTEGER</a:t>
            </a:r>
          </a:p>
          <a:p>
            <a:pPr eaLnBrk="1" hangingPunct="1"/>
            <a:r>
              <a:rPr lang="en-US" altLang="en-US" sz="2200" noProof="0" dirty="0"/>
              <a:t>Temporal</a:t>
            </a:r>
          </a:p>
          <a:p>
            <a:pPr lvl="1"/>
            <a:r>
              <a:rPr lang="en-US" altLang="en-US" sz="2200" noProof="0" dirty="0"/>
              <a:t>TIMESTAMP, TIMESTAMP WITH LOCAL TIME ZONE</a:t>
            </a:r>
          </a:p>
          <a:p>
            <a:pPr eaLnBrk="1" hangingPunct="1"/>
            <a:r>
              <a:rPr lang="en-US" altLang="en-US" sz="2200" noProof="0" dirty="0"/>
              <a:t>Boolean</a:t>
            </a:r>
          </a:p>
          <a:p>
            <a:pPr lvl="1"/>
            <a:r>
              <a:rPr lang="en-US" altLang="en-US" sz="2200" noProof="0" dirty="0"/>
              <a:t>BOOLEAN</a:t>
            </a:r>
          </a:p>
        </p:txBody>
      </p:sp>
    </p:spTree>
    <p:extLst>
      <p:ext uri="{BB962C8B-B14F-4D97-AF65-F5344CB8AC3E}">
        <p14:creationId xmlns:p14="http://schemas.microsoft.com/office/powerpoint/2010/main" val="3577645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3D7B6D4-D709-412C-836F-AD124F342EF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88139"/>
            <a:ext cx="8229600" cy="1173479"/>
          </a:xfrm>
        </p:spPr>
        <p:txBody>
          <a:bodyPr anchor="ctr"/>
          <a:lstStyle/>
          <a:p>
            <a:r>
              <a:rPr lang="en-US" noProof="0" dirty="0"/>
              <a:t>Figure 5-4 D</a:t>
            </a:r>
            <a:r>
              <a:rPr lang="en-US" sz="100" noProof="0" dirty="0"/>
              <a:t> </a:t>
            </a:r>
            <a:r>
              <a:rPr lang="en-US" noProof="0" dirty="0"/>
              <a:t>D</a:t>
            </a:r>
            <a:r>
              <a:rPr lang="en-US" sz="100" noProof="0" dirty="0"/>
              <a:t> </a:t>
            </a:r>
            <a:r>
              <a:rPr lang="en-US" noProof="0" dirty="0"/>
              <a:t>L, D</a:t>
            </a:r>
            <a:r>
              <a:rPr lang="en-US" sz="100" noProof="0" dirty="0"/>
              <a:t> </a:t>
            </a:r>
            <a:r>
              <a:rPr lang="en-US" noProof="0" dirty="0"/>
              <a:t>M</a:t>
            </a:r>
            <a:r>
              <a:rPr lang="en-US" sz="100" noProof="0" dirty="0"/>
              <a:t> </a:t>
            </a:r>
            <a:r>
              <a:rPr lang="en-US" noProof="0" dirty="0"/>
              <a:t>L, D</a:t>
            </a:r>
            <a:r>
              <a:rPr lang="en-US" sz="100" noProof="0" dirty="0"/>
              <a:t> </a:t>
            </a:r>
            <a:r>
              <a:rPr lang="en-US" noProof="0" dirty="0"/>
              <a:t>C</a:t>
            </a:r>
            <a:r>
              <a:rPr lang="en-US" sz="100" noProof="0" dirty="0"/>
              <a:t> </a:t>
            </a:r>
            <a:r>
              <a:rPr lang="en-US" noProof="0" dirty="0"/>
              <a:t>L, and the Database Development Process</a:t>
            </a:r>
          </a:p>
        </p:txBody>
      </p:sp>
      <p:pic>
        <p:nvPicPr>
          <p:cNvPr id="6" name="Picture 5" descr="An illustration defines D D L, D M L, and D C L commands, along with indications where these commands are used.&#10;&#10;For long description in Notes pane, press F6.">
            <a:extLst>
              <a:ext uri="{FF2B5EF4-FFF2-40B4-BE49-F238E27FC236}">
                <a16:creationId xmlns:a16="http://schemas.microsoft.com/office/drawing/2014/main" id="{A0722F5A-FD82-3E38-498A-F389F66B2C66}"/>
              </a:ext>
            </a:extLst>
          </p:cNvPr>
          <p:cNvPicPr>
            <a:picLocks noChangeAspect="1"/>
          </p:cNvPicPr>
          <p:nvPr/>
        </p:nvPicPr>
        <p:blipFill>
          <a:blip r:embed="rId3"/>
          <a:stretch>
            <a:fillRect/>
          </a:stretch>
        </p:blipFill>
        <p:spPr>
          <a:xfrm>
            <a:off x="1096503" y="1663665"/>
            <a:ext cx="6950993" cy="4643046"/>
          </a:xfrm>
          <a:prstGeom prst="rect">
            <a:avLst/>
          </a:prstGeom>
        </p:spPr>
      </p:pic>
    </p:spTree>
    <p:extLst>
      <p:ext uri="{BB962C8B-B14F-4D97-AF65-F5344CB8AC3E}">
        <p14:creationId xmlns:p14="http://schemas.microsoft.com/office/powerpoint/2010/main" val="34980355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D3AC9AD-ADC7-D00A-8E3F-56BF84F1409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a:t>
            </a:r>
            <a:r>
              <a:rPr lang="en-US" sz="100" noProof="0" dirty="0"/>
              <a:t> </a:t>
            </a:r>
            <a:r>
              <a:rPr lang="en-US" noProof="0" dirty="0"/>
              <a:t>Q</a:t>
            </a:r>
            <a:r>
              <a:rPr lang="en-US" sz="100" noProof="0" dirty="0"/>
              <a:t> </a:t>
            </a:r>
            <a:r>
              <a:rPr lang="en-US" noProof="0" dirty="0"/>
              <a:t>L Database Definition</a:t>
            </a:r>
          </a:p>
        </p:txBody>
      </p:sp>
      <p:sp>
        <p:nvSpPr>
          <p:cNvPr id="3" name="Content Placeholder 2"/>
          <p:cNvSpPr>
            <a:spLocks noGrp="1"/>
          </p:cNvSpPr>
          <p:nvPr>
            <p:ph sz="quarter" idx="13"/>
          </p:nvPr>
        </p:nvSpPr>
        <p:spPr>
          <a:xfrm>
            <a:off x="457200" y="1554921"/>
            <a:ext cx="8232775" cy="4572000"/>
          </a:xfrm>
        </p:spPr>
        <p:txBody>
          <a:bodyPr/>
          <a:lstStyle/>
          <a:p>
            <a:pPr eaLnBrk="1" hangingPunct="1"/>
            <a:r>
              <a:rPr lang="en-US" altLang="en-US" noProof="0" dirty="0">
                <a:solidFill>
                  <a:schemeClr val="tx1"/>
                </a:solidFill>
              </a:rPr>
              <a:t>Major CREATE statements:</a:t>
            </a:r>
          </a:p>
          <a:p>
            <a:pPr lvl="1" eaLnBrk="1" hangingPunct="1"/>
            <a:r>
              <a:rPr lang="en-US" altLang="en-US" noProof="0" dirty="0">
                <a:solidFill>
                  <a:schemeClr val="tx1"/>
                </a:solidFill>
              </a:rPr>
              <a:t>CREATE SCHEMA</a:t>
            </a:r>
            <a:r>
              <a:rPr lang="en-US" noProof="0" dirty="0">
                <a:solidFill>
                  <a:schemeClr val="tx1"/>
                </a:solidFill>
              </a:rPr>
              <a:t>—</a:t>
            </a:r>
            <a:r>
              <a:rPr lang="en-US" altLang="en-US" noProof="0" dirty="0">
                <a:solidFill>
                  <a:schemeClr val="tx1"/>
                </a:solidFill>
              </a:rPr>
              <a:t>defines a portion of the database owned by a particular user</a:t>
            </a:r>
          </a:p>
          <a:p>
            <a:pPr lvl="1" eaLnBrk="1" hangingPunct="1"/>
            <a:r>
              <a:rPr lang="en-US" altLang="en-US" noProof="0" dirty="0">
                <a:solidFill>
                  <a:schemeClr val="tx1"/>
                </a:solidFill>
              </a:rPr>
              <a:t>CREATE TABLE</a:t>
            </a:r>
            <a:r>
              <a:rPr lang="en-US" noProof="0" dirty="0">
                <a:solidFill>
                  <a:schemeClr val="tx1"/>
                </a:solidFill>
              </a:rPr>
              <a:t>—</a:t>
            </a:r>
            <a:r>
              <a:rPr lang="en-US" altLang="en-US" noProof="0" dirty="0">
                <a:solidFill>
                  <a:schemeClr val="tx1"/>
                </a:solidFill>
              </a:rPr>
              <a:t>defines a new table and its columns</a:t>
            </a:r>
          </a:p>
          <a:p>
            <a:pPr lvl="1" eaLnBrk="1" hangingPunct="1"/>
            <a:r>
              <a:rPr lang="en-US" altLang="en-US" noProof="0" dirty="0">
                <a:solidFill>
                  <a:schemeClr val="tx1"/>
                </a:solidFill>
              </a:rPr>
              <a:t>CREATE VIEW</a:t>
            </a:r>
            <a:r>
              <a:rPr lang="en-US" noProof="0" dirty="0">
                <a:solidFill>
                  <a:schemeClr val="tx1"/>
                </a:solidFill>
              </a:rPr>
              <a:t>—</a:t>
            </a:r>
            <a:r>
              <a:rPr lang="en-US" altLang="en-US" noProof="0" dirty="0">
                <a:solidFill>
                  <a:schemeClr val="tx1"/>
                </a:solidFill>
              </a:rPr>
              <a:t>defines a logical table from one or more tables or views</a:t>
            </a:r>
          </a:p>
          <a:p>
            <a:pPr lvl="1"/>
            <a:r>
              <a:rPr lang="en-US" altLang="en-US" noProof="0" dirty="0">
                <a:solidFill>
                  <a:schemeClr val="tx1"/>
                </a:solidFill>
              </a:rPr>
              <a:t>CREATE INDEX</a:t>
            </a:r>
            <a:r>
              <a:rPr lang="en-US" noProof="0" dirty="0">
                <a:solidFill>
                  <a:schemeClr val="tx1"/>
                </a:solidFill>
              </a:rPr>
              <a:t>—</a:t>
            </a:r>
            <a:r>
              <a:rPr lang="en-US" altLang="en-US" noProof="0" dirty="0">
                <a:solidFill>
                  <a:schemeClr val="tx1"/>
                </a:solidFill>
              </a:rPr>
              <a:t>creates a separate data structure </a:t>
            </a:r>
          </a:p>
          <a:p>
            <a:pPr lvl="1"/>
            <a:r>
              <a:rPr lang="en-US" altLang="en-US" noProof="0" dirty="0">
                <a:solidFill>
                  <a:schemeClr val="tx1"/>
                </a:solidFill>
              </a:rPr>
              <a:t>Other CREATE statements: CHARACTER SET, COLLATION, TRANSLATION, ASSERTION, DOMAIN</a:t>
            </a:r>
          </a:p>
        </p:txBody>
      </p:sp>
    </p:spTree>
    <p:extLst>
      <p:ext uri="{BB962C8B-B14F-4D97-AF65-F5344CB8AC3E}">
        <p14:creationId xmlns:p14="http://schemas.microsoft.com/office/powerpoint/2010/main" val="4578748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E1FB94F-98C0-EA01-7805-8B6FD8205A46}"/>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Steps in Table Creation</a:t>
            </a:r>
          </a:p>
        </p:txBody>
      </p:sp>
      <p:sp>
        <p:nvSpPr>
          <p:cNvPr id="3" name="Content Placeholder 2"/>
          <p:cNvSpPr>
            <a:spLocks noGrp="1"/>
          </p:cNvSpPr>
          <p:nvPr>
            <p:ph sz="quarter" idx="13"/>
          </p:nvPr>
        </p:nvSpPr>
        <p:spPr>
          <a:xfrm>
            <a:off x="457200" y="1554920"/>
            <a:ext cx="8232775" cy="4135875"/>
          </a:xfrm>
        </p:spPr>
        <p:txBody>
          <a:bodyPr/>
          <a:lstStyle/>
          <a:p>
            <a:pPr marL="432000" lvl="0" indent="-432000" fontAlgn="base">
              <a:spcAft>
                <a:spcPct val="0"/>
              </a:spcAft>
              <a:buClr>
                <a:schemeClr val="tx2"/>
              </a:buClr>
              <a:buSzTx/>
              <a:buFont typeface="+mj-lt"/>
              <a:buAutoNum type="arabicPeriod"/>
              <a:defRPr/>
            </a:pPr>
            <a:r>
              <a:rPr lang="en-US" kern="1200" noProof="0" dirty="0">
                <a:solidFill>
                  <a:srgbClr val="000000"/>
                </a:solidFill>
                <a:cs typeface="Tahoma" pitchFamily="34" charset="0"/>
              </a:rPr>
              <a:t>Identify data types for attributes</a:t>
            </a:r>
          </a:p>
          <a:p>
            <a:pPr marL="432000" lvl="0" indent="-432000" fontAlgn="base">
              <a:spcAft>
                <a:spcPct val="0"/>
              </a:spcAft>
              <a:buClr>
                <a:schemeClr val="tx2"/>
              </a:buClr>
              <a:buSzTx/>
              <a:buFont typeface="+mj-lt"/>
              <a:buAutoNum type="arabicPeriod"/>
              <a:defRPr/>
            </a:pPr>
            <a:r>
              <a:rPr lang="en-US" kern="1200" noProof="0" dirty="0">
                <a:solidFill>
                  <a:srgbClr val="000000"/>
                </a:solidFill>
                <a:cs typeface="Tahoma" pitchFamily="34" charset="0"/>
              </a:rPr>
              <a:t>Identify columns that can and cannot be null</a:t>
            </a:r>
          </a:p>
          <a:p>
            <a:pPr marL="432000" lvl="0" indent="-432000" fontAlgn="base">
              <a:spcAft>
                <a:spcPct val="0"/>
              </a:spcAft>
              <a:buClr>
                <a:schemeClr val="tx2"/>
              </a:buClr>
              <a:buSzTx/>
              <a:buFont typeface="+mj-lt"/>
              <a:buAutoNum type="arabicPeriod"/>
              <a:defRPr/>
            </a:pPr>
            <a:r>
              <a:rPr lang="en-US" kern="1200" noProof="0" dirty="0">
                <a:solidFill>
                  <a:srgbClr val="000000"/>
                </a:solidFill>
                <a:cs typeface="Tahoma" pitchFamily="34" charset="0"/>
              </a:rPr>
              <a:t>Identify columns that must be unique (candidate keys)</a:t>
            </a:r>
          </a:p>
          <a:p>
            <a:pPr marL="432000" lvl="0" indent="-432000" fontAlgn="base">
              <a:spcAft>
                <a:spcPct val="0"/>
              </a:spcAft>
              <a:buClr>
                <a:schemeClr val="tx2"/>
              </a:buClr>
              <a:buSzTx/>
              <a:buFont typeface="+mj-lt"/>
              <a:buAutoNum type="arabicPeriod"/>
              <a:defRPr/>
            </a:pPr>
            <a:r>
              <a:rPr lang="en-US" kern="1200" noProof="0" dirty="0">
                <a:solidFill>
                  <a:srgbClr val="000000"/>
                </a:solidFill>
                <a:cs typeface="Tahoma" pitchFamily="34" charset="0"/>
              </a:rPr>
              <a:t>Identify primary key–foreign key mates</a:t>
            </a:r>
          </a:p>
          <a:p>
            <a:pPr marL="432000" lvl="0" indent="-432000" fontAlgn="base">
              <a:spcAft>
                <a:spcPct val="0"/>
              </a:spcAft>
              <a:buClr>
                <a:schemeClr val="tx2"/>
              </a:buClr>
              <a:buSzTx/>
              <a:buFont typeface="+mj-lt"/>
              <a:buAutoNum type="arabicPeriod"/>
              <a:defRPr/>
            </a:pPr>
            <a:r>
              <a:rPr lang="en-US" kern="1200" noProof="0" dirty="0">
                <a:solidFill>
                  <a:srgbClr val="000000"/>
                </a:solidFill>
                <a:cs typeface="Tahoma" pitchFamily="34" charset="0"/>
              </a:rPr>
              <a:t>Determine default values</a:t>
            </a:r>
          </a:p>
          <a:p>
            <a:pPr marL="432000" lvl="0" indent="-432000" fontAlgn="base">
              <a:spcAft>
                <a:spcPct val="0"/>
              </a:spcAft>
              <a:buClr>
                <a:schemeClr val="tx2"/>
              </a:buClr>
              <a:buSzTx/>
              <a:buFont typeface="+mj-lt"/>
              <a:buAutoNum type="arabicPeriod"/>
              <a:defRPr/>
            </a:pPr>
            <a:r>
              <a:rPr lang="en-US" kern="1200" noProof="0" dirty="0">
                <a:solidFill>
                  <a:srgbClr val="000000"/>
                </a:solidFill>
                <a:cs typeface="Tahoma" pitchFamily="34" charset="0"/>
              </a:rPr>
              <a:t>Identify constraints on columns (domain specifications)</a:t>
            </a:r>
          </a:p>
          <a:p>
            <a:pPr marL="432000" lvl="0" indent="-432000" fontAlgn="base">
              <a:spcAft>
                <a:spcPct val="0"/>
              </a:spcAft>
              <a:buClr>
                <a:schemeClr val="tx2"/>
              </a:buClr>
              <a:buSzTx/>
              <a:buFont typeface="+mj-lt"/>
              <a:buAutoNum type="arabicPeriod"/>
              <a:defRPr/>
            </a:pPr>
            <a:r>
              <a:rPr lang="en-US" kern="1200" noProof="0" dirty="0">
                <a:solidFill>
                  <a:srgbClr val="000000"/>
                </a:solidFill>
                <a:cs typeface="Tahoma" pitchFamily="34" charset="0"/>
              </a:rPr>
              <a:t>Create the table and associated indexes</a:t>
            </a:r>
          </a:p>
        </p:txBody>
      </p:sp>
    </p:spTree>
    <p:extLst>
      <p:ext uri="{BB962C8B-B14F-4D97-AF65-F5344CB8AC3E}">
        <p14:creationId xmlns:p14="http://schemas.microsoft.com/office/powerpoint/2010/main" val="6420874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EF11BD1A-3091-D90B-A5CF-1C0170B97A4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9173"/>
            <a:ext cx="8229600" cy="1780370"/>
          </a:xfrm>
        </p:spPr>
        <p:txBody>
          <a:bodyPr anchor="ctr"/>
          <a:lstStyle/>
          <a:p>
            <a:r>
              <a:rPr lang="en-US" noProof="0" dirty="0"/>
              <a:t>Figure 5-5 General Syntax of the CREATE TABLE Statement Used in Data Definition Language</a:t>
            </a:r>
          </a:p>
        </p:txBody>
      </p:sp>
      <p:pic>
        <p:nvPicPr>
          <p:cNvPr id="6" name="Picture 5" descr="An illustration depicts the general syntax of the CREATE TABLE statement used in data definition language.&#10;&#10;For long description in Notes pane, press F6.">
            <a:extLst>
              <a:ext uri="{FF2B5EF4-FFF2-40B4-BE49-F238E27FC236}">
                <a16:creationId xmlns:a16="http://schemas.microsoft.com/office/drawing/2014/main" id="{893D6759-23C9-4415-184F-8EB16F46C367}"/>
              </a:ext>
            </a:extLst>
          </p:cNvPr>
          <p:cNvPicPr>
            <a:picLocks noChangeAspect="1"/>
          </p:cNvPicPr>
          <p:nvPr/>
        </p:nvPicPr>
        <p:blipFill>
          <a:blip r:embed="rId3"/>
          <a:stretch>
            <a:fillRect/>
          </a:stretch>
        </p:blipFill>
        <p:spPr>
          <a:xfrm>
            <a:off x="569524" y="2307269"/>
            <a:ext cx="8022654" cy="3361054"/>
          </a:xfrm>
          <a:prstGeom prst="rect">
            <a:avLst/>
          </a:prstGeom>
        </p:spPr>
      </p:pic>
    </p:spTree>
    <p:extLst>
      <p:ext uri="{BB962C8B-B14F-4D97-AF65-F5344CB8AC3E}">
        <p14:creationId xmlns:p14="http://schemas.microsoft.com/office/powerpoint/2010/main" val="3792810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6605DEF-CD61-55C6-C702-B7403C5ECCD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52566"/>
            <a:ext cx="8229600" cy="1752625"/>
          </a:xfrm>
        </p:spPr>
        <p:txBody>
          <a:bodyPr anchor="ctr"/>
          <a:lstStyle/>
          <a:p>
            <a:r>
              <a:rPr lang="en-US" noProof="0" dirty="0"/>
              <a:t>Figure 5-6 S</a:t>
            </a:r>
            <a:r>
              <a:rPr lang="en-US" sz="100" noProof="0" dirty="0"/>
              <a:t> </a:t>
            </a:r>
            <a:r>
              <a:rPr lang="en-US" noProof="0" dirty="0"/>
              <a:t>Q</a:t>
            </a:r>
            <a:r>
              <a:rPr lang="en-US" sz="100" noProof="0" dirty="0"/>
              <a:t> </a:t>
            </a:r>
            <a:r>
              <a:rPr lang="en-US" noProof="0" dirty="0"/>
              <a:t>L Database Definition Commands for Pine Valley Furniture Company (Oracle 19c)</a:t>
            </a:r>
          </a:p>
        </p:txBody>
      </p:sp>
      <p:pic>
        <p:nvPicPr>
          <p:cNvPr id="6" name="Picture 5" descr="A table displays S Q L database definition commands for Pine Valley Furniture Company, Oracle 19 c.&#10;&#10;For long description in Notes pane, press F6.">
            <a:extLst>
              <a:ext uri="{FF2B5EF4-FFF2-40B4-BE49-F238E27FC236}">
                <a16:creationId xmlns:a16="http://schemas.microsoft.com/office/drawing/2014/main" id="{E4C0C915-0965-541F-94B3-05343279F341}"/>
              </a:ext>
            </a:extLst>
          </p:cNvPr>
          <p:cNvPicPr>
            <a:picLocks noChangeAspect="1"/>
          </p:cNvPicPr>
          <p:nvPr/>
        </p:nvPicPr>
        <p:blipFill>
          <a:blip r:embed="rId3"/>
          <a:stretch>
            <a:fillRect/>
          </a:stretch>
        </p:blipFill>
        <p:spPr>
          <a:xfrm>
            <a:off x="1823711" y="2031271"/>
            <a:ext cx="6023121" cy="4258773"/>
          </a:xfrm>
          <a:prstGeom prst="rect">
            <a:avLst/>
          </a:prstGeom>
        </p:spPr>
      </p:pic>
    </p:spTree>
    <p:extLst>
      <p:ext uri="{BB962C8B-B14F-4D97-AF65-F5344CB8AC3E}">
        <p14:creationId xmlns:p14="http://schemas.microsoft.com/office/powerpoint/2010/main" val="90619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516376D-F834-AC4E-AF38-41492828A86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Creating Data Integrity Controls</a:t>
            </a:r>
          </a:p>
        </p:txBody>
      </p:sp>
      <p:sp>
        <p:nvSpPr>
          <p:cNvPr id="4" name="Content Placeholder 3"/>
          <p:cNvSpPr>
            <a:spLocks noGrp="1"/>
          </p:cNvSpPr>
          <p:nvPr>
            <p:ph sz="quarter" idx="13"/>
          </p:nvPr>
        </p:nvSpPr>
        <p:spPr>
          <a:xfrm>
            <a:off x="457200" y="1554920"/>
            <a:ext cx="8232775" cy="2592000"/>
          </a:xfrm>
        </p:spPr>
        <p:txBody>
          <a:bodyPr/>
          <a:lstStyle/>
          <a:p>
            <a:r>
              <a:rPr lang="en-US" altLang="en-US" noProof="0" dirty="0">
                <a:solidFill>
                  <a:schemeClr val="tx1"/>
                </a:solidFill>
              </a:rPr>
              <a:t>Referential integrity</a:t>
            </a:r>
            <a:r>
              <a:rPr lang="en-US" noProof="0" dirty="0">
                <a:solidFill>
                  <a:schemeClr val="tx1"/>
                </a:solidFill>
              </a:rPr>
              <a:t>—</a:t>
            </a:r>
            <a:r>
              <a:rPr lang="en-US" altLang="en-US" noProof="0" dirty="0">
                <a:solidFill>
                  <a:schemeClr val="tx1"/>
                </a:solidFill>
              </a:rPr>
              <a:t>means that a value in the matching column on the many side must correspond to a value in the primary key or be NULL</a:t>
            </a:r>
          </a:p>
          <a:p>
            <a:pPr eaLnBrk="1" hangingPunct="1"/>
            <a:r>
              <a:rPr lang="en-US" altLang="en-US" noProof="0" dirty="0">
                <a:solidFill>
                  <a:schemeClr val="tx1"/>
                </a:solidFill>
              </a:rPr>
              <a:t>The S</a:t>
            </a:r>
            <a:r>
              <a:rPr lang="en-US" altLang="en-US" sz="100" noProof="0" dirty="0">
                <a:solidFill>
                  <a:schemeClr val="tx1"/>
                </a:solidFill>
              </a:rPr>
              <a:t> </a:t>
            </a:r>
            <a:r>
              <a:rPr lang="en-US" altLang="en-US" noProof="0" dirty="0">
                <a:solidFill>
                  <a:schemeClr val="tx1"/>
                </a:solidFill>
              </a:rPr>
              <a:t>Q</a:t>
            </a:r>
            <a:r>
              <a:rPr lang="en-US" altLang="en-US" sz="100" noProof="0" dirty="0">
                <a:solidFill>
                  <a:schemeClr val="tx1"/>
                </a:solidFill>
              </a:rPr>
              <a:t> </a:t>
            </a:r>
            <a:r>
              <a:rPr lang="en-US" altLang="en-US" noProof="0" dirty="0">
                <a:solidFill>
                  <a:schemeClr val="tx1"/>
                </a:solidFill>
              </a:rPr>
              <a:t>L REFERENCES clause prevents a foreign key value from being added if it is not already a valid value in the referenced primary key column</a:t>
            </a:r>
            <a:endParaRPr lang="en-US" noProof="0" dirty="0">
              <a:solidFill>
                <a:schemeClr val="tx1"/>
              </a:solidFill>
            </a:endParaRPr>
          </a:p>
        </p:txBody>
      </p:sp>
    </p:spTree>
    <p:extLst>
      <p:ext uri="{BB962C8B-B14F-4D97-AF65-F5344CB8AC3E}">
        <p14:creationId xmlns:p14="http://schemas.microsoft.com/office/powerpoint/2010/main" val="10664079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27EDE36-A5DE-C14D-F8A7-5DE835DB5D4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88139"/>
            <a:ext cx="8229600" cy="1173479"/>
          </a:xfrm>
        </p:spPr>
        <p:txBody>
          <a:bodyPr anchor="ctr"/>
          <a:lstStyle/>
          <a:p>
            <a:r>
              <a:rPr lang="en-US" noProof="0" dirty="0"/>
              <a:t>Figure 5-7 Ensuring Data Integrity Through Updates</a:t>
            </a:r>
          </a:p>
        </p:txBody>
      </p:sp>
      <p:sp>
        <p:nvSpPr>
          <p:cNvPr id="6" name="Content Placeholder 5"/>
          <p:cNvSpPr>
            <a:spLocks noGrp="1"/>
          </p:cNvSpPr>
          <p:nvPr>
            <p:ph type="body" idx="1"/>
          </p:nvPr>
        </p:nvSpPr>
        <p:spPr>
          <a:xfrm>
            <a:off x="457200" y="1583097"/>
            <a:ext cx="8229600" cy="432000"/>
          </a:xfrm>
        </p:spPr>
        <p:txBody>
          <a:bodyPr/>
          <a:lstStyle/>
          <a:p>
            <a:pPr marL="0" indent="0">
              <a:buNone/>
            </a:pPr>
            <a:r>
              <a:rPr lang="en-US" sz="2000" noProof="0" dirty="0">
                <a:latin typeface="+mn-lt"/>
              </a:rPr>
              <a:t>Relational integrity is enforced via the primary-key to foreign-key match</a:t>
            </a:r>
          </a:p>
        </p:txBody>
      </p:sp>
      <p:pic>
        <p:nvPicPr>
          <p:cNvPr id="5" name="Picture 4" descr="An illustration shows how data integrity can be ensured through updates. For long description in Notes pane, press F6.">
            <a:extLst>
              <a:ext uri="{FF2B5EF4-FFF2-40B4-BE49-F238E27FC236}">
                <a16:creationId xmlns:a16="http://schemas.microsoft.com/office/drawing/2014/main" id="{6A058F1A-B4B9-4932-9B82-18816F7CDD36}"/>
              </a:ext>
            </a:extLst>
          </p:cNvPr>
          <p:cNvPicPr>
            <a:picLocks noChangeAspect="1"/>
          </p:cNvPicPr>
          <p:nvPr/>
        </p:nvPicPr>
        <p:blipFill>
          <a:blip r:embed="rId3"/>
          <a:stretch>
            <a:fillRect/>
          </a:stretch>
        </p:blipFill>
        <p:spPr>
          <a:xfrm>
            <a:off x="2121052" y="2168869"/>
            <a:ext cx="4986960" cy="4115157"/>
          </a:xfrm>
          <a:prstGeom prst="rect">
            <a:avLst/>
          </a:prstGeom>
        </p:spPr>
      </p:pic>
    </p:spTree>
    <p:extLst>
      <p:ext uri="{BB962C8B-B14F-4D97-AF65-F5344CB8AC3E}">
        <p14:creationId xmlns:p14="http://schemas.microsoft.com/office/powerpoint/2010/main" val="19023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9B259D7-4C51-F6CF-B586-7D4243FAFE17}"/>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Changing Table Definitions</a:t>
            </a:r>
          </a:p>
        </p:txBody>
      </p:sp>
      <p:sp>
        <p:nvSpPr>
          <p:cNvPr id="3" name="Content Placeholder 2"/>
          <p:cNvSpPr>
            <a:spLocks noGrp="1"/>
          </p:cNvSpPr>
          <p:nvPr>
            <p:ph sz="quarter" idx="13"/>
          </p:nvPr>
        </p:nvSpPr>
        <p:spPr>
          <a:xfrm>
            <a:off x="457200" y="1554920"/>
            <a:ext cx="8232775" cy="4572000"/>
          </a:xfrm>
        </p:spPr>
        <p:txBody>
          <a:bodyPr/>
          <a:lstStyle/>
          <a:p>
            <a:r>
              <a:rPr lang="en-US" altLang="en-US" noProof="0" dirty="0"/>
              <a:t>ALTER TABLE statement allows you to change column specifications:</a:t>
            </a:r>
          </a:p>
          <a:p>
            <a:pPr lvl="1"/>
            <a:r>
              <a:rPr lang="en-US" noProof="0" dirty="0"/>
              <a:t>ALTER TABLE table_name alter_table_action;</a:t>
            </a:r>
          </a:p>
          <a:p>
            <a:r>
              <a:rPr lang="en-US" altLang="en-US" noProof="0" dirty="0"/>
              <a:t>Table Actions:</a:t>
            </a:r>
          </a:p>
          <a:p>
            <a:pPr lvl="1"/>
            <a:r>
              <a:rPr lang="en-US" noProof="0" dirty="0"/>
              <a:t>ADD [COLUMN] column_definition</a:t>
            </a:r>
          </a:p>
          <a:p>
            <a:pPr lvl="1"/>
            <a:r>
              <a:rPr lang="en-US" noProof="0" dirty="0"/>
              <a:t>ALTER [COLUMN] column_name SET DEFAULT default-value</a:t>
            </a:r>
          </a:p>
          <a:p>
            <a:r>
              <a:rPr lang="en-US" altLang="en-US" noProof="0" dirty="0"/>
              <a:t>Example (adding a new column with a default value):</a:t>
            </a:r>
          </a:p>
          <a:p>
            <a:pPr lvl="1"/>
            <a:r>
              <a:rPr lang="en-US" noProof="0" dirty="0"/>
              <a:t>ALTER TABLE CUSTOMER_T ADD CustomerType VARCHAR2 (10) DEFAULT ‘Commercial’;</a:t>
            </a:r>
            <a:endParaRPr lang="en-US" altLang="en-US" noProof="0" dirty="0"/>
          </a:p>
        </p:txBody>
      </p:sp>
    </p:spTree>
    <p:extLst>
      <p:ext uri="{BB962C8B-B14F-4D97-AF65-F5344CB8AC3E}">
        <p14:creationId xmlns:p14="http://schemas.microsoft.com/office/powerpoint/2010/main" val="28535066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0BB2346-2AA3-D706-EC77-362582FF66B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Removing Tables</a:t>
            </a:r>
          </a:p>
        </p:txBody>
      </p:sp>
      <p:sp>
        <p:nvSpPr>
          <p:cNvPr id="3" name="Content Placeholder 2"/>
          <p:cNvSpPr>
            <a:spLocks noGrp="1"/>
          </p:cNvSpPr>
          <p:nvPr>
            <p:ph sz="quarter" idx="13"/>
          </p:nvPr>
        </p:nvSpPr>
        <p:spPr>
          <a:xfrm>
            <a:off x="457200" y="1554921"/>
            <a:ext cx="8232775" cy="1666262"/>
          </a:xfrm>
        </p:spPr>
        <p:txBody>
          <a:bodyPr/>
          <a:lstStyle/>
          <a:p>
            <a:r>
              <a:rPr lang="en-US" altLang="en-US" noProof="0" dirty="0"/>
              <a:t>DROP TABLE statement allows you to remove tables from your schema:</a:t>
            </a:r>
          </a:p>
          <a:p>
            <a:pPr lvl="1"/>
            <a:r>
              <a:rPr lang="en-US" noProof="0" dirty="0"/>
              <a:t>DROP TABLE Customer_T</a:t>
            </a:r>
          </a:p>
        </p:txBody>
      </p:sp>
    </p:spTree>
    <p:extLst>
      <p:ext uri="{BB962C8B-B14F-4D97-AF65-F5344CB8AC3E}">
        <p14:creationId xmlns:p14="http://schemas.microsoft.com/office/powerpoint/2010/main" val="21403208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A6F16A50-91F6-DDE8-1FF0-129ED94E0F5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INSERT Statement</a:t>
            </a:r>
          </a:p>
        </p:txBody>
      </p:sp>
      <p:sp>
        <p:nvSpPr>
          <p:cNvPr id="3" name="Content Placeholder 2"/>
          <p:cNvSpPr>
            <a:spLocks noGrp="1"/>
          </p:cNvSpPr>
          <p:nvPr>
            <p:ph sz="quarter" idx="13"/>
          </p:nvPr>
        </p:nvSpPr>
        <p:spPr>
          <a:xfrm>
            <a:off x="457200" y="1554920"/>
            <a:ext cx="8232775" cy="4752000"/>
          </a:xfrm>
        </p:spPr>
        <p:txBody>
          <a:bodyPr/>
          <a:lstStyle/>
          <a:p>
            <a:r>
              <a:rPr lang="en-US" altLang="en-US" sz="2000" noProof="0" dirty="0">
                <a:cs typeface="Arial" panose="020B0604020202020204" pitchFamily="34" charset="0"/>
              </a:rPr>
              <a:t>Inserting into a table:</a:t>
            </a:r>
          </a:p>
          <a:p>
            <a:pPr lvl="1"/>
            <a:r>
              <a:rPr lang="en-US" sz="2000" noProof="0" dirty="0"/>
              <a:t>INSERT INTO Customer_T VALUES</a:t>
            </a:r>
            <a:br>
              <a:rPr lang="en-US" sz="2000" noProof="0" dirty="0"/>
            </a:br>
            <a:r>
              <a:rPr lang="en-US" sz="2000" noProof="0" dirty="0"/>
              <a:t>(001, ‘Contemporary Casuals’, ‘1355 S. Himes Blvd.’, ‘Gainesville’, ‘F</a:t>
            </a:r>
            <a:r>
              <a:rPr lang="en-US" sz="200" noProof="0" dirty="0"/>
              <a:t> </a:t>
            </a:r>
            <a:r>
              <a:rPr lang="en-US" sz="2000" noProof="0" dirty="0"/>
              <a:t>L’, ‘32601’);</a:t>
            </a:r>
          </a:p>
          <a:p>
            <a:r>
              <a:rPr lang="en-US" altLang="en-US" sz="2000" noProof="0" dirty="0">
                <a:cs typeface="Arial" panose="020B0604020202020204" pitchFamily="34" charset="0"/>
              </a:rPr>
              <a:t>Inserting a record that has some null attributes requires identifying the fields that actually get data:</a:t>
            </a:r>
          </a:p>
          <a:p>
            <a:pPr lvl="1"/>
            <a:r>
              <a:rPr lang="en-US" sz="2000" noProof="0" dirty="0"/>
              <a:t>INSERT INTO Product_T (Product</a:t>
            </a:r>
            <a:r>
              <a:rPr lang="en-US" sz="200" noProof="0" dirty="0"/>
              <a:t> </a:t>
            </a:r>
            <a:r>
              <a:rPr lang="en-US" sz="2000" noProof="0" dirty="0"/>
              <a:t>I</a:t>
            </a:r>
            <a:r>
              <a:rPr lang="en-US" sz="200" noProof="0" dirty="0"/>
              <a:t> </a:t>
            </a:r>
            <a:r>
              <a:rPr lang="en-US" sz="2000" noProof="0" dirty="0"/>
              <a:t>D, </a:t>
            </a:r>
            <a:br>
              <a:rPr lang="en-US" sz="2000" noProof="0" dirty="0"/>
            </a:br>
            <a:r>
              <a:rPr lang="en-US" sz="2000" noProof="0" dirty="0"/>
              <a:t>Product</a:t>
            </a:r>
            <a:r>
              <a:rPr lang="en-US" sz="200" noProof="0" dirty="0"/>
              <a:t> </a:t>
            </a:r>
            <a:r>
              <a:rPr lang="en-US" sz="2000" noProof="0" dirty="0"/>
              <a:t>Description, Product</a:t>
            </a:r>
            <a:r>
              <a:rPr lang="en-US" sz="200" noProof="0" dirty="0"/>
              <a:t> </a:t>
            </a:r>
            <a:r>
              <a:rPr lang="en-US" sz="2000" noProof="0" dirty="0"/>
              <a:t>Finish, Product</a:t>
            </a:r>
            <a:r>
              <a:rPr lang="en-US" sz="200" noProof="0" dirty="0"/>
              <a:t> </a:t>
            </a:r>
            <a:r>
              <a:rPr lang="en-US" sz="2000" noProof="0" dirty="0"/>
              <a:t>Standard</a:t>
            </a:r>
            <a:r>
              <a:rPr lang="en-US" sz="200" noProof="0" dirty="0"/>
              <a:t> </a:t>
            </a:r>
            <a:r>
              <a:rPr lang="en-US" sz="2000" noProof="0" dirty="0"/>
              <a:t>Price)</a:t>
            </a:r>
            <a:br>
              <a:rPr lang="en-US" sz="2000" noProof="0" dirty="0"/>
            </a:br>
            <a:r>
              <a:rPr lang="en-US" sz="2000" noProof="0" dirty="0"/>
              <a:t>      VALUES (1, ‘End Table’, ‘Cherry’, 175, 8);</a:t>
            </a:r>
            <a:endParaRPr lang="en-US" altLang="en-US" sz="2000" noProof="0" dirty="0">
              <a:cs typeface="Arial" panose="020B0604020202020204" pitchFamily="34" charset="0"/>
            </a:endParaRPr>
          </a:p>
          <a:p>
            <a:r>
              <a:rPr lang="en-US" altLang="en-US" sz="2000" noProof="0" dirty="0">
                <a:cs typeface="Arial" panose="020B0604020202020204" pitchFamily="34" charset="0"/>
              </a:rPr>
              <a:t>Inserting from another table:</a:t>
            </a:r>
          </a:p>
          <a:p>
            <a:pPr lvl="1"/>
            <a:r>
              <a:rPr lang="en-US" sz="2000" noProof="0" dirty="0"/>
              <a:t>INSERT INTO C</a:t>
            </a:r>
            <a:r>
              <a:rPr lang="en-US" sz="200" noProof="0" dirty="0"/>
              <a:t> </a:t>
            </a:r>
            <a:r>
              <a:rPr lang="en-US" sz="2000" noProof="0" dirty="0"/>
              <a:t>a</a:t>
            </a:r>
            <a:r>
              <a:rPr lang="en-US" sz="200" noProof="0" dirty="0"/>
              <a:t>   </a:t>
            </a:r>
            <a:r>
              <a:rPr lang="en-US" sz="2000" noProof="0" dirty="0"/>
              <a:t>Customer_T </a:t>
            </a:r>
            <a:br>
              <a:rPr lang="en-US" sz="2000" noProof="0" dirty="0"/>
            </a:br>
            <a:r>
              <a:rPr lang="en-US" sz="2000" noProof="0" dirty="0"/>
              <a:t>SELECT * FROM Customer_T </a:t>
            </a:r>
            <a:br>
              <a:rPr lang="en-US" sz="2000" noProof="0" dirty="0"/>
            </a:br>
            <a:r>
              <a:rPr lang="en-US" sz="2000" noProof="0" dirty="0"/>
              <a:t>     WHERE Customer</a:t>
            </a:r>
            <a:r>
              <a:rPr lang="en-US" sz="200" noProof="0" dirty="0"/>
              <a:t> </a:t>
            </a:r>
            <a:r>
              <a:rPr lang="en-US" sz="2000" noProof="0" dirty="0"/>
              <a:t>State = ‘C</a:t>
            </a:r>
            <a:r>
              <a:rPr lang="en-US" sz="200" noProof="0" dirty="0"/>
              <a:t> </a:t>
            </a:r>
            <a:r>
              <a:rPr lang="en-US" sz="2000" noProof="0" dirty="0"/>
              <a:t>A’;</a:t>
            </a:r>
            <a:endParaRPr lang="en-US" altLang="en-US" sz="2000" noProof="0" dirty="0">
              <a:cs typeface="Arial" panose="020B0604020202020204" pitchFamily="34" charset="0"/>
            </a:endParaRPr>
          </a:p>
        </p:txBody>
      </p:sp>
    </p:spTree>
    <p:extLst>
      <p:ext uri="{BB962C8B-B14F-4D97-AF65-F5344CB8AC3E}">
        <p14:creationId xmlns:p14="http://schemas.microsoft.com/office/powerpoint/2010/main" val="13952703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5F26858-6017-5854-6DDB-A7BE3BE49B0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DELETE Statement</a:t>
            </a:r>
          </a:p>
        </p:txBody>
      </p:sp>
      <p:sp>
        <p:nvSpPr>
          <p:cNvPr id="3" name="Content Placeholder 2"/>
          <p:cNvSpPr>
            <a:spLocks noGrp="1"/>
          </p:cNvSpPr>
          <p:nvPr>
            <p:ph sz="quarter" idx="13"/>
          </p:nvPr>
        </p:nvSpPr>
        <p:spPr>
          <a:xfrm>
            <a:off x="457201" y="1554920"/>
            <a:ext cx="8009906" cy="2520000"/>
          </a:xfrm>
        </p:spPr>
        <p:txBody>
          <a:bodyPr/>
          <a:lstStyle/>
          <a:p>
            <a:r>
              <a:rPr lang="en-US" altLang="en-US" noProof="0" dirty="0"/>
              <a:t>Delete certain rows</a:t>
            </a:r>
          </a:p>
          <a:p>
            <a:pPr lvl="1"/>
            <a:r>
              <a:rPr lang="en-US" noProof="0" dirty="0"/>
              <a:t>DELETE FROM Customer_T WHERE CustomerState = ‘H</a:t>
            </a:r>
            <a:r>
              <a:rPr lang="en-US" sz="100" noProof="0" dirty="0"/>
              <a:t> </a:t>
            </a:r>
            <a:r>
              <a:rPr lang="en-US" noProof="0" dirty="0"/>
              <a:t>I’;</a:t>
            </a:r>
            <a:endParaRPr lang="en-US" altLang="en-US" noProof="0" dirty="0"/>
          </a:p>
          <a:p>
            <a:r>
              <a:rPr lang="en-US" altLang="en-US" noProof="0" dirty="0"/>
              <a:t>Delete all rows</a:t>
            </a:r>
          </a:p>
          <a:p>
            <a:pPr lvl="1"/>
            <a:r>
              <a:rPr lang="en-US" noProof="0" dirty="0"/>
              <a:t>DELETE FROM Customer_T;</a:t>
            </a:r>
            <a:endParaRPr lang="en-US" altLang="en-US" noProof="0" dirty="0"/>
          </a:p>
        </p:txBody>
      </p:sp>
    </p:spTree>
    <p:extLst>
      <p:ext uri="{BB962C8B-B14F-4D97-AF65-F5344CB8AC3E}">
        <p14:creationId xmlns:p14="http://schemas.microsoft.com/office/powerpoint/2010/main" val="35377667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D4220687-02F1-9DEA-32E3-BE6F8117332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UPDATE Statement</a:t>
            </a:r>
          </a:p>
        </p:txBody>
      </p:sp>
      <p:sp>
        <p:nvSpPr>
          <p:cNvPr id="3" name="Content Placeholder 2"/>
          <p:cNvSpPr>
            <a:spLocks noGrp="1"/>
          </p:cNvSpPr>
          <p:nvPr>
            <p:ph sz="quarter" idx="13"/>
          </p:nvPr>
        </p:nvSpPr>
        <p:spPr>
          <a:xfrm>
            <a:off x="457201" y="1554920"/>
            <a:ext cx="7344888" cy="2415501"/>
          </a:xfrm>
        </p:spPr>
        <p:txBody>
          <a:bodyPr/>
          <a:lstStyle/>
          <a:p>
            <a:r>
              <a:rPr lang="en-US" altLang="en-US" noProof="0" dirty="0"/>
              <a:t>Modifies data in existing rows</a:t>
            </a:r>
          </a:p>
          <a:p>
            <a:pPr lvl="1"/>
            <a:r>
              <a:rPr lang="en-US" noProof="0" dirty="0"/>
              <a:t>UPDATE Product_T </a:t>
            </a:r>
            <a:br>
              <a:rPr lang="en-US" noProof="0" dirty="0"/>
            </a:br>
            <a:r>
              <a:rPr lang="en-US" noProof="0" dirty="0"/>
              <a:t>SET Product</a:t>
            </a:r>
            <a:r>
              <a:rPr lang="en-US" sz="100" noProof="0" dirty="0"/>
              <a:t> </a:t>
            </a:r>
            <a:r>
              <a:rPr lang="en-US" noProof="0" dirty="0"/>
              <a:t>Standard</a:t>
            </a:r>
            <a:r>
              <a:rPr lang="en-US" sz="100" noProof="0" dirty="0"/>
              <a:t> </a:t>
            </a:r>
            <a:r>
              <a:rPr lang="en-US" noProof="0" dirty="0"/>
              <a:t>Price = 775</a:t>
            </a:r>
            <a:br>
              <a:rPr lang="en-US" noProof="0" dirty="0"/>
            </a:br>
            <a:r>
              <a:rPr lang="en-US" noProof="0" dirty="0"/>
              <a:t>    WHERE Product</a:t>
            </a:r>
            <a:r>
              <a:rPr lang="en-US" sz="100" noProof="0" dirty="0"/>
              <a:t> </a:t>
            </a:r>
            <a:r>
              <a:rPr lang="en-US" noProof="0" dirty="0"/>
              <a:t>I</a:t>
            </a:r>
            <a:r>
              <a:rPr lang="en-US" sz="100" noProof="0" dirty="0"/>
              <a:t> </a:t>
            </a:r>
            <a:r>
              <a:rPr lang="en-US" noProof="0" dirty="0"/>
              <a:t>D = 7;</a:t>
            </a:r>
            <a:endParaRPr lang="en-US" altLang="en-US" noProof="0" dirty="0"/>
          </a:p>
        </p:txBody>
      </p:sp>
    </p:spTree>
    <p:extLst>
      <p:ext uri="{BB962C8B-B14F-4D97-AF65-F5344CB8AC3E}">
        <p14:creationId xmlns:p14="http://schemas.microsoft.com/office/powerpoint/2010/main" val="16484102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D6A03F7B-5677-7571-8CB2-5F31C7A4212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MERGE Statement</a:t>
            </a:r>
          </a:p>
        </p:txBody>
      </p:sp>
      <p:sp>
        <p:nvSpPr>
          <p:cNvPr id="6" name="Content Placeholder 5"/>
          <p:cNvSpPr>
            <a:spLocks noGrp="1"/>
          </p:cNvSpPr>
          <p:nvPr>
            <p:ph sz="quarter" idx="13"/>
          </p:nvPr>
        </p:nvSpPr>
        <p:spPr>
          <a:xfrm>
            <a:off x="457200" y="1554920"/>
            <a:ext cx="8232775" cy="4140000"/>
          </a:xfrm>
        </p:spPr>
        <p:txBody>
          <a:bodyPr/>
          <a:lstStyle/>
          <a:p>
            <a:pPr marL="255600"/>
            <a:r>
              <a:rPr lang="en-US" noProof="0" dirty="0"/>
              <a:t>Makes it easier to update a table by allowing the combination of Insert and Update in one statement</a:t>
            </a:r>
          </a:p>
          <a:p>
            <a:pPr marL="255600"/>
            <a:r>
              <a:rPr lang="en-US" noProof="0" dirty="0"/>
              <a:t>Useful for updating master tables with new data</a:t>
            </a:r>
          </a:p>
          <a:p>
            <a:pPr marL="741600" lvl="1"/>
            <a:r>
              <a:rPr lang="en-US" noProof="0" dirty="0"/>
              <a:t>MERGE INTO Product_T AS PROD</a:t>
            </a:r>
            <a:br>
              <a:rPr lang="en-US" noProof="0" dirty="0"/>
            </a:br>
            <a:r>
              <a:rPr lang="en-US" noProof="0" dirty="0"/>
              <a:t>USING</a:t>
            </a:r>
            <a:br>
              <a:rPr lang="en-US" noProof="0" dirty="0"/>
            </a:br>
            <a:r>
              <a:rPr lang="en-US" noProof="0" dirty="0"/>
              <a:t>(SELECT Product</a:t>
            </a:r>
            <a:r>
              <a:rPr lang="en-US" sz="100" noProof="0" dirty="0"/>
              <a:t> </a:t>
            </a:r>
            <a:r>
              <a:rPr lang="en-US" noProof="0" dirty="0"/>
              <a:t>I</a:t>
            </a:r>
            <a:r>
              <a:rPr lang="en-US" sz="100" noProof="0" dirty="0"/>
              <a:t> </a:t>
            </a:r>
            <a:r>
              <a:rPr lang="en-US" noProof="0" dirty="0"/>
              <a:t>D, Product</a:t>
            </a:r>
            <a:r>
              <a:rPr lang="en-US" sz="100" noProof="0" dirty="0"/>
              <a:t> </a:t>
            </a:r>
            <a:r>
              <a:rPr lang="en-US" noProof="0" dirty="0"/>
              <a:t>Description, Product</a:t>
            </a:r>
            <a:r>
              <a:rPr lang="en-US" sz="100" noProof="0" dirty="0"/>
              <a:t> </a:t>
            </a:r>
            <a:r>
              <a:rPr lang="en-US" noProof="0" dirty="0"/>
              <a:t>Finish, …</a:t>
            </a:r>
            <a:br>
              <a:rPr lang="en-US" noProof="0" dirty="0"/>
            </a:br>
            <a:r>
              <a:rPr lang="en-US" noProof="0" dirty="0"/>
              <a:t>.</a:t>
            </a:r>
            <a:br>
              <a:rPr lang="en-US" noProof="0" dirty="0"/>
            </a:br>
            <a:r>
              <a:rPr lang="en-US" noProof="0" dirty="0"/>
              <a:t>.</a:t>
            </a:r>
            <a:br>
              <a:rPr lang="en-US" noProof="0" dirty="0"/>
            </a:br>
            <a:r>
              <a:rPr lang="en-US" noProof="0" dirty="0"/>
              <a:t>.</a:t>
            </a:r>
          </a:p>
        </p:txBody>
      </p:sp>
    </p:spTree>
    <p:extLst>
      <p:ext uri="{BB962C8B-B14F-4D97-AF65-F5344CB8AC3E}">
        <p14:creationId xmlns:p14="http://schemas.microsoft.com/office/powerpoint/2010/main" val="3061505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E710B4E-D4E4-FCF0-1A1C-A8C822A30AC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0507"/>
            <a:ext cx="6660000" cy="1207007"/>
          </a:xfrm>
        </p:spPr>
        <p:txBody>
          <a:bodyPr anchor="ctr"/>
          <a:lstStyle/>
          <a:p>
            <a:r>
              <a:rPr lang="en-US" noProof="0" dirty="0"/>
              <a:t>Internal Schema Definition in R</a:t>
            </a:r>
            <a:r>
              <a:rPr lang="en-US" sz="100" noProof="0" dirty="0"/>
              <a:t> </a:t>
            </a:r>
            <a:r>
              <a:rPr lang="en-US" noProof="0" dirty="0"/>
              <a:t>D</a:t>
            </a:r>
            <a:r>
              <a:rPr lang="en-US" sz="100" noProof="0" dirty="0"/>
              <a:t> </a:t>
            </a:r>
            <a:r>
              <a:rPr lang="en-US" noProof="0" dirty="0"/>
              <a:t>B</a:t>
            </a:r>
            <a:r>
              <a:rPr lang="en-US" sz="100" noProof="0" dirty="0"/>
              <a:t> </a:t>
            </a:r>
            <a:r>
              <a:rPr lang="en-US" noProof="0" dirty="0"/>
              <a:t>M</a:t>
            </a:r>
            <a:r>
              <a:rPr lang="en-US" sz="100" noProof="0" dirty="0"/>
              <a:t> </a:t>
            </a:r>
            <a:r>
              <a:rPr lang="en-US" noProof="0" dirty="0"/>
              <a:t>Ss</a:t>
            </a:r>
          </a:p>
        </p:txBody>
      </p:sp>
      <p:sp>
        <p:nvSpPr>
          <p:cNvPr id="3" name="Content Placeholder 2"/>
          <p:cNvSpPr>
            <a:spLocks noGrp="1"/>
          </p:cNvSpPr>
          <p:nvPr>
            <p:ph sz="quarter" idx="13"/>
          </p:nvPr>
        </p:nvSpPr>
        <p:spPr>
          <a:xfrm>
            <a:off x="457200" y="1554920"/>
            <a:ext cx="8136000" cy="4424775"/>
          </a:xfrm>
        </p:spPr>
        <p:txBody>
          <a:bodyPr/>
          <a:lstStyle/>
          <a:p>
            <a:pPr eaLnBrk="1" hangingPunct="1"/>
            <a:r>
              <a:rPr lang="en-US" altLang="en-US" sz="1800" noProof="0" dirty="0"/>
              <a:t>Control processing/storage efficiency:</a:t>
            </a:r>
          </a:p>
          <a:p>
            <a:pPr lvl="1" eaLnBrk="1" hangingPunct="1"/>
            <a:r>
              <a:rPr lang="en-US" altLang="en-US" sz="1800" noProof="0" dirty="0"/>
              <a:t>Choice of indexes</a:t>
            </a:r>
          </a:p>
          <a:p>
            <a:pPr lvl="1" eaLnBrk="1" hangingPunct="1"/>
            <a:r>
              <a:rPr lang="en-US" altLang="en-US" sz="1800" noProof="0" dirty="0"/>
              <a:t>File organizations for base tables</a:t>
            </a:r>
          </a:p>
          <a:p>
            <a:pPr lvl="1" eaLnBrk="1" hangingPunct="1"/>
            <a:r>
              <a:rPr lang="en-US" altLang="en-US" sz="1800" noProof="0" dirty="0"/>
              <a:t>File organizations for indexes</a:t>
            </a:r>
          </a:p>
          <a:p>
            <a:pPr lvl="1" eaLnBrk="1" hangingPunct="1"/>
            <a:r>
              <a:rPr lang="en-US" altLang="en-US" sz="1800" noProof="0" dirty="0"/>
              <a:t>Data clustering</a:t>
            </a:r>
          </a:p>
          <a:p>
            <a:pPr lvl="1" eaLnBrk="1" hangingPunct="1"/>
            <a:r>
              <a:rPr lang="en-US" altLang="en-US" sz="1800" noProof="0" dirty="0"/>
              <a:t>Statistics maintenance</a:t>
            </a:r>
          </a:p>
          <a:p>
            <a:pPr eaLnBrk="1" hangingPunct="1"/>
            <a:r>
              <a:rPr lang="en-US" altLang="en-US" sz="1800" noProof="0" dirty="0"/>
              <a:t>Creating indexes</a:t>
            </a:r>
          </a:p>
          <a:p>
            <a:pPr lvl="1" eaLnBrk="1" hangingPunct="1"/>
            <a:r>
              <a:rPr lang="en-US" altLang="en-US" sz="1800" noProof="0" dirty="0"/>
              <a:t>Speed up random/sequential access to base table data</a:t>
            </a:r>
          </a:p>
          <a:p>
            <a:pPr lvl="1" eaLnBrk="1" hangingPunct="1"/>
            <a:r>
              <a:rPr lang="en-US" altLang="en-US" sz="1800" noProof="0" dirty="0"/>
              <a:t>Example</a:t>
            </a:r>
          </a:p>
          <a:p>
            <a:pPr lvl="2"/>
            <a:r>
              <a:rPr lang="en-US" sz="1800" noProof="0" dirty="0"/>
              <a:t>CREATE INDEX Name_I</a:t>
            </a:r>
            <a:r>
              <a:rPr lang="en-US" sz="100" noProof="0" dirty="0"/>
              <a:t> </a:t>
            </a:r>
            <a:r>
              <a:rPr lang="en-US" sz="1800" noProof="0" dirty="0"/>
              <a:t>D</a:t>
            </a:r>
            <a:r>
              <a:rPr lang="en-US" sz="100" noProof="0" dirty="0"/>
              <a:t> </a:t>
            </a:r>
            <a:r>
              <a:rPr lang="en-US" sz="1800" noProof="0" dirty="0"/>
              <a:t>X ON </a:t>
            </a:r>
            <a:r>
              <a:rPr lang="en-US" altLang="en-US" sz="1800" noProof="0" dirty="0"/>
              <a:t>Customer</a:t>
            </a:r>
            <a:r>
              <a:rPr lang="en-US" sz="1800" noProof="0" dirty="0"/>
              <a:t>_T(</a:t>
            </a:r>
            <a:r>
              <a:rPr lang="en-US" altLang="en-US" sz="1800" noProof="0" dirty="0"/>
              <a:t>Customer</a:t>
            </a:r>
            <a:r>
              <a:rPr lang="en-US" altLang="en-US" sz="100" noProof="0" dirty="0"/>
              <a:t> </a:t>
            </a:r>
            <a:r>
              <a:rPr lang="en-US" sz="1800" noProof="0" dirty="0"/>
              <a:t>Name);</a:t>
            </a:r>
          </a:p>
          <a:p>
            <a:pPr lvl="2"/>
            <a:r>
              <a:rPr lang="en-US" altLang="en-US" sz="1800" noProof="0" dirty="0"/>
              <a:t>This makes an index for the CUSTOMER</a:t>
            </a:r>
            <a:r>
              <a:rPr lang="en-US" altLang="en-US" sz="100" noProof="0" dirty="0"/>
              <a:t> </a:t>
            </a:r>
            <a:r>
              <a:rPr lang="en-US" altLang="en-US" sz="1800" noProof="0" dirty="0"/>
              <a:t>NAME field of the </a:t>
            </a:r>
            <a:r>
              <a:rPr lang="en-US" sz="1800" noProof="0" dirty="0"/>
              <a:t>CUSTOMER_T table</a:t>
            </a:r>
            <a:endParaRPr lang="en-US" altLang="en-US" sz="1800" noProof="0" dirty="0"/>
          </a:p>
        </p:txBody>
      </p:sp>
    </p:spTree>
    <p:extLst>
      <p:ext uri="{BB962C8B-B14F-4D97-AF65-F5344CB8AC3E}">
        <p14:creationId xmlns:p14="http://schemas.microsoft.com/office/powerpoint/2010/main" val="29207514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618949B5-7B73-0FB2-EE41-9BC398E85A0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SELECT Statement</a:t>
            </a:r>
          </a:p>
        </p:txBody>
      </p:sp>
      <p:sp>
        <p:nvSpPr>
          <p:cNvPr id="3" name="Content Placeholder 2"/>
          <p:cNvSpPr>
            <a:spLocks noGrp="1"/>
          </p:cNvSpPr>
          <p:nvPr>
            <p:ph sz="quarter" idx="13"/>
          </p:nvPr>
        </p:nvSpPr>
        <p:spPr>
          <a:xfrm>
            <a:off x="457201" y="1554920"/>
            <a:ext cx="8057408" cy="3600000"/>
          </a:xfrm>
        </p:spPr>
        <p:txBody>
          <a:bodyPr/>
          <a:lstStyle/>
          <a:p>
            <a:pPr>
              <a:defRPr/>
            </a:pPr>
            <a:r>
              <a:rPr lang="en-US" noProof="0" dirty="0">
                <a:solidFill>
                  <a:schemeClr val="bg2"/>
                </a:solidFill>
              </a:rPr>
              <a:t>Used for queries on single or multiple tables</a:t>
            </a:r>
          </a:p>
          <a:p>
            <a:pPr>
              <a:defRPr/>
            </a:pPr>
            <a:r>
              <a:rPr lang="en-US" noProof="0" dirty="0">
                <a:solidFill>
                  <a:schemeClr val="bg2"/>
                </a:solidFill>
              </a:rPr>
              <a:t>Clauses of the SELECT statement:</a:t>
            </a:r>
          </a:p>
          <a:p>
            <a:pPr lvl="1">
              <a:defRPr/>
            </a:pPr>
            <a:r>
              <a:rPr lang="en-US" noProof="0" dirty="0">
                <a:solidFill>
                  <a:schemeClr val="bg2"/>
                </a:solidFill>
              </a:rPr>
              <a:t>SELECT: List the columns (and expressions) to be returned from the query</a:t>
            </a:r>
          </a:p>
          <a:p>
            <a:pPr lvl="1">
              <a:defRPr/>
            </a:pPr>
            <a:r>
              <a:rPr lang="en-US" noProof="0" dirty="0">
                <a:solidFill>
                  <a:schemeClr val="bg2"/>
                </a:solidFill>
              </a:rPr>
              <a:t>FROM: Indicate the table(s) or view(s) from which data will be obtained</a:t>
            </a:r>
          </a:p>
          <a:p>
            <a:pPr lvl="1">
              <a:defRPr/>
            </a:pPr>
            <a:r>
              <a:rPr lang="en-US" noProof="0" dirty="0">
                <a:solidFill>
                  <a:schemeClr val="bg2"/>
                </a:solidFill>
              </a:rPr>
              <a:t>WHERE: Indicate the conditions under which a row will be included in the result</a:t>
            </a:r>
          </a:p>
        </p:txBody>
      </p:sp>
    </p:spTree>
    <p:extLst>
      <p:ext uri="{BB962C8B-B14F-4D97-AF65-F5344CB8AC3E}">
        <p14:creationId xmlns:p14="http://schemas.microsoft.com/office/powerpoint/2010/main" val="7455984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63A06B6-FD34-52A0-22EB-DD28084B733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SELECT Example</a:t>
            </a:r>
          </a:p>
        </p:txBody>
      </p:sp>
      <p:sp>
        <p:nvSpPr>
          <p:cNvPr id="3" name="Content Placeholder 2"/>
          <p:cNvSpPr>
            <a:spLocks noGrp="1"/>
          </p:cNvSpPr>
          <p:nvPr>
            <p:ph sz="quarter" idx="13"/>
          </p:nvPr>
        </p:nvSpPr>
        <p:spPr>
          <a:xfrm>
            <a:off x="457200" y="1554920"/>
            <a:ext cx="8232775" cy="2160000"/>
          </a:xfrm>
        </p:spPr>
        <p:txBody>
          <a:bodyPr/>
          <a:lstStyle/>
          <a:p>
            <a:pPr marL="255600"/>
            <a:r>
              <a:rPr lang="en-US" altLang="en-US" noProof="0" dirty="0"/>
              <a:t>For example, find products with standard price less than $275</a:t>
            </a:r>
          </a:p>
          <a:p>
            <a:pPr marL="742518" lvl="1" indent="-255600"/>
            <a:r>
              <a:rPr lang="en-US" noProof="0" dirty="0"/>
              <a:t>SELECT Product</a:t>
            </a:r>
            <a:r>
              <a:rPr lang="en-US" sz="200" noProof="0" dirty="0"/>
              <a:t> </a:t>
            </a:r>
            <a:r>
              <a:rPr lang="en-US" noProof="0" dirty="0"/>
              <a:t>Description, Product</a:t>
            </a:r>
            <a:r>
              <a:rPr lang="en-US" sz="200" noProof="0" dirty="0"/>
              <a:t> </a:t>
            </a:r>
            <a:r>
              <a:rPr lang="en-US" noProof="0" dirty="0"/>
              <a:t>Standard</a:t>
            </a:r>
            <a:r>
              <a:rPr lang="en-US" sz="200" noProof="0" dirty="0"/>
              <a:t> </a:t>
            </a:r>
            <a:r>
              <a:rPr lang="en-US" noProof="0" dirty="0"/>
              <a:t>Price</a:t>
            </a:r>
            <a:br>
              <a:rPr lang="en-US" noProof="0" dirty="0"/>
            </a:br>
            <a:r>
              <a:rPr lang="en-US" noProof="0" dirty="0"/>
              <a:t>    FROM Product_T</a:t>
            </a:r>
            <a:br>
              <a:rPr lang="en-US" noProof="0" dirty="0"/>
            </a:br>
            <a:r>
              <a:rPr lang="en-US" noProof="0" dirty="0"/>
              <a:t> 	  WHERE Product</a:t>
            </a:r>
            <a:r>
              <a:rPr lang="en-US" sz="200" noProof="0" dirty="0"/>
              <a:t> </a:t>
            </a:r>
            <a:r>
              <a:rPr lang="en-US" noProof="0" dirty="0"/>
              <a:t>Standard</a:t>
            </a:r>
            <a:r>
              <a:rPr lang="en-US" sz="200" noProof="0" dirty="0"/>
              <a:t> </a:t>
            </a:r>
            <a:r>
              <a:rPr lang="en-US" noProof="0" dirty="0"/>
              <a:t>Price &lt; 275;</a:t>
            </a:r>
          </a:p>
        </p:txBody>
      </p:sp>
    </p:spTree>
    <p:extLst>
      <p:ext uri="{BB962C8B-B14F-4D97-AF65-F5344CB8AC3E}">
        <p14:creationId xmlns:p14="http://schemas.microsoft.com/office/powerpoint/2010/main" val="17836670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89E56E4-2399-825E-BA9A-556157FB4CC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SELECT Example Using Alias</a:t>
            </a:r>
          </a:p>
        </p:txBody>
      </p:sp>
      <p:sp>
        <p:nvSpPr>
          <p:cNvPr id="3" name="Content Placeholder 2"/>
          <p:cNvSpPr>
            <a:spLocks noGrp="1"/>
          </p:cNvSpPr>
          <p:nvPr>
            <p:ph sz="quarter" idx="13"/>
          </p:nvPr>
        </p:nvSpPr>
        <p:spPr>
          <a:xfrm>
            <a:off x="457200" y="1556327"/>
            <a:ext cx="8229600" cy="504000"/>
          </a:xfrm>
        </p:spPr>
        <p:txBody>
          <a:bodyPr/>
          <a:lstStyle/>
          <a:p>
            <a:r>
              <a:rPr lang="en-US" noProof="0" dirty="0">
                <a:solidFill>
                  <a:schemeClr val="bg2"/>
                </a:solidFill>
              </a:rPr>
              <a:t>Alias is an alternative column or table name</a:t>
            </a:r>
            <a:endParaRPr lang="en-US" noProof="0" dirty="0"/>
          </a:p>
        </p:txBody>
      </p:sp>
      <p:sp>
        <p:nvSpPr>
          <p:cNvPr id="4" name="Content Placeholder 3"/>
          <p:cNvSpPr>
            <a:spLocks noGrp="1"/>
          </p:cNvSpPr>
          <p:nvPr>
            <p:ph sz="quarter" idx="14"/>
          </p:nvPr>
        </p:nvSpPr>
        <p:spPr>
          <a:xfrm>
            <a:off x="762257" y="2341483"/>
            <a:ext cx="7404416" cy="2112401"/>
          </a:xfrm>
        </p:spPr>
        <p:txBody>
          <a:bodyPr/>
          <a:lstStyle/>
          <a:p>
            <a:pPr marL="0" indent="0">
              <a:spcBef>
                <a:spcPts val="600"/>
              </a:spcBef>
              <a:buNone/>
            </a:pPr>
            <a:r>
              <a:rPr lang="en-US" noProof="0" dirty="0"/>
              <a:t>SELECT CUST.Customer</a:t>
            </a:r>
            <a:r>
              <a:rPr lang="en-US" sz="100" noProof="0" dirty="0"/>
              <a:t> </a:t>
            </a:r>
            <a:r>
              <a:rPr lang="en-US" noProof="0" dirty="0"/>
              <a:t>Name AS Name, CUST.Customer</a:t>
            </a:r>
            <a:r>
              <a:rPr lang="en-US" sz="100" noProof="0" dirty="0"/>
              <a:t> </a:t>
            </a:r>
            <a:r>
              <a:rPr lang="en-US" noProof="0" dirty="0"/>
              <a:t>Address</a:t>
            </a:r>
          </a:p>
          <a:p>
            <a:pPr marL="0" indent="0">
              <a:spcBef>
                <a:spcPts val="600"/>
              </a:spcBef>
              <a:buNone/>
            </a:pPr>
            <a:r>
              <a:rPr lang="en-US" noProof="0" dirty="0"/>
              <a:t>     FROM Customer_T AS Cust WHERE Name =   </a:t>
            </a:r>
            <a:br>
              <a:rPr lang="en-US" noProof="0" dirty="0"/>
            </a:br>
            <a:r>
              <a:rPr lang="en-US" noProof="0" dirty="0"/>
              <a:t>     Home Furnishings’;</a:t>
            </a:r>
          </a:p>
        </p:txBody>
      </p:sp>
    </p:spTree>
    <p:extLst>
      <p:ext uri="{BB962C8B-B14F-4D97-AF65-F5344CB8AC3E}">
        <p14:creationId xmlns:p14="http://schemas.microsoft.com/office/powerpoint/2010/main" val="912881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92330A31-D818-0763-FE00-4EAC20A03863}"/>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Using Expressions</a:t>
            </a:r>
          </a:p>
        </p:txBody>
      </p:sp>
      <p:sp>
        <p:nvSpPr>
          <p:cNvPr id="5" name="Content Placeholder 4"/>
          <p:cNvSpPr>
            <a:spLocks noGrp="1"/>
          </p:cNvSpPr>
          <p:nvPr>
            <p:ph sz="quarter" idx="13"/>
          </p:nvPr>
        </p:nvSpPr>
        <p:spPr>
          <a:xfrm>
            <a:off x="457200" y="1554920"/>
            <a:ext cx="8232775" cy="2232000"/>
          </a:xfrm>
        </p:spPr>
        <p:txBody>
          <a:bodyPr/>
          <a:lstStyle/>
          <a:p>
            <a:r>
              <a:rPr lang="en-US" noProof="0" dirty="0">
                <a:solidFill>
                  <a:schemeClr val="bg2"/>
                </a:solidFill>
              </a:rPr>
              <a:t>Expressions are mathematical manipulations of the data in the table</a:t>
            </a:r>
          </a:p>
          <a:p>
            <a:pPr lvl="1"/>
            <a:r>
              <a:rPr lang="en-US" noProof="0" dirty="0">
                <a:solidFill>
                  <a:schemeClr val="bg2"/>
                </a:solidFill>
              </a:rPr>
              <a:t>Stored functions to manipulate the rows of data </a:t>
            </a:r>
          </a:p>
          <a:p>
            <a:pPr lvl="1"/>
            <a:r>
              <a:rPr lang="en-US" noProof="0" dirty="0">
                <a:solidFill>
                  <a:schemeClr val="bg2"/>
                </a:solidFill>
              </a:rPr>
              <a:t>Mathematical manipulations constructed by using mathematical operations</a:t>
            </a:r>
          </a:p>
        </p:txBody>
      </p:sp>
    </p:spTree>
    <p:extLst>
      <p:ext uri="{BB962C8B-B14F-4D97-AF65-F5344CB8AC3E}">
        <p14:creationId xmlns:p14="http://schemas.microsoft.com/office/powerpoint/2010/main" val="12296848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5F6D5D33-5C4F-0970-2425-4A835C2316E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Using Functions</a:t>
            </a:r>
          </a:p>
        </p:txBody>
      </p:sp>
      <p:graphicFrame>
        <p:nvGraphicFramePr>
          <p:cNvPr id="4" name="Table 3">
            <a:extLst>
              <a:ext uri="{FF2B5EF4-FFF2-40B4-BE49-F238E27FC236}">
                <a16:creationId xmlns:a16="http://schemas.microsoft.com/office/drawing/2014/main" id="{E8E6370B-C5E3-4BD2-9F52-7D18442A23F1}"/>
              </a:ext>
            </a:extLst>
          </p:cNvPr>
          <p:cNvGraphicFramePr>
            <a:graphicFrameLocks noGrp="1"/>
          </p:cNvGraphicFramePr>
          <p:nvPr>
            <p:extLst>
              <p:ext uri="{D42A27DB-BD31-4B8C-83A1-F6EECF244321}">
                <p14:modId xmlns:p14="http://schemas.microsoft.com/office/powerpoint/2010/main" val="2947774065"/>
              </p:ext>
            </p:extLst>
          </p:nvPr>
        </p:nvGraphicFramePr>
        <p:xfrm>
          <a:off x="563526" y="1758505"/>
          <a:ext cx="8027578" cy="4369407"/>
        </p:xfrm>
        <a:graphic>
          <a:graphicData uri="http://schemas.openxmlformats.org/drawingml/2006/table">
            <a:tbl>
              <a:tblPr firstRow="1" bandRow="1">
                <a:tableStyleId>{5940675A-B579-460E-94D1-54222C63F5DA}</a:tableStyleId>
              </a:tblPr>
              <a:tblGrid>
                <a:gridCol w="1754372">
                  <a:extLst>
                    <a:ext uri="{9D8B030D-6E8A-4147-A177-3AD203B41FA5}">
                      <a16:colId xmlns:a16="http://schemas.microsoft.com/office/drawing/2014/main" val="2209604313"/>
                    </a:ext>
                  </a:extLst>
                </a:gridCol>
                <a:gridCol w="6273206">
                  <a:extLst>
                    <a:ext uri="{9D8B030D-6E8A-4147-A177-3AD203B41FA5}">
                      <a16:colId xmlns:a16="http://schemas.microsoft.com/office/drawing/2014/main" val="4261289920"/>
                    </a:ext>
                  </a:extLst>
                </a:gridCol>
              </a:tblGrid>
              <a:tr h="421172">
                <a:tc>
                  <a:txBody>
                    <a:bodyPr/>
                    <a:lstStyle/>
                    <a:p>
                      <a:r>
                        <a:rPr lang="en-US" sz="1600" b="1" noProof="0" dirty="0">
                          <a:latin typeface="+mn-lt"/>
                        </a:rPr>
                        <a:t>Type</a:t>
                      </a:r>
                    </a:p>
                  </a:txBody>
                  <a:tcPr anchor="ctr"/>
                </a:tc>
                <a:tc>
                  <a:txBody>
                    <a:bodyPr/>
                    <a:lstStyle/>
                    <a:p>
                      <a:r>
                        <a:rPr lang="en-US" sz="1600" b="1" noProof="0" dirty="0">
                          <a:latin typeface="+mn-lt"/>
                        </a:rPr>
                        <a:t>Examples</a:t>
                      </a:r>
                    </a:p>
                  </a:txBody>
                  <a:tcPr/>
                </a:tc>
                <a:extLst>
                  <a:ext uri="{0D108BD9-81ED-4DB2-BD59-A6C34878D82A}">
                    <a16:rowId xmlns:a16="http://schemas.microsoft.com/office/drawing/2014/main" val="2491255834"/>
                  </a:ext>
                </a:extLst>
              </a:tr>
              <a:tr h="785988">
                <a:tc>
                  <a:txBody>
                    <a:bodyPr/>
                    <a:lstStyle/>
                    <a:p>
                      <a:pPr marL="0" marR="0" algn="ctr">
                        <a:lnSpc>
                          <a:spcPct val="100000"/>
                        </a:lnSpc>
                        <a:spcBef>
                          <a:spcPts val="300"/>
                        </a:spcBef>
                        <a:spcAft>
                          <a:spcPts val="0"/>
                        </a:spcAft>
                      </a:pPr>
                      <a:r>
                        <a:rPr lang="en-US" sz="1600" b="1" i="0" noProof="0" dirty="0">
                          <a:effectLst/>
                          <a:latin typeface="+mn-lt"/>
                          <a:ea typeface="Times New Roman" panose="02020603050405020304" pitchFamily="18" charset="0"/>
                          <a:cs typeface="Times New Roman" panose="02020603050405020304" pitchFamily="18" charset="0"/>
                        </a:rPr>
                        <a:t>Mathematical</a:t>
                      </a:r>
                    </a:p>
                  </a:txBody>
                  <a:tcPr marL="228600" marR="50800" marT="50800" marB="50800" anchor="ctr"/>
                </a:tc>
                <a:tc>
                  <a:txBody>
                    <a:bodyPr/>
                    <a:lstStyle/>
                    <a:p>
                      <a:pPr marL="0" marR="0">
                        <a:lnSpc>
                          <a:spcPct val="100000"/>
                        </a:lnSpc>
                        <a:spcBef>
                          <a:spcPts val="300"/>
                        </a:spcBef>
                        <a:spcAft>
                          <a:spcPts val="300"/>
                        </a:spcAft>
                      </a:pPr>
                      <a:r>
                        <a:rPr lang="en-US" sz="1600" noProof="0" dirty="0">
                          <a:effectLst/>
                          <a:latin typeface="+mn-lt"/>
                          <a:ea typeface="Times New Roman" panose="02020603050405020304" pitchFamily="18" charset="0"/>
                          <a:cs typeface="Times New Roman" panose="02020603050405020304" pitchFamily="18" charset="0"/>
                        </a:rPr>
                        <a:t>MIN, MAX, COUNT, SUM, ROUND (to round up a number to a specific number of decimal places), T</a:t>
                      </a:r>
                      <a:r>
                        <a:rPr lang="en-US" sz="100" noProof="0" dirty="0">
                          <a:effectLst/>
                          <a:latin typeface="+mn-lt"/>
                          <a:ea typeface="Times New Roman" panose="02020603050405020304" pitchFamily="18" charset="0"/>
                          <a:cs typeface="Times New Roman" panose="02020603050405020304" pitchFamily="18" charset="0"/>
                        </a:rPr>
                        <a:t> </a:t>
                      </a:r>
                      <a:r>
                        <a:rPr lang="en-US" sz="1600" noProof="0" dirty="0">
                          <a:effectLst/>
                          <a:latin typeface="+mn-lt"/>
                          <a:ea typeface="Times New Roman" panose="02020603050405020304" pitchFamily="18" charset="0"/>
                          <a:cs typeface="Times New Roman" panose="02020603050405020304" pitchFamily="18" charset="0"/>
                        </a:rPr>
                        <a:t>R</a:t>
                      </a:r>
                      <a:r>
                        <a:rPr lang="en-US" sz="100" noProof="0" dirty="0">
                          <a:effectLst/>
                          <a:latin typeface="+mn-lt"/>
                          <a:ea typeface="Times New Roman" panose="02020603050405020304" pitchFamily="18" charset="0"/>
                          <a:cs typeface="Times New Roman" panose="02020603050405020304" pitchFamily="18" charset="0"/>
                        </a:rPr>
                        <a:t> </a:t>
                      </a:r>
                      <a:r>
                        <a:rPr lang="en-US" sz="1600" noProof="0" dirty="0">
                          <a:effectLst/>
                          <a:latin typeface="+mn-lt"/>
                          <a:ea typeface="Times New Roman" panose="02020603050405020304" pitchFamily="18" charset="0"/>
                          <a:cs typeface="Times New Roman" panose="02020603050405020304" pitchFamily="18" charset="0"/>
                        </a:rPr>
                        <a:t>U</a:t>
                      </a:r>
                      <a:r>
                        <a:rPr lang="en-US" sz="100" noProof="0" dirty="0">
                          <a:effectLst/>
                          <a:latin typeface="+mn-lt"/>
                          <a:ea typeface="Times New Roman" panose="02020603050405020304" pitchFamily="18" charset="0"/>
                          <a:cs typeface="Times New Roman" panose="02020603050405020304" pitchFamily="18" charset="0"/>
                        </a:rPr>
                        <a:t> </a:t>
                      </a:r>
                      <a:r>
                        <a:rPr lang="en-US" sz="1600" noProof="0" dirty="0">
                          <a:effectLst/>
                          <a:latin typeface="+mn-lt"/>
                          <a:ea typeface="Times New Roman" panose="02020603050405020304" pitchFamily="18" charset="0"/>
                          <a:cs typeface="Times New Roman" panose="02020603050405020304" pitchFamily="18" charset="0"/>
                        </a:rPr>
                        <a:t>N</a:t>
                      </a:r>
                      <a:r>
                        <a:rPr lang="en-US" sz="100" noProof="0" dirty="0">
                          <a:effectLst/>
                          <a:latin typeface="+mn-lt"/>
                          <a:ea typeface="Times New Roman" panose="02020603050405020304" pitchFamily="18" charset="0"/>
                          <a:cs typeface="Times New Roman" panose="02020603050405020304" pitchFamily="18" charset="0"/>
                        </a:rPr>
                        <a:t> </a:t>
                      </a:r>
                      <a:r>
                        <a:rPr lang="en-US" sz="1600" noProof="0" dirty="0">
                          <a:effectLst/>
                          <a:latin typeface="+mn-lt"/>
                          <a:ea typeface="Times New Roman" panose="02020603050405020304" pitchFamily="18" charset="0"/>
                          <a:cs typeface="Times New Roman" panose="02020603050405020304" pitchFamily="18" charset="0"/>
                        </a:rPr>
                        <a:t>C (to truncate insignificant digits), and M</a:t>
                      </a:r>
                      <a:r>
                        <a:rPr lang="en-US" sz="100" noProof="0" dirty="0">
                          <a:effectLst/>
                          <a:latin typeface="+mn-lt"/>
                          <a:ea typeface="Times New Roman" panose="02020603050405020304" pitchFamily="18" charset="0"/>
                          <a:cs typeface="Times New Roman" panose="02020603050405020304" pitchFamily="18" charset="0"/>
                        </a:rPr>
                        <a:t> </a:t>
                      </a:r>
                      <a:r>
                        <a:rPr lang="en-US" sz="1600" noProof="0" dirty="0">
                          <a:effectLst/>
                          <a:latin typeface="+mn-lt"/>
                          <a:ea typeface="Times New Roman" panose="02020603050405020304" pitchFamily="18" charset="0"/>
                          <a:cs typeface="Times New Roman" panose="02020603050405020304" pitchFamily="18" charset="0"/>
                        </a:rPr>
                        <a:t>O</a:t>
                      </a:r>
                      <a:r>
                        <a:rPr lang="en-US" sz="100" noProof="0" dirty="0">
                          <a:effectLst/>
                          <a:latin typeface="+mn-lt"/>
                          <a:ea typeface="Times New Roman" panose="02020603050405020304" pitchFamily="18" charset="0"/>
                          <a:cs typeface="Times New Roman" panose="02020603050405020304" pitchFamily="18" charset="0"/>
                        </a:rPr>
                        <a:t> </a:t>
                      </a:r>
                      <a:r>
                        <a:rPr lang="en-US" sz="1600" noProof="0" dirty="0">
                          <a:effectLst/>
                          <a:latin typeface="+mn-lt"/>
                          <a:ea typeface="Times New Roman" panose="02020603050405020304" pitchFamily="18" charset="0"/>
                          <a:cs typeface="Times New Roman" panose="02020603050405020304" pitchFamily="18" charset="0"/>
                        </a:rPr>
                        <a:t>D (for modular arithmetic)</a:t>
                      </a:r>
                    </a:p>
                  </a:txBody>
                  <a:tcPr marL="50800" marR="0" marT="50800" marB="50800"/>
                </a:tc>
                <a:extLst>
                  <a:ext uri="{0D108BD9-81ED-4DB2-BD59-A6C34878D82A}">
                    <a16:rowId xmlns:a16="http://schemas.microsoft.com/office/drawing/2014/main" val="3994696739"/>
                  </a:ext>
                </a:extLst>
              </a:tr>
              <a:tr h="1246078">
                <a:tc>
                  <a:txBody>
                    <a:bodyPr/>
                    <a:lstStyle/>
                    <a:p>
                      <a:pPr marL="0" marR="0" algn="ctr">
                        <a:lnSpc>
                          <a:spcPct val="100000"/>
                        </a:lnSpc>
                        <a:spcBef>
                          <a:spcPts val="300"/>
                        </a:spcBef>
                        <a:spcAft>
                          <a:spcPts val="0"/>
                        </a:spcAft>
                      </a:pPr>
                      <a:r>
                        <a:rPr lang="en-US" sz="1600" b="1" i="0" noProof="0" dirty="0">
                          <a:effectLst/>
                          <a:latin typeface="+mn-lt"/>
                          <a:ea typeface="Times New Roman" panose="02020603050405020304" pitchFamily="18" charset="0"/>
                          <a:cs typeface="Times New Roman" panose="02020603050405020304" pitchFamily="18" charset="0"/>
                        </a:rPr>
                        <a:t>String</a:t>
                      </a:r>
                    </a:p>
                  </a:txBody>
                  <a:tcPr marL="228600" marR="50800" marT="50800" marB="50800" anchor="ctr"/>
                </a:tc>
                <a:tc>
                  <a:txBody>
                    <a:bodyPr/>
                    <a:lstStyle/>
                    <a:p>
                      <a:pPr marL="0" marR="0">
                        <a:lnSpc>
                          <a:spcPct val="100000"/>
                        </a:lnSpc>
                        <a:spcBef>
                          <a:spcPts val="300"/>
                        </a:spcBef>
                        <a:spcAft>
                          <a:spcPts val="300"/>
                        </a:spcAft>
                      </a:pPr>
                      <a:r>
                        <a:rPr lang="en-US" sz="1600" noProof="0" dirty="0">
                          <a:effectLst/>
                          <a:latin typeface="+mn-lt"/>
                          <a:ea typeface="Times New Roman" panose="02020603050405020304" pitchFamily="18" charset="0"/>
                          <a:cs typeface="Times New Roman" panose="02020603050405020304" pitchFamily="18" charset="0"/>
                        </a:rPr>
                        <a:t>LOWER (to change to all lowercase), UPPER (to change to all capital letters), INIT CAP (to change to only an initial capital letter), CONCAT (to concatenate), SUBSTR (to isolate certain character positions), and COALESCE (finding the first not NULL values in a list of columns)</a:t>
                      </a:r>
                    </a:p>
                  </a:txBody>
                  <a:tcPr marL="50800" marR="0" marT="50800" marB="50800"/>
                </a:tc>
                <a:extLst>
                  <a:ext uri="{0D108BD9-81ED-4DB2-BD59-A6C34878D82A}">
                    <a16:rowId xmlns:a16="http://schemas.microsoft.com/office/drawing/2014/main" val="3175816449"/>
                  </a:ext>
                </a:extLst>
              </a:tr>
              <a:tr h="1016033">
                <a:tc>
                  <a:txBody>
                    <a:bodyPr/>
                    <a:lstStyle/>
                    <a:p>
                      <a:pPr marL="0" marR="0" algn="ctr">
                        <a:lnSpc>
                          <a:spcPct val="100000"/>
                        </a:lnSpc>
                        <a:spcBef>
                          <a:spcPts val="300"/>
                        </a:spcBef>
                        <a:spcAft>
                          <a:spcPts val="0"/>
                        </a:spcAft>
                      </a:pPr>
                      <a:r>
                        <a:rPr lang="en-US" sz="1600" b="1" i="0" noProof="0" dirty="0">
                          <a:effectLst/>
                          <a:latin typeface="+mn-lt"/>
                          <a:ea typeface="Times New Roman" panose="02020603050405020304" pitchFamily="18" charset="0"/>
                          <a:cs typeface="Times New Roman" panose="02020603050405020304" pitchFamily="18" charset="0"/>
                        </a:rPr>
                        <a:t>Date</a:t>
                      </a:r>
                    </a:p>
                  </a:txBody>
                  <a:tcPr marL="228600" marR="50800" marT="50800" marB="50800" anchor="ctr"/>
                </a:tc>
                <a:tc>
                  <a:txBody>
                    <a:bodyPr/>
                    <a:lstStyle/>
                    <a:p>
                      <a:pPr marL="0" marR="0">
                        <a:lnSpc>
                          <a:spcPct val="100000"/>
                        </a:lnSpc>
                        <a:spcBef>
                          <a:spcPts val="300"/>
                        </a:spcBef>
                        <a:spcAft>
                          <a:spcPts val="300"/>
                        </a:spcAft>
                      </a:pPr>
                      <a:r>
                        <a:rPr lang="en-US" sz="1600" noProof="0" dirty="0">
                          <a:effectLst/>
                          <a:latin typeface="+mn-lt"/>
                          <a:ea typeface="Times New Roman" panose="02020603050405020304" pitchFamily="18" charset="0"/>
                          <a:cs typeface="Times New Roman" panose="02020603050405020304" pitchFamily="18" charset="0"/>
                        </a:rPr>
                        <a:t>NEXT_DAY (to compute the next date in sequence), ADD_MONTHS (to compute a date a given number of months before or after a given date), and MONTHS_BETWEEN (to compute the number of months between specified dates)</a:t>
                      </a:r>
                    </a:p>
                  </a:txBody>
                  <a:tcPr marL="50800" marR="0" marT="50800" marB="50800"/>
                </a:tc>
                <a:extLst>
                  <a:ext uri="{0D108BD9-81ED-4DB2-BD59-A6C34878D82A}">
                    <a16:rowId xmlns:a16="http://schemas.microsoft.com/office/drawing/2014/main" val="323615045"/>
                  </a:ext>
                </a:extLst>
              </a:tr>
              <a:tr h="717355">
                <a:tc>
                  <a:txBody>
                    <a:bodyPr/>
                    <a:lstStyle/>
                    <a:p>
                      <a:pPr marL="0" marR="0" algn="ctr">
                        <a:lnSpc>
                          <a:spcPct val="100000"/>
                        </a:lnSpc>
                        <a:spcBef>
                          <a:spcPts val="300"/>
                        </a:spcBef>
                        <a:spcAft>
                          <a:spcPts val="0"/>
                        </a:spcAft>
                      </a:pPr>
                      <a:r>
                        <a:rPr lang="en-US" sz="1600" b="1" i="0" noProof="0" dirty="0">
                          <a:effectLst/>
                          <a:latin typeface="+mn-lt"/>
                          <a:ea typeface="Times New Roman" panose="02020603050405020304" pitchFamily="18" charset="0"/>
                          <a:cs typeface="Times New Roman" panose="02020603050405020304" pitchFamily="18" charset="0"/>
                        </a:rPr>
                        <a:t>Analytical</a:t>
                      </a:r>
                    </a:p>
                  </a:txBody>
                  <a:tcPr marL="228600" marR="50800" marT="50800" marB="50800" anchor="ctr"/>
                </a:tc>
                <a:tc>
                  <a:txBody>
                    <a:bodyPr/>
                    <a:lstStyle/>
                    <a:p>
                      <a:pPr marL="0" marR="0">
                        <a:lnSpc>
                          <a:spcPct val="100000"/>
                        </a:lnSpc>
                        <a:spcBef>
                          <a:spcPts val="300"/>
                        </a:spcBef>
                        <a:spcAft>
                          <a:spcPts val="300"/>
                        </a:spcAft>
                      </a:pPr>
                      <a:r>
                        <a:rPr lang="en-US" sz="1600" noProof="0" dirty="0">
                          <a:effectLst/>
                          <a:latin typeface="+mn-lt"/>
                          <a:ea typeface="Times New Roman" panose="02020603050405020304" pitchFamily="18" charset="0"/>
                          <a:cs typeface="Times New Roman" panose="02020603050405020304" pitchFamily="18" charset="0"/>
                        </a:rPr>
                        <a:t>TOP (find the top n values in a set, e.g., the top 5 customers by total annual sales)</a:t>
                      </a:r>
                    </a:p>
                  </a:txBody>
                  <a:tcPr marL="50800" marR="0" marT="50800" marB="50800"/>
                </a:tc>
                <a:extLst>
                  <a:ext uri="{0D108BD9-81ED-4DB2-BD59-A6C34878D82A}">
                    <a16:rowId xmlns:a16="http://schemas.microsoft.com/office/drawing/2014/main" val="501016169"/>
                  </a:ext>
                </a:extLst>
              </a:tr>
            </a:tbl>
          </a:graphicData>
        </a:graphic>
      </p:graphicFrame>
    </p:spTree>
    <p:extLst>
      <p:ext uri="{BB962C8B-B14F-4D97-AF65-F5344CB8AC3E}">
        <p14:creationId xmlns:p14="http://schemas.microsoft.com/office/powerpoint/2010/main" val="17913147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A112393-078B-D251-4332-39E5B0C4D489}"/>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SELECT Examples Using a Function</a:t>
            </a:r>
          </a:p>
        </p:txBody>
      </p:sp>
      <p:sp>
        <p:nvSpPr>
          <p:cNvPr id="5" name="Content Placeholder 4"/>
          <p:cNvSpPr>
            <a:spLocks noGrp="1"/>
          </p:cNvSpPr>
          <p:nvPr>
            <p:ph sz="quarter" idx="13"/>
          </p:nvPr>
        </p:nvSpPr>
        <p:spPr>
          <a:xfrm>
            <a:off x="457200" y="1554920"/>
            <a:ext cx="8232775" cy="4212000"/>
          </a:xfrm>
        </p:spPr>
        <p:txBody>
          <a:bodyPr/>
          <a:lstStyle/>
          <a:p>
            <a:r>
              <a:rPr lang="en-US" sz="2000" noProof="0" dirty="0">
                <a:solidFill>
                  <a:schemeClr val="bg2"/>
                </a:solidFill>
              </a:rPr>
              <a:t>How many different items were ordered on order number 1004?</a:t>
            </a:r>
          </a:p>
          <a:p>
            <a:pPr lvl="1"/>
            <a:r>
              <a:rPr lang="en-US" sz="2000" noProof="0" dirty="0"/>
              <a:t>SELECT COUNT (*)</a:t>
            </a:r>
            <a:br>
              <a:rPr lang="en-US" sz="2000" noProof="0" dirty="0"/>
            </a:br>
            <a:r>
              <a:rPr lang="en-US" sz="2000" noProof="0" dirty="0"/>
              <a:t>     FROM Order</a:t>
            </a:r>
            <a:r>
              <a:rPr lang="en-US" sz="100" noProof="0" dirty="0"/>
              <a:t> </a:t>
            </a:r>
            <a:r>
              <a:rPr lang="en-US" sz="2000" noProof="0" dirty="0"/>
              <a:t>Line_T</a:t>
            </a:r>
            <a:br>
              <a:rPr lang="en-US" sz="2000" noProof="0" dirty="0"/>
            </a:br>
            <a:r>
              <a:rPr lang="en-US" sz="2000" noProof="0" dirty="0"/>
              <a:t>         WHERE Order</a:t>
            </a:r>
            <a:r>
              <a:rPr lang="en-US" sz="100" noProof="0" dirty="0"/>
              <a:t> </a:t>
            </a:r>
            <a:r>
              <a:rPr lang="en-US" sz="2000" noProof="0" dirty="0"/>
              <a:t>I</a:t>
            </a:r>
            <a:r>
              <a:rPr lang="en-US" sz="100" noProof="0" dirty="0"/>
              <a:t> </a:t>
            </a:r>
            <a:r>
              <a:rPr lang="en-US" sz="2000" noProof="0" dirty="0"/>
              <a:t>D = 1004;</a:t>
            </a:r>
          </a:p>
          <a:p>
            <a:r>
              <a:rPr lang="en-US" sz="2000" noProof="0" dirty="0"/>
              <a:t>Which orders have been placed since 10/24/2024?</a:t>
            </a:r>
          </a:p>
          <a:p>
            <a:pPr lvl="1"/>
            <a:r>
              <a:rPr lang="en-US" sz="2000" noProof="0" dirty="0"/>
              <a:t>SELECT Order</a:t>
            </a:r>
            <a:r>
              <a:rPr lang="en-US" sz="100" noProof="0" dirty="0"/>
              <a:t> </a:t>
            </a:r>
            <a:r>
              <a:rPr lang="en-US" sz="2000" noProof="0" dirty="0"/>
              <a:t>I</a:t>
            </a:r>
            <a:r>
              <a:rPr lang="en-US" sz="100" noProof="0" dirty="0"/>
              <a:t> </a:t>
            </a:r>
            <a:r>
              <a:rPr lang="en-US" sz="2000" noProof="0" dirty="0"/>
              <a:t>D, Order</a:t>
            </a:r>
            <a:r>
              <a:rPr lang="en-US" sz="100" noProof="0" dirty="0"/>
              <a:t> </a:t>
            </a:r>
            <a:r>
              <a:rPr lang="en-US" sz="2000" noProof="0" dirty="0"/>
              <a:t>Date</a:t>
            </a:r>
            <a:br>
              <a:rPr lang="en-US" sz="2000" noProof="0" dirty="0"/>
            </a:br>
            <a:r>
              <a:rPr lang="en-US" sz="2000" noProof="0" dirty="0"/>
              <a:t>     FROM Order_T</a:t>
            </a:r>
            <a:br>
              <a:rPr lang="en-US" sz="2000" noProof="0" dirty="0"/>
            </a:br>
            <a:r>
              <a:rPr lang="en-US" sz="2000" noProof="0" dirty="0"/>
              <a:t>  	     WHERE Order</a:t>
            </a:r>
            <a:r>
              <a:rPr lang="en-US" sz="100" noProof="0" dirty="0"/>
              <a:t> </a:t>
            </a:r>
            <a:r>
              <a:rPr lang="en-US" sz="2000" noProof="0" dirty="0"/>
              <a:t>Date &gt;’24-OCT-2024’;</a:t>
            </a:r>
          </a:p>
          <a:p>
            <a:r>
              <a:rPr lang="en-US" sz="2000" noProof="0" dirty="0"/>
              <a:t>Display all customers that do not have a postal code.</a:t>
            </a:r>
          </a:p>
          <a:p>
            <a:pPr lvl="1"/>
            <a:r>
              <a:rPr lang="en-US" sz="2000" noProof="0" dirty="0"/>
              <a:t>SELECT * FROM Customer_T</a:t>
            </a:r>
            <a:br>
              <a:rPr lang="en-US" sz="2000" noProof="0" dirty="0"/>
            </a:br>
            <a:r>
              <a:rPr lang="en-US" sz="2000" noProof="0" dirty="0"/>
              <a:t>    WHERE Customer</a:t>
            </a:r>
            <a:r>
              <a:rPr lang="en-US" sz="100" noProof="0" dirty="0"/>
              <a:t> </a:t>
            </a:r>
            <a:r>
              <a:rPr lang="en-US" sz="2000" noProof="0" dirty="0"/>
              <a:t>Postal</a:t>
            </a:r>
            <a:r>
              <a:rPr lang="en-US" sz="100" noProof="0" dirty="0"/>
              <a:t> </a:t>
            </a:r>
            <a:r>
              <a:rPr lang="en-US" sz="2000" noProof="0" dirty="0"/>
              <a:t>Code IS NULL</a:t>
            </a:r>
            <a:endParaRPr lang="en-US" noProof="0" dirty="0"/>
          </a:p>
        </p:txBody>
      </p:sp>
    </p:spTree>
    <p:extLst>
      <p:ext uri="{BB962C8B-B14F-4D97-AF65-F5344CB8AC3E}">
        <p14:creationId xmlns:p14="http://schemas.microsoft.com/office/powerpoint/2010/main" val="2209633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4199506-A2E9-257E-D4FA-E15938CA4AD4}"/>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Using Boolean Operators</a:t>
            </a:r>
          </a:p>
        </p:txBody>
      </p:sp>
      <p:graphicFrame>
        <p:nvGraphicFramePr>
          <p:cNvPr id="4" name="Table 3">
            <a:extLst>
              <a:ext uri="{FF2B5EF4-FFF2-40B4-BE49-F238E27FC236}">
                <a16:creationId xmlns:a16="http://schemas.microsoft.com/office/drawing/2014/main" id="{97FFAA6C-D454-40EB-9292-7291C6D33DB7}"/>
              </a:ext>
            </a:extLst>
          </p:cNvPr>
          <p:cNvGraphicFramePr>
            <a:graphicFrameLocks noGrp="1"/>
          </p:cNvGraphicFramePr>
          <p:nvPr>
            <p:extLst>
              <p:ext uri="{D42A27DB-BD31-4B8C-83A1-F6EECF244321}">
                <p14:modId xmlns:p14="http://schemas.microsoft.com/office/powerpoint/2010/main" val="52516973"/>
              </p:ext>
            </p:extLst>
          </p:nvPr>
        </p:nvGraphicFramePr>
        <p:xfrm>
          <a:off x="797442" y="2041451"/>
          <a:ext cx="7666074" cy="2037080"/>
        </p:xfrm>
        <a:graphic>
          <a:graphicData uri="http://schemas.openxmlformats.org/drawingml/2006/table">
            <a:tbl>
              <a:tblPr firstRow="1" bandRow="1">
                <a:tableStyleId>{5940675A-B579-460E-94D1-54222C63F5DA}</a:tableStyleId>
              </a:tblPr>
              <a:tblGrid>
                <a:gridCol w="2190307">
                  <a:extLst>
                    <a:ext uri="{9D8B030D-6E8A-4147-A177-3AD203B41FA5}">
                      <a16:colId xmlns:a16="http://schemas.microsoft.com/office/drawing/2014/main" val="1394457774"/>
                    </a:ext>
                  </a:extLst>
                </a:gridCol>
                <a:gridCol w="5475767">
                  <a:extLst>
                    <a:ext uri="{9D8B030D-6E8A-4147-A177-3AD203B41FA5}">
                      <a16:colId xmlns:a16="http://schemas.microsoft.com/office/drawing/2014/main" val="2072607174"/>
                    </a:ext>
                  </a:extLst>
                </a:gridCol>
              </a:tblGrid>
              <a:tr h="215489">
                <a:tc>
                  <a:txBody>
                    <a:bodyPr/>
                    <a:lstStyle/>
                    <a:p>
                      <a:pPr algn="ctr"/>
                      <a:r>
                        <a:rPr lang="en-US" sz="1800" b="1" noProof="0" dirty="0">
                          <a:latin typeface="+mn-lt"/>
                        </a:rPr>
                        <a:t>Operator</a:t>
                      </a:r>
                    </a:p>
                  </a:txBody>
                  <a:tcPr/>
                </a:tc>
                <a:tc>
                  <a:txBody>
                    <a:bodyPr/>
                    <a:lstStyle/>
                    <a:p>
                      <a:r>
                        <a:rPr lang="en-US" sz="1800" b="1" noProof="0" dirty="0">
                          <a:latin typeface="+mn-lt"/>
                        </a:rPr>
                        <a:t>Result</a:t>
                      </a:r>
                    </a:p>
                  </a:txBody>
                  <a:tcPr/>
                </a:tc>
                <a:extLst>
                  <a:ext uri="{0D108BD9-81ED-4DB2-BD59-A6C34878D82A}">
                    <a16:rowId xmlns:a16="http://schemas.microsoft.com/office/drawing/2014/main" val="3176075211"/>
                  </a:ext>
                </a:extLst>
              </a:tr>
              <a:tr h="370840">
                <a:tc>
                  <a:txBody>
                    <a:bodyPr/>
                    <a:lstStyle/>
                    <a:p>
                      <a:pPr marL="0" marR="0" algn="ctr">
                        <a:lnSpc>
                          <a:spcPts val="1200"/>
                        </a:lnSpc>
                        <a:spcBef>
                          <a:spcPts val="300"/>
                        </a:spcBef>
                        <a:spcAft>
                          <a:spcPts val="300"/>
                        </a:spcAft>
                      </a:pPr>
                      <a:r>
                        <a:rPr lang="en-US" sz="1800" b="1" i="0" noProof="0" dirty="0">
                          <a:effectLst/>
                          <a:latin typeface="+mn-lt"/>
                          <a:ea typeface="Times New Roman" panose="02020603050405020304" pitchFamily="18" charset="0"/>
                          <a:cs typeface="Times New Roman" panose="02020603050405020304" pitchFamily="18" charset="0"/>
                        </a:rPr>
                        <a:t>AND</a:t>
                      </a:r>
                    </a:p>
                  </a:txBody>
                  <a:tcPr marL="228600" marR="50800" marT="50800" marB="50800" anchor="ctr"/>
                </a:tc>
                <a:tc>
                  <a:txBody>
                    <a:bodyPr/>
                    <a:lstStyle/>
                    <a:p>
                      <a:pPr marL="0" marR="0">
                        <a:lnSpc>
                          <a:spcPct val="100000"/>
                        </a:lnSpc>
                        <a:spcBef>
                          <a:spcPts val="300"/>
                        </a:spcBef>
                        <a:spcAft>
                          <a:spcPts val="300"/>
                        </a:spcAft>
                      </a:pPr>
                      <a:r>
                        <a:rPr lang="en-US" sz="1800" noProof="0" dirty="0">
                          <a:effectLst/>
                          <a:latin typeface="+mn-lt"/>
                          <a:ea typeface="Times New Roman" panose="02020603050405020304" pitchFamily="18" charset="0"/>
                          <a:cs typeface="Times New Roman" panose="02020603050405020304" pitchFamily="18" charset="0"/>
                        </a:rPr>
                        <a:t>Joins two or more conditions and returns results only when all conditions are true.</a:t>
                      </a:r>
                    </a:p>
                  </a:txBody>
                  <a:tcPr marL="50800" marR="0" marT="50800" marB="50800" anchor="ctr"/>
                </a:tc>
                <a:extLst>
                  <a:ext uri="{0D108BD9-81ED-4DB2-BD59-A6C34878D82A}">
                    <a16:rowId xmlns:a16="http://schemas.microsoft.com/office/drawing/2014/main" val="65653921"/>
                  </a:ext>
                </a:extLst>
              </a:tr>
              <a:tr h="370840">
                <a:tc>
                  <a:txBody>
                    <a:bodyPr/>
                    <a:lstStyle/>
                    <a:p>
                      <a:pPr marL="0" marR="0" algn="ctr">
                        <a:lnSpc>
                          <a:spcPts val="1200"/>
                        </a:lnSpc>
                        <a:spcBef>
                          <a:spcPts val="300"/>
                        </a:spcBef>
                        <a:spcAft>
                          <a:spcPts val="300"/>
                        </a:spcAft>
                      </a:pPr>
                      <a:r>
                        <a:rPr lang="en-US" sz="1800" b="1" i="0" noProof="0" dirty="0">
                          <a:effectLst/>
                          <a:latin typeface="+mn-lt"/>
                          <a:ea typeface="Times New Roman" panose="02020603050405020304" pitchFamily="18" charset="0"/>
                          <a:cs typeface="Times New Roman" panose="02020603050405020304" pitchFamily="18" charset="0"/>
                        </a:rPr>
                        <a:t>OR</a:t>
                      </a:r>
                    </a:p>
                  </a:txBody>
                  <a:tcPr marL="228600" marR="50800" marT="50800" marB="50800" anchor="ctr"/>
                </a:tc>
                <a:tc>
                  <a:txBody>
                    <a:bodyPr/>
                    <a:lstStyle/>
                    <a:p>
                      <a:pPr marL="0" marR="0">
                        <a:lnSpc>
                          <a:spcPct val="100000"/>
                        </a:lnSpc>
                        <a:spcBef>
                          <a:spcPts val="300"/>
                        </a:spcBef>
                        <a:spcAft>
                          <a:spcPts val="300"/>
                        </a:spcAft>
                      </a:pPr>
                      <a:r>
                        <a:rPr lang="en-US" sz="1800" b="0" i="0" u="none" strike="noStrike" cap="none" noProof="0" dirty="0">
                          <a:solidFill>
                            <a:schemeClr val="dk1"/>
                          </a:solidFill>
                          <a:effectLst/>
                          <a:latin typeface="+mn-lt"/>
                          <a:ea typeface="Times New Roman" panose="02020603050405020304" pitchFamily="18" charset="0"/>
                          <a:cs typeface="Times New Roman" panose="02020603050405020304" pitchFamily="18" charset="0"/>
                          <a:sym typeface="Arial"/>
                        </a:rPr>
                        <a:t>Joins two or more conditions and returns results when any conditions are true.</a:t>
                      </a:r>
                    </a:p>
                  </a:txBody>
                  <a:tcPr marL="76200" marR="50800" marT="50800" marB="50800" anchor="ctr"/>
                </a:tc>
                <a:extLst>
                  <a:ext uri="{0D108BD9-81ED-4DB2-BD59-A6C34878D82A}">
                    <a16:rowId xmlns:a16="http://schemas.microsoft.com/office/drawing/2014/main" val="1211582143"/>
                  </a:ext>
                </a:extLst>
              </a:tr>
              <a:tr h="370840">
                <a:tc>
                  <a:txBody>
                    <a:bodyPr/>
                    <a:lstStyle/>
                    <a:p>
                      <a:pPr marL="0" marR="0" algn="ctr">
                        <a:lnSpc>
                          <a:spcPts val="1200"/>
                        </a:lnSpc>
                        <a:spcBef>
                          <a:spcPts val="300"/>
                        </a:spcBef>
                        <a:spcAft>
                          <a:spcPts val="300"/>
                        </a:spcAft>
                      </a:pPr>
                      <a:r>
                        <a:rPr lang="en-US" sz="1800" b="1" i="0" noProof="0" dirty="0">
                          <a:effectLst/>
                          <a:latin typeface="+mn-lt"/>
                          <a:ea typeface="Times New Roman" panose="02020603050405020304" pitchFamily="18" charset="0"/>
                          <a:cs typeface="Times New Roman" panose="02020603050405020304" pitchFamily="18" charset="0"/>
                        </a:rPr>
                        <a:t>NOT</a:t>
                      </a:r>
                    </a:p>
                  </a:txBody>
                  <a:tcPr marL="228600" marR="50800" marT="50800" marB="50800" anchor="ctr"/>
                </a:tc>
                <a:tc>
                  <a:txBody>
                    <a:bodyPr/>
                    <a:lstStyle/>
                    <a:p>
                      <a:pPr marL="0" marR="0">
                        <a:lnSpc>
                          <a:spcPts val="1600"/>
                        </a:lnSpc>
                        <a:spcBef>
                          <a:spcPts val="300"/>
                        </a:spcBef>
                        <a:spcAft>
                          <a:spcPts val="300"/>
                        </a:spcAft>
                      </a:pPr>
                      <a:r>
                        <a:rPr lang="en-US" sz="1800" noProof="0" dirty="0">
                          <a:effectLst/>
                          <a:latin typeface="+mn-lt"/>
                          <a:ea typeface="Times New Roman" panose="02020603050405020304" pitchFamily="18" charset="0"/>
                          <a:cs typeface="Times New Roman" panose="02020603050405020304" pitchFamily="18" charset="0"/>
                        </a:rPr>
                        <a:t>Negates an expression.</a:t>
                      </a:r>
                    </a:p>
                  </a:txBody>
                  <a:tcPr marL="50800" marR="0" marT="50800" marB="50800" anchor="ctr"/>
                </a:tc>
                <a:extLst>
                  <a:ext uri="{0D108BD9-81ED-4DB2-BD59-A6C34878D82A}">
                    <a16:rowId xmlns:a16="http://schemas.microsoft.com/office/drawing/2014/main" val="3437459166"/>
                  </a:ext>
                </a:extLst>
              </a:tr>
            </a:tbl>
          </a:graphicData>
        </a:graphic>
      </p:graphicFrame>
    </p:spTree>
    <p:extLst>
      <p:ext uri="{BB962C8B-B14F-4D97-AF65-F5344CB8AC3E}">
        <p14:creationId xmlns:p14="http://schemas.microsoft.com/office/powerpoint/2010/main" val="31103096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856B7794-559F-44C3-81C3-A3E7172912F8}"/>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0507"/>
            <a:ext cx="8229600" cy="1207007"/>
          </a:xfrm>
        </p:spPr>
        <p:txBody>
          <a:bodyPr anchor="ctr"/>
          <a:lstStyle/>
          <a:p>
            <a:r>
              <a:rPr lang="en-US" noProof="0" dirty="0"/>
              <a:t>SELECT Example—Boolean Operators</a:t>
            </a:r>
          </a:p>
        </p:txBody>
      </p:sp>
      <p:sp>
        <p:nvSpPr>
          <p:cNvPr id="4" name="Content Placeholder 3"/>
          <p:cNvSpPr>
            <a:spLocks noGrp="1"/>
          </p:cNvSpPr>
          <p:nvPr>
            <p:ph sz="quarter" idx="13"/>
          </p:nvPr>
        </p:nvSpPr>
        <p:spPr>
          <a:xfrm>
            <a:off x="457199" y="1556327"/>
            <a:ext cx="8208000" cy="900000"/>
          </a:xfrm>
        </p:spPr>
        <p:txBody>
          <a:bodyPr/>
          <a:lstStyle/>
          <a:p>
            <a:r>
              <a:rPr lang="en-US" noProof="0" dirty="0">
                <a:solidFill>
                  <a:schemeClr val="bg2"/>
                </a:solidFill>
              </a:rPr>
              <a:t>AND, OR, and NOT Operators for customizing conditions in WHERE clause</a:t>
            </a:r>
          </a:p>
        </p:txBody>
      </p:sp>
      <p:sp>
        <p:nvSpPr>
          <p:cNvPr id="5" name="Content Placeholder 4"/>
          <p:cNvSpPr>
            <a:spLocks noGrp="1"/>
          </p:cNvSpPr>
          <p:nvPr>
            <p:ph sz="quarter" idx="14"/>
          </p:nvPr>
        </p:nvSpPr>
        <p:spPr>
          <a:xfrm>
            <a:off x="688768" y="2598350"/>
            <a:ext cx="7863561" cy="2412000"/>
          </a:xfrm>
        </p:spPr>
        <p:txBody>
          <a:bodyPr/>
          <a:lstStyle/>
          <a:p>
            <a:pPr marL="432" indent="0">
              <a:spcBef>
                <a:spcPts val="600"/>
              </a:spcBef>
              <a:buNone/>
            </a:pPr>
            <a:r>
              <a:rPr lang="en-US" noProof="0" dirty="0"/>
              <a:t>SELECT Product</a:t>
            </a:r>
            <a:r>
              <a:rPr lang="en-US" sz="100" noProof="0" dirty="0"/>
              <a:t> </a:t>
            </a:r>
            <a:r>
              <a:rPr lang="en-US" noProof="0" dirty="0"/>
              <a:t>Description, Product</a:t>
            </a:r>
            <a:r>
              <a:rPr lang="en-US" sz="100" noProof="0" dirty="0"/>
              <a:t> </a:t>
            </a:r>
            <a:r>
              <a:rPr lang="en-US" noProof="0" dirty="0"/>
              <a:t>Finish,  </a:t>
            </a:r>
            <a:br>
              <a:rPr lang="en-US" noProof="0" dirty="0"/>
            </a:br>
            <a:r>
              <a:rPr lang="en-US" noProof="0" dirty="0"/>
              <a:t>    Product</a:t>
            </a:r>
            <a:r>
              <a:rPr lang="en-US" sz="100" noProof="0" dirty="0"/>
              <a:t> </a:t>
            </a:r>
            <a:r>
              <a:rPr lang="en-US" noProof="0" dirty="0"/>
              <a:t>Standard</a:t>
            </a:r>
            <a:r>
              <a:rPr lang="en-US" sz="100" noProof="0" dirty="0"/>
              <a:t> </a:t>
            </a:r>
            <a:r>
              <a:rPr lang="en-US" noProof="0" dirty="0"/>
              <a:t>Price</a:t>
            </a:r>
            <a:br>
              <a:rPr lang="en-US" noProof="0" dirty="0"/>
            </a:br>
            <a:r>
              <a:rPr lang="en-US" noProof="0" dirty="0"/>
              <a:t>        FROM Product_T</a:t>
            </a:r>
            <a:br>
              <a:rPr lang="en-US" noProof="0" dirty="0"/>
            </a:br>
            <a:r>
              <a:rPr lang="en-US" noProof="0" dirty="0"/>
              <a:t>            WHERE Product</a:t>
            </a:r>
            <a:r>
              <a:rPr lang="en-US" sz="100" noProof="0" dirty="0"/>
              <a:t> </a:t>
            </a:r>
            <a:r>
              <a:rPr lang="en-US" noProof="0" dirty="0"/>
              <a:t>Description LIKE ‘%Desk’</a:t>
            </a:r>
            <a:br>
              <a:rPr lang="en-US" noProof="0" dirty="0"/>
            </a:br>
            <a:r>
              <a:rPr lang="en-US" noProof="0" dirty="0"/>
              <a:t>                 OR Product</a:t>
            </a:r>
            <a:r>
              <a:rPr lang="en-US" sz="100" noProof="0" dirty="0"/>
              <a:t> </a:t>
            </a:r>
            <a:r>
              <a:rPr lang="en-US" noProof="0" dirty="0"/>
              <a:t>Description LIKE ‘%Table’</a:t>
            </a:r>
            <a:br>
              <a:rPr lang="en-US" noProof="0" dirty="0"/>
            </a:br>
            <a:r>
              <a:rPr lang="en-US" noProof="0" dirty="0"/>
              <a:t>                 AND Product</a:t>
            </a:r>
            <a:r>
              <a:rPr lang="en-US" sz="100" noProof="0" dirty="0"/>
              <a:t> </a:t>
            </a:r>
            <a:r>
              <a:rPr lang="en-US" noProof="0" dirty="0"/>
              <a:t>Standard</a:t>
            </a:r>
            <a:r>
              <a:rPr lang="en-US" sz="100" noProof="0" dirty="0"/>
              <a:t> </a:t>
            </a:r>
            <a:r>
              <a:rPr lang="en-US" noProof="0" dirty="0"/>
              <a:t>Price &gt; 300;</a:t>
            </a:r>
          </a:p>
        </p:txBody>
      </p:sp>
    </p:spTree>
    <p:extLst>
      <p:ext uri="{BB962C8B-B14F-4D97-AF65-F5344CB8AC3E}">
        <p14:creationId xmlns:p14="http://schemas.microsoft.com/office/powerpoint/2010/main" val="139743341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2C74547B-ABBB-E6B1-DBEC-6E5B016DD73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88139"/>
            <a:ext cx="8229600" cy="1173479"/>
          </a:xfrm>
        </p:spPr>
        <p:txBody>
          <a:bodyPr anchor="ctr"/>
          <a:lstStyle/>
          <a:p>
            <a:r>
              <a:rPr lang="en-US" noProof="0" dirty="0"/>
              <a:t>Figure 5-8 Boolean Query A Without the Use of Parentheses</a:t>
            </a:r>
          </a:p>
        </p:txBody>
      </p:sp>
      <p:pic>
        <p:nvPicPr>
          <p:cNvPr id="10" name="Picture 9" descr="A diagram for a Boolean query A without the use of parentheses shows three overlapping circles.&#10;&#10;For long description in Notes pane, press F6.">
            <a:extLst>
              <a:ext uri="{FF2B5EF4-FFF2-40B4-BE49-F238E27FC236}">
                <a16:creationId xmlns:a16="http://schemas.microsoft.com/office/drawing/2014/main" id="{31D0F173-8343-470B-15D2-8FA0467D4074}"/>
              </a:ext>
            </a:extLst>
          </p:cNvPr>
          <p:cNvPicPr>
            <a:picLocks noChangeAspect="1"/>
          </p:cNvPicPr>
          <p:nvPr/>
        </p:nvPicPr>
        <p:blipFill>
          <a:blip r:embed="rId3"/>
          <a:stretch>
            <a:fillRect/>
          </a:stretch>
        </p:blipFill>
        <p:spPr>
          <a:xfrm>
            <a:off x="1565247" y="1709636"/>
            <a:ext cx="5696790" cy="4541860"/>
          </a:xfrm>
          <a:prstGeom prst="rect">
            <a:avLst/>
          </a:prstGeom>
        </p:spPr>
      </p:pic>
    </p:spTree>
    <p:extLst>
      <p:ext uri="{BB962C8B-B14F-4D97-AF65-F5344CB8AC3E}">
        <p14:creationId xmlns:p14="http://schemas.microsoft.com/office/powerpoint/2010/main" val="30744327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5900FDE4-369B-62E2-5F24-AEEEA40CE610}"/>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0507"/>
            <a:ext cx="8229600" cy="1207007"/>
          </a:xfrm>
        </p:spPr>
        <p:txBody>
          <a:bodyPr anchor="ctr"/>
          <a:lstStyle/>
          <a:p>
            <a:r>
              <a:rPr lang="en-US" noProof="0" dirty="0"/>
              <a:t>SELECT Example–Boolean Operators</a:t>
            </a:r>
          </a:p>
        </p:txBody>
      </p:sp>
      <p:sp>
        <p:nvSpPr>
          <p:cNvPr id="4" name="Content Placeholder 3"/>
          <p:cNvSpPr>
            <a:spLocks noGrp="1"/>
          </p:cNvSpPr>
          <p:nvPr>
            <p:ph sz="quarter" idx="13"/>
          </p:nvPr>
        </p:nvSpPr>
        <p:spPr>
          <a:xfrm>
            <a:off x="1105791" y="2044021"/>
            <a:ext cx="7056000" cy="2808000"/>
          </a:xfrm>
        </p:spPr>
        <p:txBody>
          <a:bodyPr/>
          <a:lstStyle/>
          <a:p>
            <a:pPr marL="432" indent="0">
              <a:spcBef>
                <a:spcPts val="600"/>
              </a:spcBef>
              <a:buNone/>
            </a:pPr>
            <a:r>
              <a:rPr lang="en-US" noProof="0" dirty="0"/>
              <a:t>SELECT Product</a:t>
            </a:r>
            <a:r>
              <a:rPr lang="en-US" sz="100" noProof="0" dirty="0"/>
              <a:t> </a:t>
            </a:r>
            <a:r>
              <a:rPr lang="en-US" noProof="0" dirty="0"/>
              <a:t>Description, Product</a:t>
            </a:r>
            <a:r>
              <a:rPr lang="en-US" sz="100" noProof="0" dirty="0"/>
              <a:t> </a:t>
            </a:r>
            <a:r>
              <a:rPr lang="en-US" noProof="0" dirty="0"/>
              <a:t>Finish, </a:t>
            </a:r>
            <a:br>
              <a:rPr lang="en-US" noProof="0" dirty="0"/>
            </a:br>
            <a:r>
              <a:rPr lang="en-US" noProof="0" dirty="0"/>
              <a:t>Product</a:t>
            </a:r>
            <a:r>
              <a:rPr lang="en-US" sz="100" noProof="0" dirty="0"/>
              <a:t> </a:t>
            </a:r>
            <a:r>
              <a:rPr lang="en-US" noProof="0" dirty="0"/>
              <a:t>Standard</a:t>
            </a:r>
            <a:r>
              <a:rPr lang="en-US" sz="100" noProof="0" dirty="0"/>
              <a:t> </a:t>
            </a:r>
            <a:r>
              <a:rPr lang="en-US" noProof="0" dirty="0"/>
              <a:t>Price</a:t>
            </a:r>
          </a:p>
          <a:p>
            <a:pPr marL="432" indent="0">
              <a:spcBef>
                <a:spcPts val="600"/>
              </a:spcBef>
              <a:buNone/>
            </a:pPr>
            <a:r>
              <a:rPr lang="en-US" noProof="0" dirty="0"/>
              <a:t>     FROM Product_T</a:t>
            </a:r>
          </a:p>
          <a:p>
            <a:pPr marL="432" indent="0">
              <a:spcBef>
                <a:spcPts val="600"/>
              </a:spcBef>
              <a:buNone/>
            </a:pPr>
            <a:r>
              <a:rPr lang="en-US" noProof="0" dirty="0"/>
              <a:t>         WHERE (Product</a:t>
            </a:r>
            <a:r>
              <a:rPr lang="en-US" sz="100" noProof="0" dirty="0"/>
              <a:t> </a:t>
            </a:r>
            <a:r>
              <a:rPr lang="en-US" noProof="0" dirty="0"/>
              <a:t>Description LIKE ‘%Desk’</a:t>
            </a:r>
          </a:p>
          <a:p>
            <a:pPr marL="432" indent="0">
              <a:spcBef>
                <a:spcPts val="600"/>
              </a:spcBef>
              <a:buNone/>
            </a:pPr>
            <a:r>
              <a:rPr lang="en-US" noProof="0" dirty="0"/>
              <a:t>               OR Product</a:t>
            </a:r>
            <a:r>
              <a:rPr lang="en-US" sz="100" noProof="0" dirty="0"/>
              <a:t> </a:t>
            </a:r>
            <a:r>
              <a:rPr lang="en-US" noProof="0" dirty="0"/>
              <a:t>Description LIKE ‘%Table’)</a:t>
            </a:r>
          </a:p>
          <a:p>
            <a:pPr marL="432" indent="0">
              <a:spcBef>
                <a:spcPts val="600"/>
              </a:spcBef>
              <a:buNone/>
            </a:pPr>
            <a:r>
              <a:rPr lang="en-US" noProof="0" dirty="0"/>
              <a:t>               AND Product</a:t>
            </a:r>
            <a:r>
              <a:rPr lang="en-US" sz="100" noProof="0" dirty="0"/>
              <a:t> </a:t>
            </a:r>
            <a:r>
              <a:rPr lang="en-US" noProof="0" dirty="0"/>
              <a:t>Standard</a:t>
            </a:r>
            <a:r>
              <a:rPr lang="en-US" sz="100" noProof="0" dirty="0"/>
              <a:t> </a:t>
            </a:r>
            <a:r>
              <a:rPr lang="en-US" noProof="0" dirty="0"/>
              <a:t>Price &gt; 300;</a:t>
            </a:r>
          </a:p>
        </p:txBody>
      </p:sp>
    </p:spTree>
    <p:extLst>
      <p:ext uri="{BB962C8B-B14F-4D97-AF65-F5344CB8AC3E}">
        <p14:creationId xmlns:p14="http://schemas.microsoft.com/office/powerpoint/2010/main" val="3962694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19B8D31B-3483-E75E-108C-032A8312B6B2}"/>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88139"/>
            <a:ext cx="8172000" cy="1173479"/>
          </a:xfrm>
        </p:spPr>
        <p:txBody>
          <a:bodyPr anchor="ctr"/>
          <a:lstStyle/>
          <a:p>
            <a:r>
              <a:rPr lang="en-US" noProof="0" dirty="0"/>
              <a:t>Figure 5-9 Boolean Query B with Use of Parentheses</a:t>
            </a:r>
          </a:p>
        </p:txBody>
      </p:sp>
      <p:pic>
        <p:nvPicPr>
          <p:cNvPr id="9" name="Picture 8" descr="A Boolean query B with the use of parentheses. &#10;&#10;For long description in Notes pane, press F6.">
            <a:extLst>
              <a:ext uri="{FF2B5EF4-FFF2-40B4-BE49-F238E27FC236}">
                <a16:creationId xmlns:a16="http://schemas.microsoft.com/office/drawing/2014/main" id="{888301D3-04AD-4B28-9D73-3845ECDD7C5E}"/>
              </a:ext>
            </a:extLst>
          </p:cNvPr>
          <p:cNvPicPr>
            <a:picLocks noChangeAspect="1"/>
          </p:cNvPicPr>
          <p:nvPr/>
        </p:nvPicPr>
        <p:blipFill>
          <a:blip r:embed="rId3"/>
          <a:stretch>
            <a:fillRect/>
          </a:stretch>
        </p:blipFill>
        <p:spPr>
          <a:xfrm>
            <a:off x="2016718" y="1841230"/>
            <a:ext cx="5298479" cy="4310162"/>
          </a:xfrm>
          <a:prstGeom prst="rect">
            <a:avLst/>
          </a:prstGeom>
        </p:spPr>
      </p:pic>
    </p:spTree>
    <p:extLst>
      <p:ext uri="{BB962C8B-B14F-4D97-AF65-F5344CB8AC3E}">
        <p14:creationId xmlns:p14="http://schemas.microsoft.com/office/powerpoint/2010/main" val="377020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66ED417C-D7AC-C9CD-C0AC-3F8C8CCC965E}"/>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Using Ranges for Qualification</a:t>
            </a:r>
          </a:p>
        </p:txBody>
      </p:sp>
      <p:sp>
        <p:nvSpPr>
          <p:cNvPr id="6" name="Content Placeholder 5"/>
          <p:cNvSpPr>
            <a:spLocks noGrp="1"/>
          </p:cNvSpPr>
          <p:nvPr>
            <p:ph sz="quarter" idx="13"/>
          </p:nvPr>
        </p:nvSpPr>
        <p:spPr>
          <a:xfrm>
            <a:off x="457200" y="1554920"/>
            <a:ext cx="8232775" cy="3312000"/>
          </a:xfrm>
        </p:spPr>
        <p:txBody>
          <a:bodyPr/>
          <a:lstStyle/>
          <a:p>
            <a:r>
              <a:rPr lang="en-US" altLang="en-US" noProof="0" dirty="0"/>
              <a:t>SELECT Product</a:t>
            </a:r>
            <a:r>
              <a:rPr lang="en-US" altLang="en-US" sz="100" noProof="0" dirty="0"/>
              <a:t> </a:t>
            </a:r>
            <a:r>
              <a:rPr lang="en-US" altLang="en-US" noProof="0" dirty="0"/>
              <a:t>Description, Product</a:t>
            </a:r>
            <a:r>
              <a:rPr lang="en-US" altLang="en-US" sz="100" noProof="0" dirty="0"/>
              <a:t> </a:t>
            </a:r>
            <a:r>
              <a:rPr lang="en-US" altLang="en-US" noProof="0" dirty="0"/>
              <a:t>Standard</a:t>
            </a:r>
            <a:r>
              <a:rPr lang="en-US" altLang="en-US" sz="100" noProof="0" dirty="0"/>
              <a:t> </a:t>
            </a:r>
            <a:r>
              <a:rPr lang="en-US" altLang="en-US" noProof="0" dirty="0"/>
              <a:t>Price</a:t>
            </a:r>
            <a:br>
              <a:rPr lang="en-US" altLang="en-US" noProof="0" dirty="0"/>
            </a:br>
            <a:r>
              <a:rPr lang="en-US" altLang="en-US" noProof="0" dirty="0"/>
              <a:t>    FROM Product_T</a:t>
            </a:r>
            <a:br>
              <a:rPr lang="en-US" altLang="en-US" noProof="0" dirty="0"/>
            </a:br>
            <a:r>
              <a:rPr lang="en-US" altLang="en-US" noProof="0" dirty="0"/>
              <a:t>          WHERE Product</a:t>
            </a:r>
            <a:r>
              <a:rPr lang="en-US" altLang="en-US" sz="100" noProof="0" dirty="0"/>
              <a:t> </a:t>
            </a:r>
            <a:r>
              <a:rPr lang="en-US" altLang="en-US" noProof="0" dirty="0"/>
              <a:t>Standard</a:t>
            </a:r>
            <a:r>
              <a:rPr lang="en-US" altLang="en-US" sz="100" noProof="0" dirty="0"/>
              <a:t> </a:t>
            </a:r>
            <a:r>
              <a:rPr lang="en-US" altLang="en-US" noProof="0" dirty="0"/>
              <a:t>Price &gt; = 200 AND</a:t>
            </a:r>
            <a:br>
              <a:rPr lang="en-US" altLang="en-US" noProof="0" dirty="0"/>
            </a:br>
            <a:r>
              <a:rPr lang="en-US" altLang="en-US" noProof="0" dirty="0"/>
              <a:t>          Product</a:t>
            </a:r>
            <a:r>
              <a:rPr lang="en-US" altLang="en-US" sz="100" noProof="0" dirty="0"/>
              <a:t> </a:t>
            </a:r>
            <a:r>
              <a:rPr lang="en-US" altLang="en-US" noProof="0" dirty="0"/>
              <a:t>Standard</a:t>
            </a:r>
            <a:r>
              <a:rPr lang="en-US" altLang="en-US" sz="100" noProof="0" dirty="0"/>
              <a:t> </a:t>
            </a:r>
            <a:r>
              <a:rPr lang="en-US" altLang="en-US" noProof="0" dirty="0"/>
              <a:t>Price &lt; = 300;</a:t>
            </a:r>
          </a:p>
          <a:p>
            <a:r>
              <a:rPr lang="en-US" altLang="en-US" noProof="0" dirty="0"/>
              <a:t>SELECT Product</a:t>
            </a:r>
            <a:r>
              <a:rPr lang="en-US" altLang="en-US" sz="100" noProof="0" dirty="0"/>
              <a:t> </a:t>
            </a:r>
            <a:r>
              <a:rPr lang="en-US" altLang="en-US" noProof="0" dirty="0"/>
              <a:t>Description, Product</a:t>
            </a:r>
            <a:r>
              <a:rPr lang="en-US" altLang="en-US" sz="100" noProof="0" dirty="0"/>
              <a:t> </a:t>
            </a:r>
            <a:r>
              <a:rPr lang="en-US" altLang="en-US" noProof="0" dirty="0"/>
              <a:t>Standard</a:t>
            </a:r>
            <a:r>
              <a:rPr lang="en-US" altLang="en-US" sz="100" noProof="0" dirty="0"/>
              <a:t> </a:t>
            </a:r>
            <a:r>
              <a:rPr lang="en-US" altLang="en-US" noProof="0" dirty="0"/>
              <a:t>Price</a:t>
            </a:r>
            <a:br>
              <a:rPr lang="en-US" altLang="en-US" noProof="0" dirty="0"/>
            </a:br>
            <a:r>
              <a:rPr lang="en-US" altLang="en-US" noProof="0" dirty="0"/>
              <a:t>    FROM Product_T</a:t>
            </a:r>
            <a:br>
              <a:rPr lang="en-US" altLang="en-US" noProof="0" dirty="0"/>
            </a:br>
            <a:r>
              <a:rPr lang="en-US" altLang="en-US" noProof="0" dirty="0"/>
              <a:t>         WHERE Product</a:t>
            </a:r>
            <a:r>
              <a:rPr lang="en-US" altLang="en-US" sz="100" noProof="0" dirty="0"/>
              <a:t> </a:t>
            </a:r>
            <a:r>
              <a:rPr lang="en-US" altLang="en-US" noProof="0" dirty="0"/>
              <a:t>Standard</a:t>
            </a:r>
            <a:r>
              <a:rPr lang="en-US" altLang="en-US" sz="100" noProof="0" dirty="0"/>
              <a:t> </a:t>
            </a:r>
            <a:r>
              <a:rPr lang="en-US" altLang="en-US" noProof="0" dirty="0"/>
              <a:t>Price BETWEEN 20 </a:t>
            </a:r>
            <a:br>
              <a:rPr lang="en-US" altLang="en-US" noProof="0" dirty="0"/>
            </a:br>
            <a:r>
              <a:rPr lang="en-US" altLang="en-US" noProof="0" dirty="0"/>
              <a:t>         AND 300;</a:t>
            </a:r>
          </a:p>
        </p:txBody>
      </p:sp>
    </p:spTree>
    <p:extLst>
      <p:ext uri="{BB962C8B-B14F-4D97-AF65-F5344CB8AC3E}">
        <p14:creationId xmlns:p14="http://schemas.microsoft.com/office/powerpoint/2010/main" val="28949723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F45B5612-00CC-5554-88DA-1DE5CD39D43A}"/>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Using Distinct Values</a:t>
            </a:r>
          </a:p>
        </p:txBody>
      </p:sp>
      <p:sp>
        <p:nvSpPr>
          <p:cNvPr id="6" name="Content Placeholder 5"/>
          <p:cNvSpPr>
            <a:spLocks noGrp="1"/>
          </p:cNvSpPr>
          <p:nvPr>
            <p:ph sz="quarter" idx="13"/>
          </p:nvPr>
        </p:nvSpPr>
        <p:spPr>
          <a:xfrm>
            <a:off x="457200" y="1554920"/>
            <a:ext cx="8232775" cy="1800000"/>
          </a:xfrm>
        </p:spPr>
        <p:txBody>
          <a:bodyPr/>
          <a:lstStyle/>
          <a:p>
            <a:r>
              <a:rPr lang="en-US" altLang="en-US" noProof="0" dirty="0"/>
              <a:t>What are the unique combinations of order number and order quantity included in the Order</a:t>
            </a:r>
            <a:r>
              <a:rPr lang="en-US" altLang="en-US" sz="100" noProof="0" dirty="0"/>
              <a:t> </a:t>
            </a:r>
            <a:r>
              <a:rPr lang="en-US" altLang="en-US" noProof="0" dirty="0"/>
              <a:t>Line table?</a:t>
            </a:r>
          </a:p>
          <a:p>
            <a:pPr lvl="1"/>
            <a:r>
              <a:rPr lang="en-US" altLang="en-US" noProof="0" dirty="0"/>
              <a:t>SELECT DISTINCT Order</a:t>
            </a:r>
            <a:r>
              <a:rPr lang="en-US" altLang="en-US" sz="100" noProof="0" dirty="0"/>
              <a:t> </a:t>
            </a:r>
            <a:r>
              <a:rPr lang="en-US" altLang="en-US" noProof="0" dirty="0"/>
              <a:t>I</a:t>
            </a:r>
            <a:r>
              <a:rPr lang="en-US" altLang="en-US" sz="100" noProof="0" dirty="0"/>
              <a:t> </a:t>
            </a:r>
            <a:r>
              <a:rPr lang="en-US" altLang="en-US" noProof="0" dirty="0"/>
              <a:t>D, Ordered</a:t>
            </a:r>
            <a:r>
              <a:rPr lang="en-US" altLang="en-US" sz="100" noProof="0" dirty="0"/>
              <a:t> </a:t>
            </a:r>
            <a:r>
              <a:rPr lang="en-US" altLang="en-US" noProof="0" dirty="0"/>
              <a:t>Quantity</a:t>
            </a:r>
            <a:br>
              <a:rPr lang="en-US" altLang="en-US" noProof="0" dirty="0"/>
            </a:br>
            <a:r>
              <a:rPr lang="en-US" altLang="en-US" noProof="0" dirty="0"/>
              <a:t>     FROM Order</a:t>
            </a:r>
            <a:r>
              <a:rPr lang="en-US" altLang="en-US" sz="100" noProof="0" dirty="0"/>
              <a:t> </a:t>
            </a:r>
            <a:r>
              <a:rPr lang="en-US" altLang="en-US" noProof="0" dirty="0"/>
              <a:t>Line_T;</a:t>
            </a:r>
          </a:p>
        </p:txBody>
      </p:sp>
    </p:spTree>
    <p:extLst>
      <p:ext uri="{BB962C8B-B14F-4D97-AF65-F5344CB8AC3E}">
        <p14:creationId xmlns:p14="http://schemas.microsoft.com/office/powerpoint/2010/main" val="6640377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823D962-1ADC-61E5-806C-4B332EE4F7A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Using IN and NOT IN with Lists</a:t>
            </a:r>
          </a:p>
        </p:txBody>
      </p:sp>
      <p:sp>
        <p:nvSpPr>
          <p:cNvPr id="6" name="Content Placeholder 5"/>
          <p:cNvSpPr>
            <a:spLocks noGrp="1"/>
          </p:cNvSpPr>
          <p:nvPr>
            <p:ph sz="quarter" idx="13"/>
          </p:nvPr>
        </p:nvSpPr>
        <p:spPr>
          <a:xfrm>
            <a:off x="457200" y="1554920"/>
            <a:ext cx="8361680" cy="2484000"/>
          </a:xfrm>
        </p:spPr>
        <p:txBody>
          <a:bodyPr/>
          <a:lstStyle/>
          <a:p>
            <a:r>
              <a:rPr lang="en-US" altLang="en-US" noProof="0" dirty="0"/>
              <a:t>List all customers who live in warmer states</a:t>
            </a:r>
          </a:p>
          <a:p>
            <a:pPr lvl="1"/>
            <a:r>
              <a:rPr lang="en-US" altLang="en-US" noProof="0" dirty="0"/>
              <a:t>SELECT Customer</a:t>
            </a:r>
            <a:r>
              <a:rPr lang="en-US" altLang="en-US" sz="100" noProof="0" dirty="0"/>
              <a:t> </a:t>
            </a:r>
            <a:r>
              <a:rPr lang="en-US" altLang="en-US" noProof="0" dirty="0"/>
              <a:t>Name, Customer</a:t>
            </a:r>
            <a:r>
              <a:rPr lang="en-US" altLang="en-US" sz="100" noProof="0" dirty="0"/>
              <a:t> </a:t>
            </a:r>
            <a:r>
              <a:rPr lang="en-US" altLang="en-US" noProof="0" dirty="0"/>
              <a:t>City, </a:t>
            </a:r>
            <a:br>
              <a:rPr lang="en-US" altLang="en-US" noProof="0" dirty="0"/>
            </a:br>
            <a:r>
              <a:rPr lang="en-US" altLang="en-US" noProof="0" dirty="0"/>
              <a:t>Customer</a:t>
            </a:r>
            <a:r>
              <a:rPr lang="en-US" altLang="en-US" sz="100" noProof="0" dirty="0"/>
              <a:t> </a:t>
            </a:r>
            <a:r>
              <a:rPr lang="en-US" altLang="en-US" noProof="0" dirty="0"/>
              <a:t>State</a:t>
            </a:r>
            <a:br>
              <a:rPr lang="en-US" altLang="en-US" noProof="0" dirty="0"/>
            </a:br>
            <a:r>
              <a:rPr lang="en-US" altLang="en-US" noProof="0" dirty="0"/>
              <a:t>     FROM Customer_T</a:t>
            </a:r>
            <a:br>
              <a:rPr lang="en-US" altLang="en-US" noProof="0" dirty="0"/>
            </a:br>
            <a:r>
              <a:rPr lang="en-US" altLang="en-US" noProof="0" dirty="0"/>
              <a:t>          WHERE Customer</a:t>
            </a:r>
            <a:r>
              <a:rPr lang="en-US" altLang="en-US" sz="100" noProof="0" dirty="0"/>
              <a:t> </a:t>
            </a:r>
            <a:r>
              <a:rPr lang="en-US" altLang="en-US" noProof="0" dirty="0"/>
              <a:t>State IN (‘F</a:t>
            </a:r>
            <a:r>
              <a:rPr lang="en-US" altLang="en-US" sz="100" noProof="0" dirty="0"/>
              <a:t> </a:t>
            </a:r>
            <a:r>
              <a:rPr lang="en-US" altLang="en-US" noProof="0" dirty="0"/>
              <a:t>L’, ‘T</a:t>
            </a:r>
            <a:r>
              <a:rPr lang="en-US" altLang="en-US" sz="100" noProof="0" dirty="0"/>
              <a:t> </a:t>
            </a:r>
            <a:r>
              <a:rPr lang="en-US" altLang="en-US" noProof="0" dirty="0"/>
              <a:t>X’, ‘C</a:t>
            </a:r>
            <a:r>
              <a:rPr lang="en-US" altLang="en-US" sz="100" noProof="0" dirty="0"/>
              <a:t> </a:t>
            </a:r>
            <a:r>
              <a:rPr lang="en-US" altLang="en-US" noProof="0" dirty="0"/>
              <a:t>A’, ‘H</a:t>
            </a:r>
            <a:r>
              <a:rPr lang="en-US" altLang="en-US" sz="100" noProof="0" dirty="0"/>
              <a:t> </a:t>
            </a:r>
            <a:r>
              <a:rPr lang="en-US" altLang="en-US" noProof="0" dirty="0"/>
              <a:t>I’);</a:t>
            </a:r>
          </a:p>
        </p:txBody>
      </p:sp>
    </p:spTree>
    <p:extLst>
      <p:ext uri="{BB962C8B-B14F-4D97-AF65-F5344CB8AC3E}">
        <p14:creationId xmlns:p14="http://schemas.microsoft.com/office/powerpoint/2010/main" val="2319183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A28B85D7-BD9B-E023-C703-0882F9F3497B}"/>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noProof="0" dirty="0"/>
              <a:t>Additional Clauses</a:t>
            </a:r>
            <a:endParaRPr lang="en-US" b="0" noProof="0" dirty="0"/>
          </a:p>
        </p:txBody>
      </p:sp>
      <p:graphicFrame>
        <p:nvGraphicFramePr>
          <p:cNvPr id="4" name="Table 3">
            <a:extLst>
              <a:ext uri="{FF2B5EF4-FFF2-40B4-BE49-F238E27FC236}">
                <a16:creationId xmlns:a16="http://schemas.microsoft.com/office/drawing/2014/main" id="{D2615828-B459-4EBA-AF38-B63D6F1BB33E}"/>
              </a:ext>
            </a:extLst>
          </p:cNvPr>
          <p:cNvGraphicFramePr>
            <a:graphicFrameLocks noGrp="1"/>
          </p:cNvGraphicFramePr>
          <p:nvPr>
            <p:extLst>
              <p:ext uri="{D42A27DB-BD31-4B8C-83A1-F6EECF244321}">
                <p14:modId xmlns:p14="http://schemas.microsoft.com/office/powerpoint/2010/main" val="3737920227"/>
              </p:ext>
            </p:extLst>
          </p:nvPr>
        </p:nvGraphicFramePr>
        <p:xfrm>
          <a:off x="691118" y="2077485"/>
          <a:ext cx="7846828" cy="2870200"/>
        </p:xfrm>
        <a:graphic>
          <a:graphicData uri="http://schemas.openxmlformats.org/drawingml/2006/table">
            <a:tbl>
              <a:tblPr firstRow="1" bandRow="1">
                <a:tableStyleId>{5940675A-B579-460E-94D1-54222C63F5DA}</a:tableStyleId>
              </a:tblPr>
              <a:tblGrid>
                <a:gridCol w="2286000">
                  <a:extLst>
                    <a:ext uri="{9D8B030D-6E8A-4147-A177-3AD203B41FA5}">
                      <a16:colId xmlns:a16="http://schemas.microsoft.com/office/drawing/2014/main" val="3295690326"/>
                    </a:ext>
                  </a:extLst>
                </a:gridCol>
                <a:gridCol w="5560828">
                  <a:extLst>
                    <a:ext uri="{9D8B030D-6E8A-4147-A177-3AD203B41FA5}">
                      <a16:colId xmlns:a16="http://schemas.microsoft.com/office/drawing/2014/main" val="470541495"/>
                    </a:ext>
                  </a:extLst>
                </a:gridCol>
              </a:tblGrid>
              <a:tr h="370840">
                <a:tc>
                  <a:txBody>
                    <a:bodyPr/>
                    <a:lstStyle/>
                    <a:p>
                      <a:pPr algn="ctr"/>
                      <a:r>
                        <a:rPr lang="en-US" sz="1800" b="1" noProof="0" dirty="0">
                          <a:latin typeface="+mn-lt"/>
                        </a:rPr>
                        <a:t>Clause</a:t>
                      </a:r>
                    </a:p>
                  </a:txBody>
                  <a:tcPr/>
                </a:tc>
                <a:tc>
                  <a:txBody>
                    <a:bodyPr/>
                    <a:lstStyle/>
                    <a:p>
                      <a:r>
                        <a:rPr lang="en-US" sz="1800" b="1" noProof="0" dirty="0">
                          <a:latin typeface="+mn-lt"/>
                        </a:rPr>
                        <a:t>Result</a:t>
                      </a:r>
                    </a:p>
                  </a:txBody>
                  <a:tcPr/>
                </a:tc>
                <a:extLst>
                  <a:ext uri="{0D108BD9-81ED-4DB2-BD59-A6C34878D82A}">
                    <a16:rowId xmlns:a16="http://schemas.microsoft.com/office/drawing/2014/main" val="2280514557"/>
                  </a:ext>
                </a:extLst>
              </a:tr>
              <a:tr h="370840">
                <a:tc>
                  <a:txBody>
                    <a:bodyPr/>
                    <a:lstStyle/>
                    <a:p>
                      <a:pPr marL="0" marR="0" algn="ctr">
                        <a:lnSpc>
                          <a:spcPts val="1200"/>
                        </a:lnSpc>
                        <a:spcBef>
                          <a:spcPts val="300"/>
                        </a:spcBef>
                        <a:spcAft>
                          <a:spcPts val="300"/>
                        </a:spcAft>
                      </a:pPr>
                      <a:r>
                        <a:rPr lang="en-US" sz="1800" b="1" i="0" noProof="0" dirty="0">
                          <a:effectLst/>
                          <a:latin typeface="+mn-lt"/>
                          <a:ea typeface="Times New Roman" panose="02020603050405020304" pitchFamily="18" charset="0"/>
                          <a:cs typeface="Times New Roman" panose="02020603050405020304" pitchFamily="18" charset="0"/>
                        </a:rPr>
                        <a:t>ORDER BY</a:t>
                      </a:r>
                    </a:p>
                  </a:txBody>
                  <a:tcPr marL="228600" marR="50800" marT="50800" marB="50800" anchor="ctr"/>
                </a:tc>
                <a:tc>
                  <a:txBody>
                    <a:bodyPr/>
                    <a:lstStyle/>
                    <a:p>
                      <a:pPr marL="0" marR="0">
                        <a:lnSpc>
                          <a:spcPct val="100000"/>
                        </a:lnSpc>
                        <a:spcBef>
                          <a:spcPts val="300"/>
                        </a:spcBef>
                        <a:spcAft>
                          <a:spcPts val="300"/>
                        </a:spcAft>
                      </a:pPr>
                      <a:r>
                        <a:rPr lang="en-US" sz="1800" noProof="0" dirty="0">
                          <a:effectLst/>
                          <a:latin typeface="+mn-lt"/>
                          <a:ea typeface="Times New Roman" panose="02020603050405020304" pitchFamily="18" charset="0"/>
                          <a:cs typeface="Times New Roman" panose="02020603050405020304" pitchFamily="18" charset="0"/>
                        </a:rPr>
                        <a:t>Sorts the final results rows in ascending or descending order.</a:t>
                      </a:r>
                    </a:p>
                  </a:txBody>
                  <a:tcPr marL="50800" marR="0" marT="50800" marB="50800" anchor="ctr"/>
                </a:tc>
                <a:extLst>
                  <a:ext uri="{0D108BD9-81ED-4DB2-BD59-A6C34878D82A}">
                    <a16:rowId xmlns:a16="http://schemas.microsoft.com/office/drawing/2014/main" val="2854050607"/>
                  </a:ext>
                </a:extLst>
              </a:tr>
              <a:tr h="370840">
                <a:tc>
                  <a:txBody>
                    <a:bodyPr/>
                    <a:lstStyle/>
                    <a:p>
                      <a:pPr marL="0" marR="0" algn="ctr">
                        <a:lnSpc>
                          <a:spcPts val="1200"/>
                        </a:lnSpc>
                        <a:spcBef>
                          <a:spcPts val="300"/>
                        </a:spcBef>
                        <a:spcAft>
                          <a:spcPts val="300"/>
                        </a:spcAft>
                      </a:pPr>
                      <a:r>
                        <a:rPr lang="en-US" sz="1800" b="1" i="0" noProof="0" dirty="0">
                          <a:effectLst/>
                          <a:latin typeface="+mn-lt"/>
                          <a:ea typeface="Times New Roman" panose="02020603050405020304" pitchFamily="18" charset="0"/>
                          <a:cs typeface="Times New Roman" panose="02020603050405020304" pitchFamily="18" charset="0"/>
                        </a:rPr>
                        <a:t>GROUP BY</a:t>
                      </a:r>
                    </a:p>
                  </a:txBody>
                  <a:tcPr marL="228600" marR="50800" marT="50800" marB="50800" anchor="ctr"/>
                </a:tc>
                <a:tc>
                  <a:txBody>
                    <a:bodyPr/>
                    <a:lstStyle/>
                    <a:p>
                      <a:pPr marL="0" marR="0">
                        <a:lnSpc>
                          <a:spcPct val="100000"/>
                        </a:lnSpc>
                        <a:spcBef>
                          <a:spcPts val="300"/>
                        </a:spcBef>
                        <a:spcAft>
                          <a:spcPts val="300"/>
                        </a:spcAft>
                      </a:pPr>
                      <a:r>
                        <a:rPr lang="en-US" sz="1800" b="0" i="0" u="none" strike="noStrike" cap="none" noProof="0" dirty="0">
                          <a:solidFill>
                            <a:schemeClr val="dk1"/>
                          </a:solidFill>
                          <a:effectLst/>
                          <a:latin typeface="+mn-lt"/>
                          <a:ea typeface="Times New Roman" panose="02020603050405020304" pitchFamily="18" charset="0"/>
                          <a:cs typeface="Times New Roman" panose="02020603050405020304" pitchFamily="18" charset="0"/>
                          <a:sym typeface="Arial"/>
                        </a:rPr>
                        <a:t>Groups rows in an intermediate results table where the values in those rows are the same for one or more columns.</a:t>
                      </a:r>
                    </a:p>
                  </a:txBody>
                  <a:tcPr marL="50800" marR="50800" marT="50800" marB="50800"/>
                </a:tc>
                <a:extLst>
                  <a:ext uri="{0D108BD9-81ED-4DB2-BD59-A6C34878D82A}">
                    <a16:rowId xmlns:a16="http://schemas.microsoft.com/office/drawing/2014/main" val="3975204147"/>
                  </a:ext>
                </a:extLst>
              </a:tr>
              <a:tr h="370840">
                <a:tc>
                  <a:txBody>
                    <a:bodyPr/>
                    <a:lstStyle/>
                    <a:p>
                      <a:pPr marL="0" marR="0" algn="ctr">
                        <a:lnSpc>
                          <a:spcPts val="1200"/>
                        </a:lnSpc>
                        <a:spcBef>
                          <a:spcPts val="300"/>
                        </a:spcBef>
                        <a:spcAft>
                          <a:spcPts val="300"/>
                        </a:spcAft>
                      </a:pPr>
                      <a:r>
                        <a:rPr lang="en-US" sz="1800" b="1" i="0" noProof="0" dirty="0">
                          <a:effectLst/>
                          <a:latin typeface="+mn-lt"/>
                          <a:ea typeface="Times New Roman" panose="02020603050405020304" pitchFamily="18" charset="0"/>
                          <a:cs typeface="Times New Roman" panose="02020603050405020304" pitchFamily="18" charset="0"/>
                        </a:rPr>
                        <a:t>HAVING</a:t>
                      </a:r>
                    </a:p>
                  </a:txBody>
                  <a:tcPr marL="228600" marR="50800" marT="50800" marB="50800" anchor="ctr"/>
                </a:tc>
                <a:tc>
                  <a:txBody>
                    <a:bodyPr/>
                    <a:lstStyle/>
                    <a:p>
                      <a:pPr marL="0" marR="0">
                        <a:lnSpc>
                          <a:spcPct val="100000"/>
                        </a:lnSpc>
                        <a:spcBef>
                          <a:spcPts val="300"/>
                        </a:spcBef>
                        <a:spcAft>
                          <a:spcPts val="300"/>
                        </a:spcAft>
                      </a:pPr>
                      <a:r>
                        <a:rPr lang="en-US" sz="1800" noProof="0" dirty="0">
                          <a:effectLst/>
                          <a:latin typeface="+mn-lt"/>
                          <a:ea typeface="Times New Roman" panose="02020603050405020304" pitchFamily="18" charset="0"/>
                          <a:cs typeface="Times New Roman" panose="02020603050405020304" pitchFamily="18" charset="0"/>
                        </a:rPr>
                        <a:t>Can only be used following a GROUP BY and acts as a secondary WHERE clause, returning only those groups that meet a specified condition.</a:t>
                      </a:r>
                    </a:p>
                  </a:txBody>
                  <a:tcPr marL="50800" marR="0" marT="50800" marB="50800" anchor="ctr"/>
                </a:tc>
                <a:extLst>
                  <a:ext uri="{0D108BD9-81ED-4DB2-BD59-A6C34878D82A}">
                    <a16:rowId xmlns:a16="http://schemas.microsoft.com/office/drawing/2014/main" val="1212563711"/>
                  </a:ext>
                </a:extLst>
              </a:tr>
            </a:tbl>
          </a:graphicData>
        </a:graphic>
      </p:graphicFrame>
    </p:spTree>
    <p:extLst>
      <p:ext uri="{BB962C8B-B14F-4D97-AF65-F5344CB8AC3E}">
        <p14:creationId xmlns:p14="http://schemas.microsoft.com/office/powerpoint/2010/main" val="40301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B7B3993F-2EBD-1FFC-3D5E-1786975AF74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0507"/>
            <a:ext cx="8229600" cy="1207007"/>
          </a:xfrm>
        </p:spPr>
        <p:txBody>
          <a:bodyPr anchor="ctr"/>
          <a:lstStyle/>
          <a:p>
            <a:r>
              <a:rPr lang="en-US" noProof="0" dirty="0"/>
              <a:t>Sorting Results: The ORDER BY Clause</a:t>
            </a:r>
          </a:p>
        </p:txBody>
      </p:sp>
      <p:sp>
        <p:nvSpPr>
          <p:cNvPr id="6" name="Content Placeholder 5"/>
          <p:cNvSpPr>
            <a:spLocks noGrp="1"/>
          </p:cNvSpPr>
          <p:nvPr>
            <p:ph sz="quarter" idx="13"/>
          </p:nvPr>
        </p:nvSpPr>
        <p:spPr>
          <a:xfrm>
            <a:off x="457200" y="1554920"/>
            <a:ext cx="8232775" cy="2844000"/>
          </a:xfrm>
        </p:spPr>
        <p:txBody>
          <a:bodyPr/>
          <a:lstStyle/>
          <a:p>
            <a:r>
              <a:rPr lang="en-US" altLang="en-US" sz="2200" noProof="0" dirty="0"/>
              <a:t>Sort the results first by STATE, and within a state by the CUSTOMER NAME</a:t>
            </a:r>
          </a:p>
          <a:p>
            <a:pPr lvl="1"/>
            <a:r>
              <a:rPr lang="en-US" sz="2200" noProof="0" dirty="0"/>
              <a:t>SELECT Customer</a:t>
            </a:r>
            <a:r>
              <a:rPr lang="en-US" sz="100" noProof="0" dirty="0"/>
              <a:t> </a:t>
            </a:r>
            <a:r>
              <a:rPr lang="en-US" sz="2200" noProof="0" dirty="0"/>
              <a:t>Name, Customer</a:t>
            </a:r>
            <a:r>
              <a:rPr lang="en-US" sz="100" noProof="0" dirty="0"/>
              <a:t> </a:t>
            </a:r>
            <a:r>
              <a:rPr lang="en-US" sz="2200" noProof="0" dirty="0"/>
              <a:t>City, </a:t>
            </a:r>
            <a:br>
              <a:rPr lang="en-US" sz="2200" noProof="0" dirty="0"/>
            </a:br>
            <a:r>
              <a:rPr lang="en-US" sz="2200" noProof="0" dirty="0"/>
              <a:t>Customer</a:t>
            </a:r>
            <a:r>
              <a:rPr lang="en-US" sz="100" noProof="0" dirty="0"/>
              <a:t> </a:t>
            </a:r>
            <a:r>
              <a:rPr lang="en-US" sz="2200" noProof="0" dirty="0"/>
              <a:t>State</a:t>
            </a:r>
          </a:p>
          <a:p>
            <a:pPr marL="432" indent="0">
              <a:spcBef>
                <a:spcPts val="600"/>
              </a:spcBef>
              <a:buNone/>
            </a:pPr>
            <a:r>
              <a:rPr lang="en-US" sz="2200" noProof="0" dirty="0"/>
              <a:t>              FROM Customer_T</a:t>
            </a:r>
          </a:p>
          <a:p>
            <a:pPr marL="432" indent="0">
              <a:spcBef>
                <a:spcPts val="600"/>
              </a:spcBef>
              <a:buNone/>
            </a:pPr>
            <a:r>
              <a:rPr lang="en-US" sz="2200" noProof="0" dirty="0"/>
              <a:t>                   WHERE Customer</a:t>
            </a:r>
            <a:r>
              <a:rPr lang="en-US" sz="100" noProof="0" dirty="0"/>
              <a:t> </a:t>
            </a:r>
            <a:r>
              <a:rPr lang="en-US" sz="2200" noProof="0" dirty="0"/>
              <a:t>State IN (‘F</a:t>
            </a:r>
            <a:r>
              <a:rPr lang="en-US" sz="100" noProof="0" dirty="0"/>
              <a:t> </a:t>
            </a:r>
            <a:r>
              <a:rPr lang="en-US" sz="2200" noProof="0" dirty="0"/>
              <a:t>L’, ‘T</a:t>
            </a:r>
            <a:r>
              <a:rPr lang="en-US" sz="100" noProof="0" dirty="0"/>
              <a:t> </a:t>
            </a:r>
            <a:r>
              <a:rPr lang="en-US" sz="2200" noProof="0" dirty="0"/>
              <a:t>X’, ‘C</a:t>
            </a:r>
            <a:r>
              <a:rPr lang="en-US" sz="100" noProof="0" dirty="0"/>
              <a:t> </a:t>
            </a:r>
            <a:r>
              <a:rPr lang="en-US" sz="2200" noProof="0" dirty="0"/>
              <a:t>A’, ‘H</a:t>
            </a:r>
            <a:r>
              <a:rPr lang="en-US" sz="100" noProof="0" dirty="0"/>
              <a:t> </a:t>
            </a:r>
            <a:r>
              <a:rPr lang="en-US" sz="2200" noProof="0" dirty="0"/>
              <a:t>I’)</a:t>
            </a:r>
          </a:p>
          <a:p>
            <a:pPr marL="432" indent="0">
              <a:spcBef>
                <a:spcPts val="600"/>
              </a:spcBef>
              <a:buNone/>
            </a:pPr>
            <a:r>
              <a:rPr lang="en-US" sz="2200" noProof="0" dirty="0"/>
              <a:t>                        ORDER BY Customer</a:t>
            </a:r>
            <a:r>
              <a:rPr lang="en-US" sz="100" noProof="0" dirty="0"/>
              <a:t> </a:t>
            </a:r>
            <a:r>
              <a:rPr lang="en-US" sz="2200" noProof="0" dirty="0"/>
              <a:t>State, Customer</a:t>
            </a:r>
            <a:r>
              <a:rPr lang="en-US" sz="100" noProof="0" dirty="0"/>
              <a:t> </a:t>
            </a:r>
            <a:r>
              <a:rPr lang="en-US" sz="2200" noProof="0" dirty="0"/>
              <a:t>Name;</a:t>
            </a:r>
          </a:p>
        </p:txBody>
      </p:sp>
    </p:spTree>
    <p:extLst>
      <p:ext uri="{BB962C8B-B14F-4D97-AF65-F5344CB8AC3E}">
        <p14:creationId xmlns:p14="http://schemas.microsoft.com/office/powerpoint/2010/main" val="389630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A390DD09-7B73-3330-20F2-45E191F2B7AF}"/>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0507"/>
            <a:ext cx="8229600" cy="1207007"/>
          </a:xfrm>
        </p:spPr>
        <p:txBody>
          <a:bodyPr anchor="ctr"/>
          <a:lstStyle/>
          <a:p>
            <a:r>
              <a:rPr lang="en-US" noProof="0" dirty="0"/>
              <a:t>Categorizing Results Using GROUP BY Clause </a:t>
            </a:r>
            <a:r>
              <a:rPr lang="en-US" sz="2000" b="0" noProof="0" dirty="0"/>
              <a:t>(1 of 2)</a:t>
            </a:r>
          </a:p>
        </p:txBody>
      </p:sp>
      <p:sp>
        <p:nvSpPr>
          <p:cNvPr id="6" name="Content Placeholder 5"/>
          <p:cNvSpPr>
            <a:spLocks noGrp="1"/>
          </p:cNvSpPr>
          <p:nvPr>
            <p:ph sz="quarter" idx="13"/>
          </p:nvPr>
        </p:nvSpPr>
        <p:spPr>
          <a:xfrm>
            <a:off x="457200" y="1554920"/>
            <a:ext cx="8232775" cy="2196000"/>
          </a:xfrm>
        </p:spPr>
        <p:txBody>
          <a:bodyPr/>
          <a:lstStyle/>
          <a:p>
            <a:pPr eaLnBrk="1" hangingPunct="1"/>
            <a:r>
              <a:rPr lang="en-US" altLang="en-US" noProof="0" dirty="0"/>
              <a:t>For use with aggregate functions</a:t>
            </a:r>
          </a:p>
          <a:p>
            <a:pPr lvl="1" eaLnBrk="1" hangingPunct="1"/>
            <a:r>
              <a:rPr lang="en-US" altLang="en-US" noProof="0" dirty="0"/>
              <a:t>Scalar aggregate: single value returned from S</a:t>
            </a:r>
            <a:r>
              <a:rPr lang="en-US" altLang="en-US" sz="100" noProof="0" dirty="0"/>
              <a:t> </a:t>
            </a:r>
            <a:r>
              <a:rPr lang="en-US" altLang="en-US" noProof="0" dirty="0"/>
              <a:t>Q</a:t>
            </a:r>
            <a:r>
              <a:rPr lang="en-US" altLang="en-US" sz="100" noProof="0" dirty="0"/>
              <a:t> </a:t>
            </a:r>
            <a:r>
              <a:rPr lang="en-US" altLang="en-US" noProof="0" dirty="0"/>
              <a:t>L query with aggregate function</a:t>
            </a:r>
          </a:p>
          <a:p>
            <a:pPr lvl="1" eaLnBrk="1" hangingPunct="1"/>
            <a:r>
              <a:rPr lang="en-US" altLang="en-US" noProof="0" dirty="0"/>
              <a:t>Vector aggregate: multiple values returned from S</a:t>
            </a:r>
            <a:r>
              <a:rPr lang="en-US" altLang="en-US" sz="100" noProof="0" dirty="0"/>
              <a:t> </a:t>
            </a:r>
            <a:r>
              <a:rPr lang="en-US" altLang="en-US" noProof="0" dirty="0"/>
              <a:t>Q</a:t>
            </a:r>
            <a:r>
              <a:rPr lang="en-US" altLang="en-US" sz="100" noProof="0" dirty="0"/>
              <a:t> </a:t>
            </a:r>
            <a:r>
              <a:rPr lang="en-US" altLang="en-US" noProof="0" dirty="0"/>
              <a:t>L query with aggregate function (via GROUP BY)</a:t>
            </a:r>
          </a:p>
        </p:txBody>
      </p:sp>
    </p:spTree>
    <p:extLst>
      <p:ext uri="{BB962C8B-B14F-4D97-AF65-F5344CB8AC3E}">
        <p14:creationId xmlns:p14="http://schemas.microsoft.com/office/powerpoint/2010/main" val="21930685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1F3F5685-136C-6A1C-1E32-FD1DD21822FD}"/>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0507"/>
            <a:ext cx="8229600" cy="1207007"/>
          </a:xfrm>
        </p:spPr>
        <p:txBody>
          <a:bodyPr anchor="ctr"/>
          <a:lstStyle/>
          <a:p>
            <a:r>
              <a:rPr kumimoji="0" lang="en-US" b="1" i="0" u="none" strike="noStrike" kern="0" cap="none" spc="0" normalizeH="0" baseline="0" noProof="0" dirty="0">
                <a:ln>
                  <a:noFill/>
                </a:ln>
                <a:solidFill>
                  <a:srgbClr val="007FA3"/>
                </a:solidFill>
                <a:effectLst/>
                <a:uLnTx/>
                <a:uFillTx/>
                <a:cs typeface="Times New Roman"/>
                <a:sym typeface="Times New Roman"/>
              </a:rPr>
              <a:t>Categorizing Results Using GROUP BY Clause </a:t>
            </a:r>
            <a:r>
              <a:rPr kumimoji="0" lang="en-US" sz="2000" b="0" i="0" u="none" strike="noStrike" kern="0" cap="none" spc="0" normalizeH="0" baseline="0" noProof="0" dirty="0">
                <a:ln>
                  <a:noFill/>
                </a:ln>
                <a:solidFill>
                  <a:srgbClr val="007FA3"/>
                </a:solidFill>
                <a:effectLst/>
                <a:uLnTx/>
                <a:uFillTx/>
                <a:cs typeface="Times New Roman"/>
                <a:sym typeface="Times New Roman"/>
              </a:rPr>
              <a:t>(2 of 2)</a:t>
            </a:r>
            <a:endParaRPr lang="en-US" sz="2000" noProof="0" dirty="0"/>
          </a:p>
        </p:txBody>
      </p:sp>
      <p:sp>
        <p:nvSpPr>
          <p:cNvPr id="6" name="Content Placeholder 5"/>
          <p:cNvSpPr>
            <a:spLocks noGrp="1"/>
          </p:cNvSpPr>
          <p:nvPr>
            <p:ph sz="quarter" idx="13"/>
          </p:nvPr>
        </p:nvSpPr>
        <p:spPr>
          <a:xfrm>
            <a:off x="457200" y="1554920"/>
            <a:ext cx="8232775" cy="2988000"/>
          </a:xfrm>
        </p:spPr>
        <p:txBody>
          <a:bodyPr/>
          <a:lstStyle/>
          <a:p>
            <a:pPr eaLnBrk="1" hangingPunct="1"/>
            <a:r>
              <a:rPr lang="en-US" altLang="en-US" noProof="0" dirty="0"/>
              <a:t>Count the number of customers with addresses in each state to which we ship</a:t>
            </a:r>
          </a:p>
          <a:p>
            <a:pPr lvl="1"/>
            <a:r>
              <a:rPr lang="en-US" noProof="0" dirty="0"/>
              <a:t>SELECT Customer</a:t>
            </a:r>
            <a:r>
              <a:rPr lang="en-US" sz="100" noProof="0" dirty="0"/>
              <a:t> </a:t>
            </a:r>
            <a:r>
              <a:rPr lang="en-US" noProof="0" dirty="0"/>
              <a:t>State, COUNT (Customer</a:t>
            </a:r>
            <a:r>
              <a:rPr lang="en-US" sz="100" noProof="0" dirty="0"/>
              <a:t> </a:t>
            </a:r>
            <a:r>
              <a:rPr lang="en-US" noProof="0" dirty="0"/>
              <a:t>State)</a:t>
            </a:r>
          </a:p>
          <a:p>
            <a:pPr marL="857250" lvl="3" indent="0">
              <a:buNone/>
            </a:pPr>
            <a:r>
              <a:rPr lang="en-US" noProof="0" dirty="0"/>
              <a:t>     FROM Customer_T</a:t>
            </a:r>
          </a:p>
          <a:p>
            <a:pPr marL="857250" lvl="3" indent="0">
              <a:buNone/>
            </a:pPr>
            <a:r>
              <a:rPr lang="en-US" noProof="0" dirty="0"/>
              <a:t>          GROUP BY Customer</a:t>
            </a:r>
            <a:r>
              <a:rPr lang="en-US" sz="100" noProof="0" dirty="0"/>
              <a:t> </a:t>
            </a:r>
            <a:r>
              <a:rPr lang="en-US" noProof="0" dirty="0"/>
              <a:t>State</a:t>
            </a:r>
          </a:p>
          <a:p>
            <a:pPr marL="857250" lvl="3" indent="0">
              <a:buNone/>
            </a:pPr>
            <a:r>
              <a:rPr lang="en-US" noProof="0" dirty="0"/>
              <a:t>               ORDER BY Customer</a:t>
            </a:r>
            <a:r>
              <a:rPr lang="en-US" sz="100" noProof="0" dirty="0"/>
              <a:t> </a:t>
            </a:r>
            <a:r>
              <a:rPr lang="en-US" noProof="0" dirty="0"/>
              <a:t>State</a:t>
            </a:r>
          </a:p>
        </p:txBody>
      </p:sp>
    </p:spTree>
    <p:extLst>
      <p:ext uri="{BB962C8B-B14F-4D97-AF65-F5344CB8AC3E}">
        <p14:creationId xmlns:p14="http://schemas.microsoft.com/office/powerpoint/2010/main" val="250625097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7C2DE491-7AB3-5AF1-05E7-DD24344251B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60507"/>
            <a:ext cx="8229600" cy="1207007"/>
          </a:xfrm>
        </p:spPr>
        <p:txBody>
          <a:bodyPr anchor="ctr"/>
          <a:lstStyle/>
          <a:p>
            <a:r>
              <a:rPr lang="en-US" noProof="0" dirty="0"/>
              <a:t>Qualifying Results by Categories Using the HAVING Clause</a:t>
            </a:r>
          </a:p>
        </p:txBody>
      </p:sp>
      <p:sp>
        <p:nvSpPr>
          <p:cNvPr id="6" name="Content Placeholder 5"/>
          <p:cNvSpPr>
            <a:spLocks noGrp="1"/>
          </p:cNvSpPr>
          <p:nvPr>
            <p:ph sz="quarter" idx="13"/>
          </p:nvPr>
        </p:nvSpPr>
        <p:spPr>
          <a:xfrm>
            <a:off x="457200" y="1554920"/>
            <a:ext cx="8232775" cy="2340000"/>
          </a:xfrm>
        </p:spPr>
        <p:txBody>
          <a:bodyPr/>
          <a:lstStyle/>
          <a:p>
            <a:r>
              <a:rPr lang="en-US" noProof="0" dirty="0"/>
              <a:t>Find only states with more than one customer</a:t>
            </a:r>
          </a:p>
          <a:p>
            <a:pPr lvl="1"/>
            <a:r>
              <a:rPr lang="en-US" noProof="0" dirty="0"/>
              <a:t>SELECT Customer</a:t>
            </a:r>
            <a:r>
              <a:rPr lang="en-US" sz="100" noProof="0" dirty="0"/>
              <a:t> </a:t>
            </a:r>
            <a:r>
              <a:rPr lang="en-US" noProof="0" dirty="0"/>
              <a:t>State, COUNT (Customer</a:t>
            </a:r>
            <a:r>
              <a:rPr lang="en-US" sz="100" noProof="0" dirty="0"/>
              <a:t> </a:t>
            </a:r>
            <a:r>
              <a:rPr lang="en-US" noProof="0" dirty="0"/>
              <a:t>State)</a:t>
            </a:r>
          </a:p>
          <a:p>
            <a:pPr marL="487350" lvl="1" indent="0">
              <a:buNone/>
            </a:pPr>
            <a:r>
              <a:rPr lang="en-US" noProof="0" dirty="0"/>
              <a:t>       FROM Customer_T</a:t>
            </a:r>
          </a:p>
          <a:p>
            <a:pPr marL="487350" lvl="1" indent="0">
              <a:buNone/>
            </a:pPr>
            <a:r>
              <a:rPr lang="en-US" noProof="0" dirty="0"/>
              <a:t>             GROUP BY Customer</a:t>
            </a:r>
            <a:r>
              <a:rPr lang="en-US" sz="100" noProof="0" dirty="0"/>
              <a:t> </a:t>
            </a:r>
            <a:r>
              <a:rPr lang="en-US" noProof="0" dirty="0"/>
              <a:t>State</a:t>
            </a:r>
          </a:p>
          <a:p>
            <a:pPr marL="487350" lvl="1" indent="0">
              <a:buNone/>
            </a:pPr>
            <a:r>
              <a:rPr lang="en-US" noProof="0" dirty="0"/>
              <a:t>             HAVING COUNT (Customer</a:t>
            </a:r>
            <a:r>
              <a:rPr lang="en-US" sz="100" noProof="0" dirty="0"/>
              <a:t> </a:t>
            </a:r>
            <a:r>
              <a:rPr lang="en-US" noProof="0" dirty="0"/>
              <a:t>State) &gt; 1;</a:t>
            </a:r>
          </a:p>
        </p:txBody>
      </p:sp>
    </p:spTree>
    <p:extLst>
      <p:ext uri="{BB962C8B-B14F-4D97-AF65-F5344CB8AC3E}">
        <p14:creationId xmlns:p14="http://schemas.microsoft.com/office/powerpoint/2010/main" val="22223827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A4AC080-B7CA-DB76-6928-C1FA9193CE65}"/>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457200" y="188139"/>
            <a:ext cx="8229600" cy="1173479"/>
          </a:xfrm>
        </p:spPr>
        <p:txBody>
          <a:bodyPr anchor="ctr"/>
          <a:lstStyle/>
          <a:p>
            <a:r>
              <a:rPr lang="en-US" noProof="0" dirty="0"/>
              <a:t>Figure 5-10 S</a:t>
            </a:r>
            <a:r>
              <a:rPr lang="en-US" sz="100" noProof="0" dirty="0"/>
              <a:t> </a:t>
            </a:r>
            <a:r>
              <a:rPr lang="en-US" noProof="0" dirty="0"/>
              <a:t>Q</a:t>
            </a:r>
            <a:r>
              <a:rPr lang="en-US" sz="100" noProof="0" dirty="0"/>
              <a:t> </a:t>
            </a:r>
            <a:r>
              <a:rPr lang="en-US" noProof="0" dirty="0"/>
              <a:t>L Statement Processing Order</a:t>
            </a:r>
          </a:p>
        </p:txBody>
      </p:sp>
      <p:sp>
        <p:nvSpPr>
          <p:cNvPr id="8" name="Content Placeholder 7"/>
          <p:cNvSpPr>
            <a:spLocks noGrp="1"/>
          </p:cNvSpPr>
          <p:nvPr>
            <p:ph type="body" idx="1"/>
          </p:nvPr>
        </p:nvSpPr>
        <p:spPr>
          <a:xfrm>
            <a:off x="457201" y="1547455"/>
            <a:ext cx="4043680" cy="2221905"/>
          </a:xfrm>
        </p:spPr>
        <p:txBody>
          <a:bodyPr/>
          <a:lstStyle/>
          <a:p>
            <a:pPr marL="432">
              <a:spcBef>
                <a:spcPts val="600"/>
              </a:spcBef>
            </a:pPr>
            <a:r>
              <a:rPr lang="en-US" sz="1800" noProof="0" dirty="0">
                <a:latin typeface="+mn-lt"/>
              </a:rPr>
              <a:t>SELECT [ALL/DISTINCT] column_list</a:t>
            </a:r>
          </a:p>
          <a:p>
            <a:pPr marL="432">
              <a:spcBef>
                <a:spcPts val="600"/>
              </a:spcBef>
            </a:pPr>
            <a:r>
              <a:rPr lang="en-US" sz="1800" noProof="0" dirty="0">
                <a:latin typeface="+mn-lt"/>
              </a:rPr>
              <a:t>FROM table list</a:t>
            </a:r>
          </a:p>
          <a:p>
            <a:pPr marL="432">
              <a:spcBef>
                <a:spcPts val="600"/>
              </a:spcBef>
            </a:pPr>
            <a:r>
              <a:rPr lang="en-US" sz="1800" noProof="0" dirty="0">
                <a:latin typeface="+mn-lt"/>
              </a:rPr>
              <a:t>[WHERE conditional expression]</a:t>
            </a:r>
          </a:p>
          <a:p>
            <a:pPr marL="432">
              <a:spcBef>
                <a:spcPts val="600"/>
              </a:spcBef>
            </a:pPr>
            <a:r>
              <a:rPr lang="en-US" sz="1800" noProof="0" dirty="0">
                <a:latin typeface="+mn-lt"/>
              </a:rPr>
              <a:t>[GROUP BY group_by_column_list]</a:t>
            </a:r>
          </a:p>
          <a:p>
            <a:pPr marL="432">
              <a:spcBef>
                <a:spcPts val="600"/>
              </a:spcBef>
            </a:pPr>
            <a:r>
              <a:rPr lang="en-US" sz="1800" noProof="0" dirty="0">
                <a:latin typeface="+mn-lt"/>
              </a:rPr>
              <a:t>[HAVING conditional expression]</a:t>
            </a:r>
          </a:p>
          <a:p>
            <a:pPr marL="432">
              <a:spcBef>
                <a:spcPts val="600"/>
              </a:spcBef>
            </a:pPr>
            <a:r>
              <a:rPr lang="en-US" sz="1800" noProof="0" dirty="0">
                <a:latin typeface="+mn-lt"/>
              </a:rPr>
              <a:t>[ORDER BY order_by_column_list]</a:t>
            </a:r>
          </a:p>
        </p:txBody>
      </p:sp>
      <p:pic>
        <p:nvPicPr>
          <p:cNvPr id="7" name="Picture 6" descr="A flowchart for the S Q L statement processing order, based on van der Lans, 2006.&#10;&#10;For long description in Notes pane, press F6.">
            <a:extLst>
              <a:ext uri="{FF2B5EF4-FFF2-40B4-BE49-F238E27FC236}">
                <a16:creationId xmlns:a16="http://schemas.microsoft.com/office/drawing/2014/main" id="{119587CC-A52F-39B3-17F6-BCA69F3B695C}"/>
              </a:ext>
            </a:extLst>
          </p:cNvPr>
          <p:cNvPicPr>
            <a:picLocks noChangeAspect="1"/>
          </p:cNvPicPr>
          <p:nvPr/>
        </p:nvPicPr>
        <p:blipFill>
          <a:blip r:embed="rId3"/>
          <a:stretch>
            <a:fillRect/>
          </a:stretch>
        </p:blipFill>
        <p:spPr>
          <a:xfrm>
            <a:off x="4693449" y="1524115"/>
            <a:ext cx="4098062" cy="4249843"/>
          </a:xfrm>
          <a:prstGeom prst="rect">
            <a:avLst/>
          </a:prstGeom>
        </p:spPr>
      </p:pic>
      <p:sp>
        <p:nvSpPr>
          <p:cNvPr id="6" name="Content Placeholder 5"/>
          <p:cNvSpPr>
            <a:spLocks noGrp="1"/>
          </p:cNvSpPr>
          <p:nvPr>
            <p:ph sz="quarter" idx="4294967295"/>
          </p:nvPr>
        </p:nvSpPr>
        <p:spPr>
          <a:xfrm>
            <a:off x="4906480" y="5856069"/>
            <a:ext cx="3672000" cy="396000"/>
          </a:xfrm>
        </p:spPr>
        <p:txBody>
          <a:bodyPr/>
          <a:lstStyle/>
          <a:p>
            <a:pPr marL="432" indent="0">
              <a:spcBef>
                <a:spcPts val="600"/>
              </a:spcBef>
              <a:buNone/>
            </a:pPr>
            <a:r>
              <a:rPr lang="en-US" noProof="0" dirty="0">
                <a:latin typeface="+mn-lt"/>
              </a:rPr>
              <a:t>(based on van der Lans, 2006, p. 100)</a:t>
            </a:r>
          </a:p>
        </p:txBody>
      </p:sp>
    </p:spTree>
    <p:extLst>
      <p:ext uri="{BB962C8B-B14F-4D97-AF65-F5344CB8AC3E}">
        <p14:creationId xmlns:p14="http://schemas.microsoft.com/office/powerpoint/2010/main" val="2236912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CB776003-217B-9279-8A45-7C1F467F2C41}"/>
              </a:ext>
            </a:extLst>
          </p:cNvPr>
          <p:cNvCxnSpPr/>
          <p:nvPr/>
        </p:nvCxnSpPr>
        <p:spPr>
          <a:xfrm>
            <a:off x="0" y="0"/>
            <a:ext cx="914400" cy="0"/>
          </a:xfrm>
          <a:prstGeom prst="line">
            <a:avLst/>
          </a:prstGeom>
          <a:ln w="0" cap="flat" cmpd="sng" algn="ctr">
            <a:solidFill>
              <a:srgbClr val="FBFFFF"/>
            </a:solidFill>
            <a:prstDash val="solid"/>
            <a:round/>
            <a:headEnd type="none" w="med" len="med"/>
            <a:tailEnd type="none" w="med" len="med"/>
          </a:ln>
          <a:effectLst/>
          <a:extLst>
            <a:ext uri="{AF507438-7753-43E0-B8FC-AC1667EBCBE1}">
              <a14:hiddenEffects xmlns:a14="http://schemas.microsoft.com/office/drawing/2010/main">
                <a:effectLst>
                  <a:outerShdw blurRad="63500" rotWithShape="0">
                    <a:scrgbClr r="0" g="0" b="0"/>
                  </a:outerShdw>
                </a:effectLst>
              </a14:hiddenEffects>
            </a:ext>
          </a:extLst>
        </p:spPr>
        <p:style>
          <a:lnRef idx="1">
            <a:schemeClr val="accent1"/>
          </a:lnRef>
          <a:fillRef idx="0">
            <a:schemeClr val="accent1"/>
          </a:fillRef>
          <a:effectRef idx="0">
            <a:schemeClr val="accent1"/>
          </a:effectRef>
          <a:fontRef idx="minor">
            <a:schemeClr val="tx1"/>
          </a:fontRef>
        </p:style>
      </p:cxnSp>
      <p:sp>
        <p:nvSpPr>
          <p:cNvPr id="5" name="Title 4">
            <a:extLst>
              <a:ext uri="{FF2B5EF4-FFF2-40B4-BE49-F238E27FC236}">
                <a16:creationId xmlns:a16="http://schemas.microsoft.com/office/drawing/2014/main" id="{E47FF819-0D5D-491A-BF8F-B42813E7390C}"/>
              </a:ext>
            </a:extLst>
          </p:cNvPr>
          <p:cNvSpPr>
            <a:spLocks noGrp="1"/>
          </p:cNvSpPr>
          <p:nvPr>
            <p:ph type="title"/>
          </p:nvPr>
        </p:nvSpPr>
        <p:spPr/>
        <p:txBody>
          <a:bodyPr/>
          <a:lstStyle/>
          <a:p>
            <a:r>
              <a:rPr lang="en-US" noProof="0" dirty="0"/>
              <a:t>Copyright</a:t>
            </a:r>
          </a:p>
        </p:txBody>
      </p:sp>
      <p:pic>
        <p:nvPicPr>
          <p:cNvPr id="7" name="Graphic 6" descr="Warning">
            <a:extLst>
              <a:ext uri="{FF2B5EF4-FFF2-40B4-BE49-F238E27FC236}">
                <a16:creationId xmlns:a16="http://schemas.microsoft.com/office/drawing/2014/main" id="{C06FB2D2-3F36-42C9-A5A6-B6234DC54C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6184" y="2317359"/>
            <a:ext cx="1277815" cy="1434026"/>
          </a:xfrm>
          <a:prstGeom prst="rect">
            <a:avLst/>
          </a:prstGeom>
        </p:spPr>
      </p:pic>
      <p:sp>
        <p:nvSpPr>
          <p:cNvPr id="2" name="Text Placeholder 1">
            <a:extLst>
              <a:ext uri="{FF2B5EF4-FFF2-40B4-BE49-F238E27FC236}">
                <a16:creationId xmlns:a16="http://schemas.microsoft.com/office/drawing/2014/main" id="{AD5FAE7B-F718-4307-B112-AD6256157E8F}"/>
              </a:ext>
            </a:extLst>
          </p:cNvPr>
          <p:cNvSpPr>
            <a:spLocks noGrp="1"/>
          </p:cNvSpPr>
          <p:nvPr>
            <p:ph type="body" idx="4294967295"/>
          </p:nvPr>
        </p:nvSpPr>
        <p:spPr>
          <a:xfrm>
            <a:off x="1606061" y="1852246"/>
            <a:ext cx="6858001" cy="2854836"/>
          </a:xfrm>
          <a:ln/>
        </p:spPr>
        <p:style>
          <a:lnRef idx="2">
            <a:schemeClr val="dk1"/>
          </a:lnRef>
          <a:fillRef idx="1">
            <a:schemeClr val="lt1"/>
          </a:fillRef>
          <a:effectRef idx="0">
            <a:schemeClr val="dk1"/>
          </a:effectRef>
          <a:fontRef idx="minor">
            <a:schemeClr val="dk1"/>
          </a:fontRef>
        </p:style>
        <p:txBody>
          <a:bodyPr lIns="182880" tIns="182880" rIns="182880" bIns="182880" anchor="ctr"/>
          <a:lstStyle/>
          <a:p>
            <a:pPr marL="101600" indent="0">
              <a:buNone/>
            </a:pPr>
            <a:r>
              <a:rPr lang="en-US" b="1" noProof="0" dirty="0"/>
              <a:t>This work is protected by United States copyright laws and is</a:t>
            </a:r>
            <a:r>
              <a:rPr lang="en-US" b="1" baseline="0" noProof="0" dirty="0"/>
              <a:t> </a:t>
            </a:r>
            <a:r>
              <a:rPr lang="en-US" b="1" noProof="0" dirty="0"/>
              <a:t>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151549</TotalTime>
  <Words>10641</Words>
  <Application>Microsoft Office PowerPoint</Application>
  <PresentationFormat>On-screen Show (4:3)</PresentationFormat>
  <Paragraphs>634</Paragraphs>
  <Slides>44</Slides>
  <Notes>44</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44</vt:i4>
      </vt:variant>
    </vt:vector>
  </HeadingPairs>
  <TitlesOfParts>
    <vt:vector size="51" baseType="lpstr">
      <vt:lpstr>Times New Roman</vt:lpstr>
      <vt:lpstr>Noto Sans Symbols</vt:lpstr>
      <vt:lpstr>Verdana</vt:lpstr>
      <vt:lpstr>Arial</vt:lpstr>
      <vt:lpstr>Tahoma</vt:lpstr>
      <vt:lpstr>USHE</vt:lpstr>
      <vt:lpstr>USHE_slide options</vt:lpstr>
      <vt:lpstr>Modern Database Management</vt:lpstr>
      <vt:lpstr>Learning Objectives</vt:lpstr>
      <vt:lpstr>S Q L Overview</vt:lpstr>
      <vt:lpstr>History of S Q L</vt:lpstr>
      <vt:lpstr>Original Purpose of S Q L Standard</vt:lpstr>
      <vt:lpstr>Benefits of a Standardized Relational Language</vt:lpstr>
      <vt:lpstr>S Q L Environment</vt:lpstr>
      <vt:lpstr>Figure 5-1 A Simplified Schematic of a Typical S Q L Environment, as Described by the S Q L:2016 Standard</vt:lpstr>
      <vt:lpstr>S Q L Data Types</vt:lpstr>
      <vt:lpstr>Figure 5-4 D D L, D M L, D C L, and the Database Development Process</vt:lpstr>
      <vt:lpstr>S Q L Database Definition</vt:lpstr>
      <vt:lpstr>Steps in Table Creation</vt:lpstr>
      <vt:lpstr>Figure 5-5 General Syntax of the CREATE TABLE Statement Used in Data Definition Language</vt:lpstr>
      <vt:lpstr>Figure 5-6 S Q L Database Definition Commands for Pine Valley Furniture Company (Oracle 19c)</vt:lpstr>
      <vt:lpstr>Creating Data Integrity Controls</vt:lpstr>
      <vt:lpstr>Figure 5-7 Ensuring Data Integrity Through Updates</vt:lpstr>
      <vt:lpstr>Changing Table Definitions</vt:lpstr>
      <vt:lpstr>Removing Tables</vt:lpstr>
      <vt:lpstr>INSERT Statement</vt:lpstr>
      <vt:lpstr>DELETE Statement</vt:lpstr>
      <vt:lpstr>UPDATE Statement</vt:lpstr>
      <vt:lpstr>MERGE Statement</vt:lpstr>
      <vt:lpstr>Internal Schema Definition in R D B M Ss</vt:lpstr>
      <vt:lpstr>SELECT Statement</vt:lpstr>
      <vt:lpstr>SELECT Example</vt:lpstr>
      <vt:lpstr>SELECT Example Using Alias</vt:lpstr>
      <vt:lpstr>Using Expressions</vt:lpstr>
      <vt:lpstr>Using Functions</vt:lpstr>
      <vt:lpstr>SELECT Examples Using a Function</vt:lpstr>
      <vt:lpstr>Using Boolean Operators</vt:lpstr>
      <vt:lpstr>SELECT Example—Boolean Operators</vt:lpstr>
      <vt:lpstr>Figure 5-8 Boolean Query A Without the Use of Parentheses</vt:lpstr>
      <vt:lpstr>SELECT Example–Boolean Operators</vt:lpstr>
      <vt:lpstr>Figure 5-9 Boolean Query B with Use of Parentheses</vt:lpstr>
      <vt:lpstr>Using Ranges for Qualification</vt:lpstr>
      <vt:lpstr>Using Distinct Values</vt:lpstr>
      <vt:lpstr>Using IN and NOT IN with Lists</vt:lpstr>
      <vt:lpstr>Additional Clauses</vt:lpstr>
      <vt:lpstr>Sorting Results: The ORDER BY Clause</vt:lpstr>
      <vt:lpstr>Categorizing Results Using GROUP BY Clause (1 of 2)</vt:lpstr>
      <vt:lpstr>Categorizing Results Using GROUP BY Clause (2 of 2)</vt:lpstr>
      <vt:lpstr>Qualifying Results by Categories Using the HAVING Clause</vt:lpstr>
      <vt:lpstr>Figure 5-10 S Q L Statement Processing Order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Database Management, Fourteenth Edition, Chapter 5, Introduction to SQL</dc:title>
  <dc:subject>MIS</dc:subject>
  <dc:creator>Hoffer/Topi/Ramesh/Bala</dc:creator>
  <cp:keywords>Modern Database Management</cp:keywords>
  <dc:description>Additional author contents are available on the Notes Pane; Long description alt-text is inserted in the notes pane; This deck contains code snippets and screen reader users may need to increase verbosity levels.</dc:description>
  <cp:lastModifiedBy>Aljohani, Nawaf</cp:lastModifiedBy>
  <cp:revision>854</cp:revision>
  <dcterms:modified xsi:type="dcterms:W3CDTF">2025-07-25T19:35:13Z</dcterms:modified>
  <cp:category>MIS</cp:category>
</cp:coreProperties>
</file>